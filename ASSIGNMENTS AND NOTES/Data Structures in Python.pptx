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Aptos" panose="020B0004020202020204" pitchFamily="34" charset="0"/>
      <p:regular r:id="rId21"/>
      <p:bold r:id="rId22"/>
      <p:italic r:id="rId23"/>
      <p:boldItalic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nva Sans" panose="020B0604020202020204" charset="0"/>
      <p:regular r:id="rId29"/>
    </p:embeddedFont>
    <p:embeddedFont>
      <p:font typeface="Canva Sans Bold" panose="020B0604020202020204" charset="0"/>
      <p:regular r:id="rId30"/>
    </p:embeddedFont>
    <p:embeddedFont>
      <p:font typeface="Canva Sans Italics" panose="020B0604020202020204" charset="0"/>
      <p:regular r:id="rId31"/>
    </p:embeddedFon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Consolas Bold" panose="020B0709020204030204" pitchFamily="49" charset="0"/>
      <p:regular r:id="rId36"/>
      <p:bold r:id="rId37"/>
    </p:embeddedFont>
    <p:embeddedFont>
      <p:font typeface="Raleway" pitchFamily="2" charset="0"/>
      <p:regular r:id="rId38"/>
      <p:bold r:id="rId39"/>
      <p:italic r:id="rId40"/>
      <p:boldItalic r:id="rId41"/>
    </p:embeddedFont>
    <p:embeddedFont>
      <p:font typeface="Raleway Bold" charset="0"/>
      <p:regular r:id="rId42"/>
    </p:embeddedFont>
    <p:embeddedFont>
      <p:font typeface="Roboto" panose="02000000000000000000" pitchFamily="2" charset="0"/>
      <p:regular r:id="rId43"/>
      <p:bold r:id="rId44"/>
      <p:italic r:id="rId45"/>
      <p:boldItalic r:id="rId46"/>
    </p:embeddedFont>
    <p:embeddedFont>
      <p:font typeface="Roboto Bold" panose="02000000000000000000" charset="0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font" Target="fonts/font22.fntdata"/><Relationship Id="rId47" Type="http://schemas.openxmlformats.org/officeDocument/2006/relationships/font" Target="fonts/font27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9.fntdata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font" Target="fonts/font2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openxmlformats.org/officeDocument/2006/relationships/font" Target="fonts/font2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font" Target="fonts/font23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46" Type="http://schemas.openxmlformats.org/officeDocument/2006/relationships/font" Target="fonts/font26.fntdata"/><Relationship Id="rId20" Type="http://schemas.openxmlformats.org/officeDocument/2006/relationships/slide" Target="slides/slide19.xml"/><Relationship Id="rId41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uiltin.com/data-science/python-libraries-data-scienc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4C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7" y="3558504"/>
            <a:ext cx="9445526" cy="2473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56"/>
              </a:lnSpc>
            </a:pPr>
            <a:r>
              <a:rPr lang="en-US" sz="4087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A concise reference guide to four fundamental Python data structures: List Tuples, Sets, and Dictionaries.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75755" y="6013102"/>
            <a:ext cx="354360" cy="283518"/>
            <a:chOff x="0" y="0"/>
            <a:chExt cx="472480" cy="378023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472440" cy="378079"/>
            </a:xfrm>
            <a:custGeom>
              <a:avLst/>
              <a:gdLst/>
              <a:ahLst/>
              <a:cxnLst/>
              <a:rect l="l" t="t" r="r" b="b"/>
              <a:pathLst>
                <a:path w="472440" h="378079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70" r="-8" b="-655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0896600" y="1583995"/>
            <a:ext cx="7119010" cy="7119010"/>
          </a:xfrm>
          <a:custGeom>
            <a:avLst/>
            <a:gdLst/>
            <a:ahLst/>
            <a:cxnLst/>
            <a:rect l="l" t="t" r="r" b="b"/>
            <a:pathLst>
              <a:path w="7119010" h="7119010">
                <a:moveTo>
                  <a:pt x="0" y="0"/>
                </a:moveTo>
                <a:lnTo>
                  <a:pt x="7119009" y="0"/>
                </a:lnTo>
                <a:lnTo>
                  <a:pt x="7119009" y="7119010"/>
                </a:lnTo>
                <a:lnTo>
                  <a:pt x="0" y="71190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708821"/>
            <a:ext cx="8305502" cy="71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0"/>
              </a:lnSpc>
            </a:pPr>
            <a:r>
              <a:rPr lang="en-US" sz="4562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Data Structures in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94560" y="952500"/>
            <a:ext cx="9007240" cy="752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 dirty="0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Structures in Python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830070"/>
            <a:ext cx="16230600" cy="264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In </a:t>
            </a:r>
            <a:r>
              <a:rPr lang="en-US" sz="3799" u="sng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www.python.org"/>
              </a:rPr>
              <a:t>Python</a:t>
            </a:r>
            <a:r>
              <a:rPr lang="en-US" sz="37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, a data structure is a format for organizing and storing data in a way that enables efficient access and manipulation. The language has four main built-in data structures—lists, tuples, dictionaries, and sets—as well as other user-defined and module-based structures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729162"/>
            <a:ext cx="16230600" cy="398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Think of it this way</a:t>
            </a:r>
            <a:r>
              <a:rPr lang="en-US" sz="37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: Imagine a library with books as data elements and the library shelves as the data structures. It is easier to browse the vast number of books when they are organized/ categorised into different sections (fiction, non-fiction, etc.). Similarly, data structures provide a systematic way to store and access data based on its type and intended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1290" y="2585540"/>
            <a:ext cx="7341137" cy="5093411"/>
          </a:xfrm>
          <a:custGeom>
            <a:avLst/>
            <a:gdLst/>
            <a:ahLst/>
            <a:cxnLst/>
            <a:rect l="l" t="t" r="r" b="b"/>
            <a:pathLst>
              <a:path w="7341137" h="5093411">
                <a:moveTo>
                  <a:pt x="0" y="0"/>
                </a:moveTo>
                <a:lnTo>
                  <a:pt x="7341137" y="0"/>
                </a:lnTo>
                <a:lnTo>
                  <a:pt x="7341137" y="5093410"/>
                </a:lnTo>
                <a:lnTo>
                  <a:pt x="0" y="50934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" r="-22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772153" y="952500"/>
            <a:ext cx="8487147" cy="20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Python provides four fundamental built-in data structures:</a:t>
            </a:r>
            <a:r>
              <a:rPr lang="en-US" sz="3999" b="1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list, tuple, dictionary, and set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72153" y="3401070"/>
            <a:ext cx="9515847" cy="631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Built-in data structures</a:t>
            </a:r>
            <a:r>
              <a:rPr lang="en-US" sz="39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 are data structures supported by default in a programming language. They come with pre-defined syntax and behavior, and can be used without having to import additional </a:t>
            </a:r>
            <a:r>
              <a:rPr lang="en-US" sz="39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builtin.com/data-science/python-libraries-data-science"/>
              </a:rPr>
              <a:t>libraries</a:t>
            </a:r>
            <a:r>
              <a:rPr lang="en-US" sz="39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 or modules. In Python, this includes data structures like lists, tuples, sets and dictionaries.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7119"/>
            <a:ext cx="16230600" cy="1070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b="1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Structure #1: Lists in Python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Lists in Python are the most versatile data structure. 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They are used to store heterogeneous data items, from integers to strings or even another list!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 They are also mutable, meaning their elements can be changed even after creating the list.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00357A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3999" b="1" u="sng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Creating Lists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Lists are created by enclosing elements within [square] brackets, and each item is separated by a comma: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sz="3999" i="1">
                <a:solidFill>
                  <a:srgbClr val="00357A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# Creating a list</a:t>
            </a:r>
          </a:p>
          <a:p>
            <a:pPr algn="just">
              <a:lnSpc>
                <a:spcPts val="5599"/>
              </a:lnSpc>
            </a:pPr>
            <a:r>
              <a:rPr lang="en-US" sz="3999" i="1">
                <a:solidFill>
                  <a:srgbClr val="00357A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alist = ['science', 'math', 'english']</a:t>
            </a:r>
          </a:p>
          <a:p>
            <a:pPr algn="just">
              <a:lnSpc>
                <a:spcPts val="5599"/>
              </a:lnSpc>
            </a:pPr>
            <a:r>
              <a:rPr lang="en-US" sz="3999" i="1">
                <a:solidFill>
                  <a:srgbClr val="00357A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print(type(alist))</a:t>
            </a:r>
          </a:p>
          <a:p>
            <a:pPr algn="just">
              <a:lnSpc>
                <a:spcPts val="5599"/>
              </a:lnSpc>
            </a:pPr>
            <a:r>
              <a:rPr lang="en-US" sz="3999" i="1">
                <a:solidFill>
                  <a:srgbClr val="00357A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print(alist)</a:t>
            </a:r>
          </a:p>
          <a:p>
            <a:pPr algn="l">
              <a:lnSpc>
                <a:spcPts val="6299"/>
              </a:lnSpc>
              <a:spcBef>
                <a:spcPct val="0"/>
              </a:spcBef>
            </a:pPr>
            <a:endParaRPr lang="en-US" sz="3999" i="1">
              <a:solidFill>
                <a:srgbClr val="00357A"/>
              </a:solidFill>
              <a:latin typeface="Canva Sans Italics"/>
              <a:ea typeface="Canva Sans Italics"/>
              <a:cs typeface="Canva Sans Italics"/>
              <a:sym typeface="Canva Sans Itali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143500"/>
            <a:ext cx="8037240" cy="4333443"/>
          </a:xfrm>
          <a:custGeom>
            <a:avLst/>
            <a:gdLst/>
            <a:ahLst/>
            <a:cxnLst/>
            <a:rect l="l" t="t" r="r" b="b"/>
            <a:pathLst>
              <a:path w="8037240" h="4333443">
                <a:moveTo>
                  <a:pt x="0" y="0"/>
                </a:moveTo>
                <a:lnTo>
                  <a:pt x="8037240" y="0"/>
                </a:lnTo>
                <a:lnTo>
                  <a:pt x="8037240" y="4333443"/>
                </a:lnTo>
                <a:lnTo>
                  <a:pt x="0" y="433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479789"/>
            <a:ext cx="16230600" cy="5067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b="1" dirty="0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Accessing List Elements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To access elements of a list, we use Indexing. Each element in a list has an index related to it depending on its position in the list. </a:t>
            </a:r>
            <a:r>
              <a:rPr lang="en-US" sz="3999" b="1" dirty="0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first element of the list has the index 0, the next element has index 1, and so on</a:t>
            </a:r>
            <a:r>
              <a:rPr lang="en-US" sz="3999" dirty="0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. The last element of the list has an index of one less than the length of the list.</a:t>
            </a:r>
          </a:p>
          <a:p>
            <a:pPr algn="just">
              <a:lnSpc>
                <a:spcPts val="6299"/>
              </a:lnSpc>
              <a:spcBef>
                <a:spcPct val="0"/>
              </a:spcBef>
            </a:pPr>
            <a:endParaRPr lang="en-US" sz="3999" dirty="0">
              <a:solidFill>
                <a:srgbClr val="00357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583212" y="5067300"/>
            <a:ext cx="4437588" cy="31786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b="1" dirty="0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#Indexing</a:t>
            </a:r>
          </a:p>
          <a:p>
            <a:pPr algn="l">
              <a:lnSpc>
                <a:spcPts val="6299"/>
              </a:lnSpc>
            </a:pPr>
            <a:r>
              <a:rPr lang="en-US" sz="4499" dirty="0" err="1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alist</a:t>
            </a:r>
            <a:r>
              <a:rPr lang="en-US" sz="4499" dirty="0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[0]</a:t>
            </a:r>
          </a:p>
          <a:p>
            <a:pPr algn="l">
              <a:lnSpc>
                <a:spcPts val="6299"/>
              </a:lnSpc>
            </a:pPr>
            <a:r>
              <a:rPr lang="en-US" sz="4499" dirty="0" err="1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alist</a:t>
            </a:r>
            <a:r>
              <a:rPr lang="en-US" sz="4499" dirty="0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[-1]</a:t>
            </a:r>
          </a:p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499" dirty="0" err="1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alist</a:t>
            </a:r>
            <a:r>
              <a:rPr lang="en-US" sz="4499" dirty="0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[2]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78919" y="5143500"/>
            <a:ext cx="9930161" cy="4720495"/>
          </a:xfrm>
          <a:custGeom>
            <a:avLst/>
            <a:gdLst/>
            <a:ahLst/>
            <a:cxnLst/>
            <a:rect l="l" t="t" r="r" b="b"/>
            <a:pathLst>
              <a:path w="9930161" h="4720495">
                <a:moveTo>
                  <a:pt x="0" y="0"/>
                </a:moveTo>
                <a:lnTo>
                  <a:pt x="9930162" y="0"/>
                </a:lnTo>
                <a:lnTo>
                  <a:pt x="9930162" y="4720495"/>
                </a:lnTo>
                <a:lnTo>
                  <a:pt x="0" y="4720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587315"/>
            <a:ext cx="16230600" cy="5067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b="1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Appending Values in Lists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We can add new elements to an existing list using the append() or insert() methods: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append() </a:t>
            </a:r>
            <a:r>
              <a:rPr lang="en-US" sz="39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– Adds an element to the end of the list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insert()</a:t>
            </a:r>
            <a:r>
              <a:rPr lang="en-US" sz="39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 – Adds an element to a specific position in the list that needs to be specified along with the value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endParaRPr lang="en-US" sz="3999">
              <a:solidFill>
                <a:srgbClr val="00357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52500"/>
            <a:ext cx="16230600" cy="639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b="1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Removing Elements from Lists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Removing elements from a list is as easy as adding them and can be done using the remove() or pop() methods:</a:t>
            </a:r>
          </a:p>
          <a:p>
            <a:pPr marL="863596" lvl="1" indent="-431798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remove()</a:t>
            </a:r>
            <a:r>
              <a:rPr lang="en-US" sz="39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 – Removes the first occurrence from the list that matches the given value</a:t>
            </a:r>
          </a:p>
          <a:p>
            <a:pPr marL="863596" lvl="1" indent="-431798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pop()</a:t>
            </a:r>
            <a:r>
              <a:rPr lang="en-US" sz="39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 – This is used when we want to remove an element at a specified index from the list. However, if we don’t provide an index value, the last element will be removed from the list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endParaRPr lang="en-US" sz="3999">
              <a:solidFill>
                <a:srgbClr val="00357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952500"/>
            <a:ext cx="18288000" cy="4448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Sorting Lists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Most of the time, you will use a list to sort elements. So, it is essential to know about the </a:t>
            </a:r>
            <a:r>
              <a:rPr lang="en-US" sz="3999" b="1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sort()</a:t>
            </a:r>
            <a:r>
              <a:rPr lang="en-US" sz="39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 method. It lets you sort list elements in place in either ascending or descending order: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endParaRPr lang="en-US" sz="3999">
              <a:solidFill>
                <a:srgbClr val="00357A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6299"/>
              </a:lnSpc>
              <a:spcBef>
                <a:spcPct val="0"/>
              </a:spcBef>
            </a:pPr>
            <a:endParaRPr lang="en-US" sz="3999">
              <a:solidFill>
                <a:srgbClr val="00357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0" y="4729162"/>
            <a:ext cx="18288000" cy="295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Concatenating Lists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357A"/>
                </a:solidFill>
                <a:latin typeface="Canva Sans"/>
                <a:ea typeface="Canva Sans"/>
                <a:cs typeface="Canva Sans"/>
                <a:sym typeface="Canva Sans"/>
              </a:rPr>
              <a:t>We can even concatenate two or more lists using the + symbol. This will return a new list containing elements from both the lists: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endParaRPr lang="en-US" sz="3999">
              <a:solidFill>
                <a:srgbClr val="00357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71228" y="1427410"/>
            <a:ext cx="12493229" cy="712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3"/>
              </a:lnSpc>
            </a:pPr>
            <a:r>
              <a:rPr lang="en-US" sz="4537" b="1">
                <a:solidFill>
                  <a:srgbClr val="204C8E"/>
                </a:solidFill>
                <a:latin typeface="Raleway Bold"/>
                <a:ea typeface="Raleway Bold"/>
                <a:cs typeface="Raleway Bold"/>
                <a:sym typeface="Raleway Bold"/>
              </a:rPr>
              <a:t>Tuples: Ordered and Unchangeable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1228" y="2918818"/>
            <a:ext cx="8639324" cy="515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0"/>
              </a:lnSpc>
            </a:pPr>
            <a:r>
              <a:rPr lang="en-US" sz="3162">
                <a:solidFill>
                  <a:srgbClr val="204C8E"/>
                </a:solidFill>
                <a:latin typeface="Raleway"/>
                <a:ea typeface="Raleway"/>
                <a:cs typeface="Raleway"/>
                <a:sym typeface="Raleway"/>
              </a:rPr>
              <a:t>Definition and Conceptual Understanding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1227" y="3547566"/>
            <a:ext cx="12917462" cy="91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2287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sz="2287" b="1">
                <a:solidFill>
                  <a:srgbClr val="00357A"/>
                </a:solidFill>
                <a:latin typeface="Roboto Bold"/>
                <a:ea typeface="Roboto Bold"/>
                <a:cs typeface="Roboto Bold"/>
                <a:sym typeface="Roboto Bold"/>
              </a:rPr>
              <a:t>tuple</a:t>
            </a:r>
            <a:r>
              <a:rPr lang="en-US" sz="2287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 is an ordered, immutable collection of items. Unlike lists, a tuple cannot be changed (mutated) after its creation.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1227" y="4388941"/>
            <a:ext cx="11094987" cy="446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4981" lvl="1" indent="-172491" algn="l">
              <a:lnSpc>
                <a:spcPts val="3727"/>
              </a:lnSpc>
              <a:buFont typeface="Arial"/>
              <a:buChar char="•"/>
            </a:pPr>
            <a:r>
              <a:rPr lang="en-US" sz="2287">
                <a:solidFill>
                  <a:srgbClr val="204C8E"/>
                </a:solidFill>
                <a:latin typeface="Roboto"/>
                <a:ea typeface="Roboto"/>
                <a:cs typeface="Roboto"/>
                <a:sym typeface="Roboto"/>
              </a:rPr>
              <a:t>They are highly efficient, often stored as a single contiguous memory block.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1227" y="4818609"/>
            <a:ext cx="12493229" cy="446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4981" lvl="1" indent="-172491" algn="l">
              <a:lnSpc>
                <a:spcPts val="3727"/>
              </a:lnSpc>
              <a:buFont typeface="Arial"/>
              <a:buChar char="•"/>
            </a:pPr>
            <a:r>
              <a:rPr lang="en-US" sz="2287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Tuples are used primarily to ensure data integrity where modifications must be prevented.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1228" y="5467647"/>
            <a:ext cx="3305175" cy="41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Syntax Example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71228" y="6157169"/>
            <a:ext cx="9832181" cy="682973"/>
            <a:chOff x="0" y="0"/>
            <a:chExt cx="13109575" cy="9106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109575" cy="910717"/>
            </a:xfrm>
            <a:custGeom>
              <a:avLst/>
              <a:gdLst/>
              <a:ahLst/>
              <a:cxnLst/>
              <a:rect l="l" t="t" r="r" b="b"/>
              <a:pathLst>
                <a:path w="13109575" h="910717">
                  <a:moveTo>
                    <a:pt x="0" y="123444"/>
                  </a:moveTo>
                  <a:cubicBezTo>
                    <a:pt x="0" y="55245"/>
                    <a:pt x="55245" y="0"/>
                    <a:pt x="123444" y="0"/>
                  </a:cubicBezTo>
                  <a:lnTo>
                    <a:pt x="12986131" y="0"/>
                  </a:lnTo>
                  <a:cubicBezTo>
                    <a:pt x="13054330" y="0"/>
                    <a:pt x="13109575" y="55245"/>
                    <a:pt x="13109575" y="123444"/>
                  </a:cubicBezTo>
                  <a:lnTo>
                    <a:pt x="13109575" y="787273"/>
                  </a:lnTo>
                  <a:cubicBezTo>
                    <a:pt x="13109575" y="855472"/>
                    <a:pt x="13054330" y="910717"/>
                    <a:pt x="12986131" y="910717"/>
                  </a:cubicBezTo>
                  <a:lnTo>
                    <a:pt x="123444" y="910717"/>
                  </a:lnTo>
                  <a:cubicBezTo>
                    <a:pt x="55245" y="910590"/>
                    <a:pt x="0" y="855345"/>
                    <a:pt x="0" y="787273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60214" y="6157201"/>
            <a:ext cx="9854207" cy="682973"/>
            <a:chOff x="0" y="0"/>
            <a:chExt cx="13138943" cy="9106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138911" cy="910590"/>
            </a:xfrm>
            <a:custGeom>
              <a:avLst/>
              <a:gdLst/>
              <a:ahLst/>
              <a:cxnLst/>
              <a:rect l="l" t="t" r="r" b="b"/>
              <a:pathLst>
                <a:path w="13138911" h="910590">
                  <a:moveTo>
                    <a:pt x="0" y="44069"/>
                  </a:moveTo>
                  <a:cubicBezTo>
                    <a:pt x="0" y="19685"/>
                    <a:pt x="19685" y="0"/>
                    <a:pt x="44069" y="0"/>
                  </a:cubicBezTo>
                  <a:lnTo>
                    <a:pt x="13094843" y="0"/>
                  </a:lnTo>
                  <a:cubicBezTo>
                    <a:pt x="13119227" y="0"/>
                    <a:pt x="13138911" y="19685"/>
                    <a:pt x="13138911" y="44069"/>
                  </a:cubicBezTo>
                  <a:lnTo>
                    <a:pt x="13138911" y="866521"/>
                  </a:lnTo>
                  <a:cubicBezTo>
                    <a:pt x="13138911" y="890905"/>
                    <a:pt x="13119227" y="910590"/>
                    <a:pt x="13094843" y="910590"/>
                  </a:cubicBezTo>
                  <a:lnTo>
                    <a:pt x="44069" y="910590"/>
                  </a:lnTo>
                  <a:cubicBezTo>
                    <a:pt x="19685" y="910590"/>
                    <a:pt x="0" y="890905"/>
                    <a:pt x="0" y="866521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980480" y="6217592"/>
            <a:ext cx="9413676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 b="1">
                <a:solidFill>
                  <a:srgbClr val="00357A"/>
                </a:solidFill>
                <a:latin typeface="Consolas Bold"/>
                <a:ea typeface="Consolas Bold"/>
                <a:cs typeface="Consolas Bold"/>
                <a:sym typeface="Consolas Bold"/>
              </a:rPr>
              <a:t>my_tuple = (10, "Python", 3.14)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71220" y="7330976"/>
            <a:ext cx="5444430" cy="2179290"/>
            <a:chOff x="0" y="0"/>
            <a:chExt cx="7259240" cy="2905720"/>
          </a:xfrm>
        </p:grpSpPr>
        <p:sp>
          <p:nvSpPr>
            <p:cNvPr id="18" name="Freeform 18"/>
            <p:cNvSpPr/>
            <p:nvPr/>
          </p:nvSpPr>
          <p:spPr>
            <a:xfrm>
              <a:off x="6350" y="6350"/>
              <a:ext cx="7246493" cy="2893060"/>
            </a:xfrm>
            <a:custGeom>
              <a:avLst/>
              <a:gdLst/>
              <a:ahLst/>
              <a:cxnLst/>
              <a:rect l="l" t="t" r="r" b="b"/>
              <a:pathLst>
                <a:path w="7246493" h="2893060">
                  <a:moveTo>
                    <a:pt x="0" y="123444"/>
                  </a:moveTo>
                  <a:cubicBezTo>
                    <a:pt x="0" y="55245"/>
                    <a:pt x="55372" y="0"/>
                    <a:pt x="123698" y="0"/>
                  </a:cubicBezTo>
                  <a:lnTo>
                    <a:pt x="7122795" y="0"/>
                  </a:lnTo>
                  <a:cubicBezTo>
                    <a:pt x="7191121" y="0"/>
                    <a:pt x="7246493" y="55245"/>
                    <a:pt x="7246493" y="123444"/>
                  </a:cubicBezTo>
                  <a:lnTo>
                    <a:pt x="7246493" y="2769616"/>
                  </a:lnTo>
                  <a:cubicBezTo>
                    <a:pt x="7246493" y="2837815"/>
                    <a:pt x="7191121" y="2893060"/>
                    <a:pt x="7122795" y="2893060"/>
                  </a:cubicBezTo>
                  <a:lnTo>
                    <a:pt x="123698" y="2893060"/>
                  </a:lnTo>
                  <a:cubicBezTo>
                    <a:pt x="55372" y="2893060"/>
                    <a:pt x="0" y="2837815"/>
                    <a:pt x="0" y="2769616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7259193" cy="2905760"/>
            </a:xfrm>
            <a:custGeom>
              <a:avLst/>
              <a:gdLst/>
              <a:ahLst/>
              <a:cxnLst/>
              <a:rect l="l" t="t" r="r" b="b"/>
              <a:pathLst>
                <a:path w="7259193" h="2905760">
                  <a:moveTo>
                    <a:pt x="0" y="129794"/>
                  </a:moveTo>
                  <a:cubicBezTo>
                    <a:pt x="0" y="58039"/>
                    <a:pt x="58293" y="0"/>
                    <a:pt x="130048" y="0"/>
                  </a:cubicBezTo>
                  <a:lnTo>
                    <a:pt x="7129145" y="0"/>
                  </a:lnTo>
                  <a:lnTo>
                    <a:pt x="7129145" y="6350"/>
                  </a:lnTo>
                  <a:lnTo>
                    <a:pt x="7129145" y="0"/>
                  </a:lnTo>
                  <a:cubicBezTo>
                    <a:pt x="7200900" y="0"/>
                    <a:pt x="7259193" y="58039"/>
                    <a:pt x="7259193" y="129794"/>
                  </a:cubicBezTo>
                  <a:lnTo>
                    <a:pt x="7252843" y="129794"/>
                  </a:lnTo>
                  <a:lnTo>
                    <a:pt x="7259193" y="129794"/>
                  </a:lnTo>
                  <a:lnTo>
                    <a:pt x="7259193" y="2775966"/>
                  </a:lnTo>
                  <a:lnTo>
                    <a:pt x="7252843" y="2775966"/>
                  </a:lnTo>
                  <a:lnTo>
                    <a:pt x="7259193" y="2775966"/>
                  </a:lnTo>
                  <a:cubicBezTo>
                    <a:pt x="7259193" y="2847594"/>
                    <a:pt x="7200900" y="2905760"/>
                    <a:pt x="7129145" y="2905760"/>
                  </a:cubicBezTo>
                  <a:lnTo>
                    <a:pt x="7129145" y="2899410"/>
                  </a:lnTo>
                  <a:lnTo>
                    <a:pt x="7129145" y="2905760"/>
                  </a:lnTo>
                  <a:lnTo>
                    <a:pt x="130048" y="2905760"/>
                  </a:lnTo>
                  <a:lnTo>
                    <a:pt x="130048" y="2899410"/>
                  </a:lnTo>
                  <a:lnTo>
                    <a:pt x="130048" y="2905760"/>
                  </a:lnTo>
                  <a:cubicBezTo>
                    <a:pt x="58293" y="2905760"/>
                    <a:pt x="0" y="2847594"/>
                    <a:pt x="0" y="2775966"/>
                  </a:cubicBezTo>
                  <a:lnTo>
                    <a:pt x="0" y="129794"/>
                  </a:lnTo>
                  <a:lnTo>
                    <a:pt x="6350" y="129794"/>
                  </a:lnTo>
                  <a:lnTo>
                    <a:pt x="0" y="129794"/>
                  </a:lnTo>
                  <a:moveTo>
                    <a:pt x="12700" y="129794"/>
                  </a:moveTo>
                  <a:lnTo>
                    <a:pt x="12700" y="2775966"/>
                  </a:lnTo>
                  <a:lnTo>
                    <a:pt x="6350" y="2775966"/>
                  </a:lnTo>
                  <a:lnTo>
                    <a:pt x="12700" y="2775966"/>
                  </a:lnTo>
                  <a:cubicBezTo>
                    <a:pt x="12700" y="2840609"/>
                    <a:pt x="65278" y="2893060"/>
                    <a:pt x="130048" y="2893060"/>
                  </a:cubicBezTo>
                  <a:lnTo>
                    <a:pt x="7129145" y="2893060"/>
                  </a:lnTo>
                  <a:cubicBezTo>
                    <a:pt x="7193914" y="2893060"/>
                    <a:pt x="7246493" y="2840609"/>
                    <a:pt x="7246493" y="2775966"/>
                  </a:cubicBezTo>
                  <a:lnTo>
                    <a:pt x="7246493" y="129794"/>
                  </a:lnTo>
                  <a:cubicBezTo>
                    <a:pt x="7246493" y="65151"/>
                    <a:pt x="7193914" y="12700"/>
                    <a:pt x="7129145" y="12700"/>
                  </a:cubicBezTo>
                  <a:lnTo>
                    <a:pt x="130048" y="12700"/>
                  </a:lnTo>
                  <a:lnTo>
                    <a:pt x="130048" y="6350"/>
                  </a:lnTo>
                  <a:lnTo>
                    <a:pt x="130048" y="12700"/>
                  </a:lnTo>
                  <a:cubicBezTo>
                    <a:pt x="65278" y="12700"/>
                    <a:pt x="12700" y="65151"/>
                    <a:pt x="12700" y="129794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001017" y="7565529"/>
            <a:ext cx="660946" cy="660946"/>
            <a:chOff x="0" y="0"/>
            <a:chExt cx="881262" cy="88126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81380" cy="881380"/>
            </a:xfrm>
            <a:custGeom>
              <a:avLst/>
              <a:gdLst/>
              <a:ahLst/>
              <a:cxnLst/>
              <a:rect l="l" t="t" r="r" b="b"/>
              <a:pathLst>
                <a:path w="881380" h="881380">
                  <a:moveTo>
                    <a:pt x="0" y="440690"/>
                  </a:moveTo>
                  <a:cubicBezTo>
                    <a:pt x="0" y="197231"/>
                    <a:pt x="197231" y="0"/>
                    <a:pt x="440690" y="0"/>
                  </a:cubicBezTo>
                  <a:cubicBezTo>
                    <a:pt x="684149" y="0"/>
                    <a:pt x="881380" y="197231"/>
                    <a:pt x="881380" y="440690"/>
                  </a:cubicBezTo>
                  <a:cubicBezTo>
                    <a:pt x="881380" y="684149"/>
                    <a:pt x="684149" y="881380"/>
                    <a:pt x="440690" y="881380"/>
                  </a:cubicBezTo>
                  <a:cubicBezTo>
                    <a:pt x="197231" y="881380"/>
                    <a:pt x="0" y="684022"/>
                    <a:pt x="0" y="440690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182738" y="7710041"/>
            <a:ext cx="297359" cy="371772"/>
            <a:chOff x="0" y="0"/>
            <a:chExt cx="396478" cy="495697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396494" cy="495681"/>
            </a:xfrm>
            <a:custGeom>
              <a:avLst/>
              <a:gdLst/>
              <a:ahLst/>
              <a:cxnLst/>
              <a:rect l="l" t="t" r="r" b="b"/>
              <a:pathLst>
                <a:path w="396494" h="495681">
                  <a:moveTo>
                    <a:pt x="0" y="0"/>
                  </a:moveTo>
                  <a:lnTo>
                    <a:pt x="396494" y="0"/>
                  </a:lnTo>
                  <a:lnTo>
                    <a:pt x="396494" y="495681"/>
                  </a:lnTo>
                  <a:lnTo>
                    <a:pt x="0" y="495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12" r="3" b="-315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1001018" y="8418165"/>
            <a:ext cx="2754362" cy="38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325" dirty="0">
                <a:solidFill>
                  <a:srgbClr val="00357A"/>
                </a:solidFill>
                <a:latin typeface="Raleway"/>
                <a:ea typeface="Raleway"/>
                <a:cs typeface="Raleway"/>
                <a:sym typeface="Raleway"/>
              </a:rPr>
              <a:t>Ordered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1018" y="8827889"/>
            <a:ext cx="4975324" cy="396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8"/>
              </a:lnSpc>
            </a:pPr>
            <a:r>
              <a:rPr lang="en-US" sz="1987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Preserves the insertion order.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421636" y="7330976"/>
            <a:ext cx="5444579" cy="2179290"/>
            <a:chOff x="0" y="0"/>
            <a:chExt cx="7259438" cy="2905720"/>
          </a:xfrm>
        </p:grpSpPr>
        <p:sp>
          <p:nvSpPr>
            <p:cNvPr id="27" name="Freeform 27"/>
            <p:cNvSpPr/>
            <p:nvPr/>
          </p:nvSpPr>
          <p:spPr>
            <a:xfrm>
              <a:off x="6350" y="6350"/>
              <a:ext cx="7246747" cy="2893060"/>
            </a:xfrm>
            <a:custGeom>
              <a:avLst/>
              <a:gdLst/>
              <a:ahLst/>
              <a:cxnLst/>
              <a:rect l="l" t="t" r="r" b="b"/>
              <a:pathLst>
                <a:path w="7246747" h="2893060">
                  <a:moveTo>
                    <a:pt x="0" y="123444"/>
                  </a:moveTo>
                  <a:cubicBezTo>
                    <a:pt x="0" y="55245"/>
                    <a:pt x="55372" y="0"/>
                    <a:pt x="123698" y="0"/>
                  </a:cubicBezTo>
                  <a:lnTo>
                    <a:pt x="7123049" y="0"/>
                  </a:lnTo>
                  <a:cubicBezTo>
                    <a:pt x="7191375" y="0"/>
                    <a:pt x="7246747" y="55245"/>
                    <a:pt x="7246747" y="123444"/>
                  </a:cubicBezTo>
                  <a:lnTo>
                    <a:pt x="7246747" y="2769616"/>
                  </a:lnTo>
                  <a:cubicBezTo>
                    <a:pt x="7246747" y="2837815"/>
                    <a:pt x="7191375" y="2893060"/>
                    <a:pt x="7123049" y="2893060"/>
                  </a:cubicBezTo>
                  <a:lnTo>
                    <a:pt x="123698" y="2893060"/>
                  </a:lnTo>
                  <a:cubicBezTo>
                    <a:pt x="55372" y="2893060"/>
                    <a:pt x="0" y="2837815"/>
                    <a:pt x="0" y="2769616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7259447" cy="2905760"/>
            </a:xfrm>
            <a:custGeom>
              <a:avLst/>
              <a:gdLst/>
              <a:ahLst/>
              <a:cxnLst/>
              <a:rect l="l" t="t" r="r" b="b"/>
              <a:pathLst>
                <a:path w="7259447" h="2905760">
                  <a:moveTo>
                    <a:pt x="0" y="129794"/>
                  </a:moveTo>
                  <a:cubicBezTo>
                    <a:pt x="0" y="58039"/>
                    <a:pt x="58293" y="0"/>
                    <a:pt x="130048" y="0"/>
                  </a:cubicBezTo>
                  <a:lnTo>
                    <a:pt x="7129399" y="0"/>
                  </a:lnTo>
                  <a:lnTo>
                    <a:pt x="7129399" y="6350"/>
                  </a:lnTo>
                  <a:lnTo>
                    <a:pt x="7129399" y="0"/>
                  </a:lnTo>
                  <a:cubicBezTo>
                    <a:pt x="7201154" y="0"/>
                    <a:pt x="7259447" y="58039"/>
                    <a:pt x="7259447" y="129794"/>
                  </a:cubicBezTo>
                  <a:lnTo>
                    <a:pt x="7253097" y="129794"/>
                  </a:lnTo>
                  <a:lnTo>
                    <a:pt x="7259447" y="129794"/>
                  </a:lnTo>
                  <a:lnTo>
                    <a:pt x="7259447" y="2775966"/>
                  </a:lnTo>
                  <a:lnTo>
                    <a:pt x="7253097" y="2775966"/>
                  </a:lnTo>
                  <a:lnTo>
                    <a:pt x="7259447" y="2775966"/>
                  </a:lnTo>
                  <a:cubicBezTo>
                    <a:pt x="7259447" y="2847594"/>
                    <a:pt x="7201154" y="2905760"/>
                    <a:pt x="7129399" y="2905760"/>
                  </a:cubicBezTo>
                  <a:lnTo>
                    <a:pt x="7129399" y="2899410"/>
                  </a:lnTo>
                  <a:lnTo>
                    <a:pt x="7129399" y="2905760"/>
                  </a:lnTo>
                  <a:lnTo>
                    <a:pt x="130048" y="2905760"/>
                  </a:lnTo>
                  <a:lnTo>
                    <a:pt x="130048" y="2899410"/>
                  </a:lnTo>
                  <a:lnTo>
                    <a:pt x="130048" y="2905760"/>
                  </a:lnTo>
                  <a:cubicBezTo>
                    <a:pt x="58293" y="2905760"/>
                    <a:pt x="0" y="2847594"/>
                    <a:pt x="0" y="2775966"/>
                  </a:cubicBezTo>
                  <a:lnTo>
                    <a:pt x="0" y="129794"/>
                  </a:lnTo>
                  <a:lnTo>
                    <a:pt x="6350" y="129794"/>
                  </a:lnTo>
                  <a:lnTo>
                    <a:pt x="0" y="129794"/>
                  </a:lnTo>
                  <a:moveTo>
                    <a:pt x="12700" y="129794"/>
                  </a:moveTo>
                  <a:lnTo>
                    <a:pt x="12700" y="2775966"/>
                  </a:lnTo>
                  <a:lnTo>
                    <a:pt x="6350" y="2775966"/>
                  </a:lnTo>
                  <a:lnTo>
                    <a:pt x="12700" y="2775966"/>
                  </a:lnTo>
                  <a:cubicBezTo>
                    <a:pt x="12700" y="2840609"/>
                    <a:pt x="65278" y="2893060"/>
                    <a:pt x="130048" y="2893060"/>
                  </a:cubicBezTo>
                  <a:lnTo>
                    <a:pt x="7129399" y="2893060"/>
                  </a:lnTo>
                  <a:cubicBezTo>
                    <a:pt x="7194169" y="2893060"/>
                    <a:pt x="7246747" y="2840609"/>
                    <a:pt x="7246747" y="2775966"/>
                  </a:cubicBezTo>
                  <a:lnTo>
                    <a:pt x="7246747" y="129794"/>
                  </a:lnTo>
                  <a:cubicBezTo>
                    <a:pt x="7246747" y="65151"/>
                    <a:pt x="7194169" y="12700"/>
                    <a:pt x="7129399" y="12700"/>
                  </a:cubicBezTo>
                  <a:lnTo>
                    <a:pt x="130048" y="12700"/>
                  </a:lnTo>
                  <a:lnTo>
                    <a:pt x="130048" y="6350"/>
                  </a:lnTo>
                  <a:lnTo>
                    <a:pt x="130048" y="12700"/>
                  </a:lnTo>
                  <a:cubicBezTo>
                    <a:pt x="65278" y="12700"/>
                    <a:pt x="12700" y="65151"/>
                    <a:pt x="12700" y="129794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6656189" y="7565529"/>
            <a:ext cx="660946" cy="660946"/>
            <a:chOff x="0" y="0"/>
            <a:chExt cx="881262" cy="88126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81380" cy="881380"/>
            </a:xfrm>
            <a:custGeom>
              <a:avLst/>
              <a:gdLst/>
              <a:ahLst/>
              <a:cxnLst/>
              <a:rect l="l" t="t" r="r" b="b"/>
              <a:pathLst>
                <a:path w="881380" h="881380">
                  <a:moveTo>
                    <a:pt x="0" y="440690"/>
                  </a:moveTo>
                  <a:cubicBezTo>
                    <a:pt x="0" y="197231"/>
                    <a:pt x="197231" y="0"/>
                    <a:pt x="440690" y="0"/>
                  </a:cubicBezTo>
                  <a:cubicBezTo>
                    <a:pt x="684149" y="0"/>
                    <a:pt x="881380" y="197231"/>
                    <a:pt x="881380" y="440690"/>
                  </a:cubicBezTo>
                  <a:cubicBezTo>
                    <a:pt x="881380" y="684149"/>
                    <a:pt x="684149" y="881380"/>
                    <a:pt x="440690" y="881380"/>
                  </a:cubicBezTo>
                  <a:cubicBezTo>
                    <a:pt x="197231" y="881380"/>
                    <a:pt x="0" y="684022"/>
                    <a:pt x="0" y="440690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6837909" y="7710041"/>
            <a:ext cx="297359" cy="371772"/>
            <a:chOff x="0" y="0"/>
            <a:chExt cx="396478" cy="495697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396494" cy="495681"/>
            </a:xfrm>
            <a:custGeom>
              <a:avLst/>
              <a:gdLst/>
              <a:ahLst/>
              <a:cxnLst/>
              <a:rect l="l" t="t" r="r" b="b"/>
              <a:pathLst>
                <a:path w="396494" h="495681">
                  <a:moveTo>
                    <a:pt x="0" y="0"/>
                  </a:moveTo>
                  <a:lnTo>
                    <a:pt x="396494" y="0"/>
                  </a:lnTo>
                  <a:lnTo>
                    <a:pt x="396494" y="495681"/>
                  </a:lnTo>
                  <a:lnTo>
                    <a:pt x="0" y="495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12" r="3" b="-315"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6656189" y="8418165"/>
            <a:ext cx="2754362" cy="346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325" b="1" dirty="0">
                <a:solidFill>
                  <a:srgbClr val="00357A"/>
                </a:solidFill>
                <a:latin typeface="Raleway"/>
                <a:ea typeface="Raleway"/>
                <a:cs typeface="Raleway"/>
                <a:sym typeface="Raleway"/>
              </a:rPr>
              <a:t>Immutable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6189" y="8837414"/>
            <a:ext cx="5210026" cy="373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5"/>
              </a:lnSpc>
            </a:pPr>
            <a:r>
              <a:rPr lang="en-US" sz="1887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Elements cannot be added, deleted, or modified.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2076956" y="7330976"/>
            <a:ext cx="5444579" cy="2179290"/>
            <a:chOff x="0" y="0"/>
            <a:chExt cx="7259438" cy="2905720"/>
          </a:xfrm>
        </p:grpSpPr>
        <p:sp>
          <p:nvSpPr>
            <p:cNvPr id="36" name="Freeform 36"/>
            <p:cNvSpPr/>
            <p:nvPr/>
          </p:nvSpPr>
          <p:spPr>
            <a:xfrm>
              <a:off x="6350" y="6350"/>
              <a:ext cx="7246747" cy="2893060"/>
            </a:xfrm>
            <a:custGeom>
              <a:avLst/>
              <a:gdLst/>
              <a:ahLst/>
              <a:cxnLst/>
              <a:rect l="l" t="t" r="r" b="b"/>
              <a:pathLst>
                <a:path w="7246747" h="2893060">
                  <a:moveTo>
                    <a:pt x="0" y="123444"/>
                  </a:moveTo>
                  <a:cubicBezTo>
                    <a:pt x="0" y="55245"/>
                    <a:pt x="55372" y="0"/>
                    <a:pt x="123698" y="0"/>
                  </a:cubicBezTo>
                  <a:lnTo>
                    <a:pt x="7123049" y="0"/>
                  </a:lnTo>
                  <a:cubicBezTo>
                    <a:pt x="7191375" y="0"/>
                    <a:pt x="7246747" y="55245"/>
                    <a:pt x="7246747" y="123444"/>
                  </a:cubicBezTo>
                  <a:lnTo>
                    <a:pt x="7246747" y="2769616"/>
                  </a:lnTo>
                  <a:cubicBezTo>
                    <a:pt x="7246747" y="2837815"/>
                    <a:pt x="7191375" y="2893060"/>
                    <a:pt x="7123049" y="2893060"/>
                  </a:cubicBezTo>
                  <a:lnTo>
                    <a:pt x="123698" y="2893060"/>
                  </a:lnTo>
                  <a:cubicBezTo>
                    <a:pt x="55372" y="2893060"/>
                    <a:pt x="0" y="2837815"/>
                    <a:pt x="0" y="2769616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7259447" cy="2905760"/>
            </a:xfrm>
            <a:custGeom>
              <a:avLst/>
              <a:gdLst/>
              <a:ahLst/>
              <a:cxnLst/>
              <a:rect l="l" t="t" r="r" b="b"/>
              <a:pathLst>
                <a:path w="7259447" h="2905760">
                  <a:moveTo>
                    <a:pt x="0" y="129794"/>
                  </a:moveTo>
                  <a:cubicBezTo>
                    <a:pt x="0" y="58039"/>
                    <a:pt x="58293" y="0"/>
                    <a:pt x="130048" y="0"/>
                  </a:cubicBezTo>
                  <a:lnTo>
                    <a:pt x="7129399" y="0"/>
                  </a:lnTo>
                  <a:lnTo>
                    <a:pt x="7129399" y="6350"/>
                  </a:lnTo>
                  <a:lnTo>
                    <a:pt x="7129399" y="0"/>
                  </a:lnTo>
                  <a:cubicBezTo>
                    <a:pt x="7201154" y="0"/>
                    <a:pt x="7259447" y="58039"/>
                    <a:pt x="7259447" y="129794"/>
                  </a:cubicBezTo>
                  <a:lnTo>
                    <a:pt x="7253097" y="129794"/>
                  </a:lnTo>
                  <a:lnTo>
                    <a:pt x="7259447" y="129794"/>
                  </a:lnTo>
                  <a:lnTo>
                    <a:pt x="7259447" y="2775966"/>
                  </a:lnTo>
                  <a:lnTo>
                    <a:pt x="7253097" y="2775966"/>
                  </a:lnTo>
                  <a:lnTo>
                    <a:pt x="7259447" y="2775966"/>
                  </a:lnTo>
                  <a:cubicBezTo>
                    <a:pt x="7259447" y="2847594"/>
                    <a:pt x="7201154" y="2905760"/>
                    <a:pt x="7129399" y="2905760"/>
                  </a:cubicBezTo>
                  <a:lnTo>
                    <a:pt x="7129399" y="2899410"/>
                  </a:lnTo>
                  <a:lnTo>
                    <a:pt x="7129399" y="2905760"/>
                  </a:lnTo>
                  <a:lnTo>
                    <a:pt x="130048" y="2905760"/>
                  </a:lnTo>
                  <a:lnTo>
                    <a:pt x="130048" y="2899410"/>
                  </a:lnTo>
                  <a:lnTo>
                    <a:pt x="130048" y="2905760"/>
                  </a:lnTo>
                  <a:cubicBezTo>
                    <a:pt x="58293" y="2905760"/>
                    <a:pt x="0" y="2847594"/>
                    <a:pt x="0" y="2775966"/>
                  </a:cubicBezTo>
                  <a:lnTo>
                    <a:pt x="0" y="129794"/>
                  </a:lnTo>
                  <a:lnTo>
                    <a:pt x="6350" y="129794"/>
                  </a:lnTo>
                  <a:lnTo>
                    <a:pt x="0" y="129794"/>
                  </a:lnTo>
                  <a:moveTo>
                    <a:pt x="12700" y="129794"/>
                  </a:moveTo>
                  <a:lnTo>
                    <a:pt x="12700" y="2775966"/>
                  </a:lnTo>
                  <a:lnTo>
                    <a:pt x="6350" y="2775966"/>
                  </a:lnTo>
                  <a:lnTo>
                    <a:pt x="12700" y="2775966"/>
                  </a:lnTo>
                  <a:cubicBezTo>
                    <a:pt x="12700" y="2840609"/>
                    <a:pt x="65278" y="2893060"/>
                    <a:pt x="130048" y="2893060"/>
                  </a:cubicBezTo>
                  <a:lnTo>
                    <a:pt x="7129399" y="2893060"/>
                  </a:lnTo>
                  <a:cubicBezTo>
                    <a:pt x="7194169" y="2893060"/>
                    <a:pt x="7246747" y="2840609"/>
                    <a:pt x="7246747" y="2775966"/>
                  </a:cubicBezTo>
                  <a:lnTo>
                    <a:pt x="7246747" y="129794"/>
                  </a:lnTo>
                  <a:cubicBezTo>
                    <a:pt x="7246747" y="65151"/>
                    <a:pt x="7194169" y="12700"/>
                    <a:pt x="7129399" y="12700"/>
                  </a:cubicBezTo>
                  <a:lnTo>
                    <a:pt x="130048" y="12700"/>
                  </a:lnTo>
                  <a:lnTo>
                    <a:pt x="130048" y="6350"/>
                  </a:lnTo>
                  <a:lnTo>
                    <a:pt x="130048" y="12700"/>
                  </a:lnTo>
                  <a:cubicBezTo>
                    <a:pt x="65278" y="12700"/>
                    <a:pt x="12700" y="65151"/>
                    <a:pt x="12700" y="129794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2311509" y="7565529"/>
            <a:ext cx="660946" cy="660946"/>
            <a:chOff x="0" y="0"/>
            <a:chExt cx="881262" cy="88126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81380" cy="881380"/>
            </a:xfrm>
            <a:custGeom>
              <a:avLst/>
              <a:gdLst/>
              <a:ahLst/>
              <a:cxnLst/>
              <a:rect l="l" t="t" r="r" b="b"/>
              <a:pathLst>
                <a:path w="881380" h="881380">
                  <a:moveTo>
                    <a:pt x="0" y="440690"/>
                  </a:moveTo>
                  <a:cubicBezTo>
                    <a:pt x="0" y="197231"/>
                    <a:pt x="197231" y="0"/>
                    <a:pt x="440690" y="0"/>
                  </a:cubicBezTo>
                  <a:cubicBezTo>
                    <a:pt x="684149" y="0"/>
                    <a:pt x="881380" y="197231"/>
                    <a:pt x="881380" y="440690"/>
                  </a:cubicBezTo>
                  <a:cubicBezTo>
                    <a:pt x="881380" y="684149"/>
                    <a:pt x="684149" y="881380"/>
                    <a:pt x="440690" y="881380"/>
                  </a:cubicBezTo>
                  <a:cubicBezTo>
                    <a:pt x="197231" y="881380"/>
                    <a:pt x="0" y="684022"/>
                    <a:pt x="0" y="440690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2493229" y="7710041"/>
            <a:ext cx="297359" cy="371772"/>
            <a:chOff x="0" y="0"/>
            <a:chExt cx="396478" cy="495697"/>
          </a:xfrm>
        </p:grpSpPr>
        <p:sp>
          <p:nvSpPr>
            <p:cNvPr id="41" name="Freeform 41" descr="preencoded.png"/>
            <p:cNvSpPr/>
            <p:nvPr/>
          </p:nvSpPr>
          <p:spPr>
            <a:xfrm>
              <a:off x="0" y="0"/>
              <a:ext cx="396494" cy="495681"/>
            </a:xfrm>
            <a:custGeom>
              <a:avLst/>
              <a:gdLst/>
              <a:ahLst/>
              <a:cxnLst/>
              <a:rect l="l" t="t" r="r" b="b"/>
              <a:pathLst>
                <a:path w="396494" h="495681">
                  <a:moveTo>
                    <a:pt x="0" y="0"/>
                  </a:moveTo>
                  <a:lnTo>
                    <a:pt x="396494" y="0"/>
                  </a:lnTo>
                  <a:lnTo>
                    <a:pt x="396494" y="495681"/>
                  </a:lnTo>
                  <a:lnTo>
                    <a:pt x="0" y="495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12" r="3" b="-315"/>
              </a:stretch>
            </a:blipFill>
          </p:spPr>
        </p:sp>
      </p:grpSp>
      <p:sp>
        <p:nvSpPr>
          <p:cNvPr id="42" name="TextBox 42"/>
          <p:cNvSpPr txBox="1"/>
          <p:nvPr/>
        </p:nvSpPr>
        <p:spPr>
          <a:xfrm>
            <a:off x="12311509" y="8418165"/>
            <a:ext cx="2754363" cy="38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325" dirty="0">
                <a:solidFill>
                  <a:srgbClr val="00357A"/>
                </a:solidFill>
                <a:latin typeface="Raleway"/>
                <a:ea typeface="Raleway"/>
                <a:cs typeface="Raleway"/>
                <a:sym typeface="Raleway"/>
              </a:rPr>
              <a:t>Allows Duplicates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311509" y="8837414"/>
            <a:ext cx="4975472" cy="373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5"/>
              </a:lnSpc>
            </a:pPr>
            <a:r>
              <a:rPr lang="en-US" sz="1887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Multiple identical items are permitted.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13439" y="1513582"/>
            <a:ext cx="10104835" cy="1524297"/>
            <a:chOff x="0" y="0"/>
            <a:chExt cx="13473113" cy="2032397"/>
          </a:xfrm>
        </p:grpSpPr>
        <p:sp>
          <p:nvSpPr>
            <p:cNvPr id="7" name="Freeform 7"/>
            <p:cNvSpPr/>
            <p:nvPr/>
          </p:nvSpPr>
          <p:spPr>
            <a:xfrm>
              <a:off x="19077" y="19050"/>
              <a:ext cx="13434896" cy="1994281"/>
            </a:xfrm>
            <a:custGeom>
              <a:avLst/>
              <a:gdLst/>
              <a:ahLst/>
              <a:cxnLst/>
              <a:rect l="l" t="t" r="r" b="b"/>
              <a:pathLst>
                <a:path w="13434896" h="1994281">
                  <a:moveTo>
                    <a:pt x="0" y="182880"/>
                  </a:moveTo>
                  <a:cubicBezTo>
                    <a:pt x="0" y="81915"/>
                    <a:pt x="83303" y="0"/>
                    <a:pt x="186064" y="0"/>
                  </a:cubicBezTo>
                  <a:lnTo>
                    <a:pt x="13248831" y="0"/>
                  </a:lnTo>
                  <a:cubicBezTo>
                    <a:pt x="13351592" y="0"/>
                    <a:pt x="13434896" y="81915"/>
                    <a:pt x="13434896" y="182880"/>
                  </a:cubicBezTo>
                  <a:lnTo>
                    <a:pt x="13434896" y="1811401"/>
                  </a:lnTo>
                  <a:cubicBezTo>
                    <a:pt x="13434896" y="1912366"/>
                    <a:pt x="13351592" y="1994281"/>
                    <a:pt x="13248831" y="1994281"/>
                  </a:cubicBezTo>
                  <a:lnTo>
                    <a:pt x="186064" y="1994281"/>
                  </a:lnTo>
                  <a:cubicBezTo>
                    <a:pt x="83303" y="1994281"/>
                    <a:pt x="0" y="1912366"/>
                    <a:pt x="0" y="1811401"/>
                  </a:cubicBez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13473049" cy="2032381"/>
            </a:xfrm>
            <a:custGeom>
              <a:avLst/>
              <a:gdLst/>
              <a:ahLst/>
              <a:cxnLst/>
              <a:rect l="l" t="t" r="r" b="b"/>
              <a:pathLst>
                <a:path w="13473049" h="2032381">
                  <a:moveTo>
                    <a:pt x="0" y="201930"/>
                  </a:moveTo>
                  <a:cubicBezTo>
                    <a:pt x="0" y="90170"/>
                    <a:pt x="92205" y="0"/>
                    <a:pt x="205141" y="0"/>
                  </a:cubicBezTo>
                  <a:lnTo>
                    <a:pt x="13267908" y="0"/>
                  </a:lnTo>
                  <a:lnTo>
                    <a:pt x="13267908" y="19050"/>
                  </a:lnTo>
                  <a:lnTo>
                    <a:pt x="13267908" y="0"/>
                  </a:lnTo>
                  <a:cubicBezTo>
                    <a:pt x="13380971" y="0"/>
                    <a:pt x="13473049" y="90170"/>
                    <a:pt x="13473049" y="201930"/>
                  </a:cubicBezTo>
                  <a:lnTo>
                    <a:pt x="13453973" y="201930"/>
                  </a:lnTo>
                  <a:lnTo>
                    <a:pt x="13473049" y="201930"/>
                  </a:lnTo>
                  <a:lnTo>
                    <a:pt x="13473049" y="1830451"/>
                  </a:lnTo>
                  <a:lnTo>
                    <a:pt x="13453973" y="1830451"/>
                  </a:lnTo>
                  <a:lnTo>
                    <a:pt x="13473049" y="1830451"/>
                  </a:lnTo>
                  <a:cubicBezTo>
                    <a:pt x="13473049" y="1942211"/>
                    <a:pt x="13380844" y="2032381"/>
                    <a:pt x="13267908" y="2032381"/>
                  </a:cubicBezTo>
                  <a:lnTo>
                    <a:pt x="13267908" y="2013331"/>
                  </a:lnTo>
                  <a:lnTo>
                    <a:pt x="13267908" y="2032381"/>
                  </a:lnTo>
                  <a:lnTo>
                    <a:pt x="205141" y="2032381"/>
                  </a:lnTo>
                  <a:lnTo>
                    <a:pt x="205141" y="2013331"/>
                  </a:lnTo>
                  <a:lnTo>
                    <a:pt x="205141" y="2032381"/>
                  </a:lnTo>
                  <a:cubicBezTo>
                    <a:pt x="92078" y="2032381"/>
                    <a:pt x="0" y="1942211"/>
                    <a:pt x="0" y="1830451"/>
                  </a:cubicBezTo>
                  <a:lnTo>
                    <a:pt x="0" y="201930"/>
                  </a:lnTo>
                  <a:lnTo>
                    <a:pt x="19077" y="201930"/>
                  </a:lnTo>
                  <a:lnTo>
                    <a:pt x="0" y="201930"/>
                  </a:lnTo>
                  <a:moveTo>
                    <a:pt x="38154" y="201930"/>
                  </a:moveTo>
                  <a:lnTo>
                    <a:pt x="38154" y="1830451"/>
                  </a:lnTo>
                  <a:lnTo>
                    <a:pt x="19077" y="1830451"/>
                  </a:lnTo>
                  <a:lnTo>
                    <a:pt x="38154" y="1830451"/>
                  </a:lnTo>
                  <a:cubicBezTo>
                    <a:pt x="38154" y="1920621"/>
                    <a:pt x="112681" y="1994281"/>
                    <a:pt x="205141" y="1994281"/>
                  </a:cubicBezTo>
                  <a:lnTo>
                    <a:pt x="13267908" y="1994281"/>
                  </a:lnTo>
                  <a:cubicBezTo>
                    <a:pt x="13360495" y="1994281"/>
                    <a:pt x="13434895" y="1920621"/>
                    <a:pt x="13434895" y="1830451"/>
                  </a:cubicBezTo>
                  <a:lnTo>
                    <a:pt x="13434895" y="201930"/>
                  </a:lnTo>
                  <a:cubicBezTo>
                    <a:pt x="13434895" y="111760"/>
                    <a:pt x="13360367" y="38100"/>
                    <a:pt x="13267908" y="38100"/>
                  </a:cubicBezTo>
                  <a:lnTo>
                    <a:pt x="205141" y="38100"/>
                  </a:lnTo>
                  <a:lnTo>
                    <a:pt x="205141" y="19050"/>
                  </a:lnTo>
                  <a:lnTo>
                    <a:pt x="205141" y="38100"/>
                  </a:lnTo>
                  <a:cubicBezTo>
                    <a:pt x="112681" y="38100"/>
                    <a:pt x="38154" y="111760"/>
                    <a:pt x="38154" y="20193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513439" y="1465809"/>
            <a:ext cx="114300" cy="1495722"/>
            <a:chOff x="0" y="0"/>
            <a:chExt cx="152400" cy="19942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2400" cy="1994281"/>
            </a:xfrm>
            <a:custGeom>
              <a:avLst/>
              <a:gdLst/>
              <a:ahLst/>
              <a:cxnLst/>
              <a:rect l="l" t="t" r="r" b="b"/>
              <a:pathLst>
                <a:path w="152400" h="1994281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1918081"/>
                  </a:lnTo>
                  <a:cubicBezTo>
                    <a:pt x="152400" y="1960118"/>
                    <a:pt x="118237" y="1994281"/>
                    <a:pt x="76200" y="1994281"/>
                  </a:cubicBezTo>
                  <a:cubicBezTo>
                    <a:pt x="34163" y="1994281"/>
                    <a:pt x="0" y="1960118"/>
                    <a:pt x="0" y="1918081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527726" y="3142655"/>
            <a:ext cx="10090547" cy="1211759"/>
            <a:chOff x="0" y="0"/>
            <a:chExt cx="13454063" cy="1615678"/>
          </a:xfrm>
        </p:grpSpPr>
        <p:sp>
          <p:nvSpPr>
            <p:cNvPr id="12" name="Freeform 12"/>
            <p:cNvSpPr/>
            <p:nvPr/>
          </p:nvSpPr>
          <p:spPr>
            <a:xfrm>
              <a:off x="19050" y="19050"/>
              <a:ext cx="13416026" cy="1577594"/>
            </a:xfrm>
            <a:custGeom>
              <a:avLst/>
              <a:gdLst/>
              <a:ahLst/>
              <a:cxnLst/>
              <a:rect l="l" t="t" r="r" b="b"/>
              <a:pathLst>
                <a:path w="13416026" h="1577594">
                  <a:moveTo>
                    <a:pt x="0" y="182880"/>
                  </a:moveTo>
                  <a:cubicBezTo>
                    <a:pt x="0" y="81915"/>
                    <a:pt x="83566" y="0"/>
                    <a:pt x="186817" y="0"/>
                  </a:cubicBezTo>
                  <a:lnTo>
                    <a:pt x="13229210" y="0"/>
                  </a:lnTo>
                  <a:cubicBezTo>
                    <a:pt x="13332333" y="0"/>
                    <a:pt x="13416026" y="81915"/>
                    <a:pt x="13416026" y="182880"/>
                  </a:cubicBezTo>
                  <a:lnTo>
                    <a:pt x="13416026" y="1394714"/>
                  </a:lnTo>
                  <a:cubicBezTo>
                    <a:pt x="13416026" y="1495679"/>
                    <a:pt x="13332461" y="1577594"/>
                    <a:pt x="13229210" y="1577594"/>
                  </a:cubicBezTo>
                  <a:lnTo>
                    <a:pt x="186817" y="1577594"/>
                  </a:lnTo>
                  <a:cubicBezTo>
                    <a:pt x="83693" y="1577594"/>
                    <a:pt x="0" y="1495679"/>
                    <a:pt x="0" y="1394714"/>
                  </a:cubicBez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3454126" cy="1615694"/>
            </a:xfrm>
            <a:custGeom>
              <a:avLst/>
              <a:gdLst/>
              <a:ahLst/>
              <a:cxnLst/>
              <a:rect l="l" t="t" r="r" b="b"/>
              <a:pathLst>
                <a:path w="13454126" h="1615694">
                  <a:moveTo>
                    <a:pt x="0" y="201930"/>
                  </a:moveTo>
                  <a:cubicBezTo>
                    <a:pt x="0" y="90043"/>
                    <a:pt x="92583" y="0"/>
                    <a:pt x="205867" y="0"/>
                  </a:cubicBezTo>
                  <a:lnTo>
                    <a:pt x="13248260" y="0"/>
                  </a:lnTo>
                  <a:lnTo>
                    <a:pt x="13248260" y="19050"/>
                  </a:lnTo>
                  <a:lnTo>
                    <a:pt x="13248260" y="0"/>
                  </a:lnTo>
                  <a:cubicBezTo>
                    <a:pt x="13361544" y="0"/>
                    <a:pt x="13454126" y="90043"/>
                    <a:pt x="13454126" y="201930"/>
                  </a:cubicBezTo>
                  <a:lnTo>
                    <a:pt x="13435076" y="201930"/>
                  </a:lnTo>
                  <a:lnTo>
                    <a:pt x="13454126" y="201930"/>
                  </a:lnTo>
                  <a:lnTo>
                    <a:pt x="13454126" y="1413764"/>
                  </a:lnTo>
                  <a:lnTo>
                    <a:pt x="13435076" y="1413764"/>
                  </a:lnTo>
                  <a:lnTo>
                    <a:pt x="13454126" y="1413764"/>
                  </a:lnTo>
                  <a:cubicBezTo>
                    <a:pt x="13454126" y="1525651"/>
                    <a:pt x="13361544" y="1615694"/>
                    <a:pt x="13248260" y="1615694"/>
                  </a:cubicBezTo>
                  <a:lnTo>
                    <a:pt x="13248260" y="1596644"/>
                  </a:lnTo>
                  <a:lnTo>
                    <a:pt x="13248260" y="1615694"/>
                  </a:lnTo>
                  <a:lnTo>
                    <a:pt x="205867" y="1615694"/>
                  </a:lnTo>
                  <a:lnTo>
                    <a:pt x="205867" y="1596644"/>
                  </a:lnTo>
                  <a:lnTo>
                    <a:pt x="205867" y="1615694"/>
                  </a:lnTo>
                  <a:cubicBezTo>
                    <a:pt x="92583" y="1615694"/>
                    <a:pt x="0" y="1525651"/>
                    <a:pt x="0" y="1413764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413764"/>
                  </a:lnTo>
                  <a:lnTo>
                    <a:pt x="19050" y="1413764"/>
                  </a:lnTo>
                  <a:lnTo>
                    <a:pt x="38100" y="1413764"/>
                  </a:lnTo>
                  <a:cubicBezTo>
                    <a:pt x="38100" y="1503807"/>
                    <a:pt x="112776" y="1577594"/>
                    <a:pt x="205867" y="1577594"/>
                  </a:cubicBezTo>
                  <a:lnTo>
                    <a:pt x="13248260" y="1577594"/>
                  </a:lnTo>
                  <a:cubicBezTo>
                    <a:pt x="13341223" y="1577594"/>
                    <a:pt x="13416026" y="1503934"/>
                    <a:pt x="13416026" y="1413764"/>
                  </a:cubicBezTo>
                  <a:lnTo>
                    <a:pt x="13416026" y="201930"/>
                  </a:lnTo>
                  <a:cubicBezTo>
                    <a:pt x="13416026" y="111887"/>
                    <a:pt x="13341350" y="38100"/>
                    <a:pt x="13248260" y="38100"/>
                  </a:cubicBezTo>
                  <a:lnTo>
                    <a:pt x="205867" y="38100"/>
                  </a:lnTo>
                  <a:lnTo>
                    <a:pt x="205867" y="19050"/>
                  </a:lnTo>
                  <a:lnTo>
                    <a:pt x="205867" y="38100"/>
                  </a:lnTo>
                  <a:cubicBezTo>
                    <a:pt x="112776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513439" y="3156942"/>
            <a:ext cx="114300" cy="1183184"/>
            <a:chOff x="0" y="0"/>
            <a:chExt cx="152400" cy="157757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2400" cy="1577594"/>
            </a:xfrm>
            <a:custGeom>
              <a:avLst/>
              <a:gdLst/>
              <a:ahLst/>
              <a:cxnLst/>
              <a:rect l="l" t="t" r="r" b="b"/>
              <a:pathLst>
                <a:path w="152400" h="1577594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1501394"/>
                  </a:lnTo>
                  <a:cubicBezTo>
                    <a:pt x="152400" y="1543431"/>
                    <a:pt x="118237" y="1577594"/>
                    <a:pt x="76200" y="1577594"/>
                  </a:cubicBezTo>
                  <a:cubicBezTo>
                    <a:pt x="34163" y="1577594"/>
                    <a:pt x="0" y="1543431"/>
                    <a:pt x="0" y="1501394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7527726" y="4521250"/>
            <a:ext cx="10090547" cy="1533822"/>
            <a:chOff x="0" y="0"/>
            <a:chExt cx="13454063" cy="2045097"/>
          </a:xfrm>
        </p:grpSpPr>
        <p:sp>
          <p:nvSpPr>
            <p:cNvPr id="17" name="Freeform 17"/>
            <p:cNvSpPr/>
            <p:nvPr/>
          </p:nvSpPr>
          <p:spPr>
            <a:xfrm>
              <a:off x="19050" y="19050"/>
              <a:ext cx="13415899" cy="2006981"/>
            </a:xfrm>
            <a:custGeom>
              <a:avLst/>
              <a:gdLst/>
              <a:ahLst/>
              <a:cxnLst/>
              <a:rect l="l" t="t" r="r" b="b"/>
              <a:pathLst>
                <a:path w="13415899" h="2006981">
                  <a:moveTo>
                    <a:pt x="0" y="182880"/>
                  </a:moveTo>
                  <a:cubicBezTo>
                    <a:pt x="0" y="81915"/>
                    <a:pt x="83185" y="0"/>
                    <a:pt x="185801" y="0"/>
                  </a:cubicBezTo>
                  <a:lnTo>
                    <a:pt x="13230098" y="0"/>
                  </a:lnTo>
                  <a:cubicBezTo>
                    <a:pt x="13332713" y="0"/>
                    <a:pt x="13415899" y="81915"/>
                    <a:pt x="13415899" y="182880"/>
                  </a:cubicBezTo>
                  <a:lnTo>
                    <a:pt x="13415899" y="1824101"/>
                  </a:lnTo>
                  <a:cubicBezTo>
                    <a:pt x="13415899" y="1925066"/>
                    <a:pt x="13332713" y="2006981"/>
                    <a:pt x="13230098" y="2006981"/>
                  </a:cubicBezTo>
                  <a:lnTo>
                    <a:pt x="185801" y="2006981"/>
                  </a:lnTo>
                  <a:cubicBezTo>
                    <a:pt x="83185" y="2006981"/>
                    <a:pt x="0" y="1925066"/>
                    <a:pt x="0" y="1824101"/>
                  </a:cubicBez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13453999" cy="2045081"/>
            </a:xfrm>
            <a:custGeom>
              <a:avLst/>
              <a:gdLst/>
              <a:ahLst/>
              <a:cxnLst/>
              <a:rect l="l" t="t" r="r" b="b"/>
              <a:pathLst>
                <a:path w="13453999" h="2045081">
                  <a:moveTo>
                    <a:pt x="0" y="201930"/>
                  </a:moveTo>
                  <a:cubicBezTo>
                    <a:pt x="0" y="90170"/>
                    <a:pt x="92075" y="0"/>
                    <a:pt x="204851" y="0"/>
                  </a:cubicBezTo>
                  <a:lnTo>
                    <a:pt x="13249148" y="0"/>
                  </a:lnTo>
                  <a:lnTo>
                    <a:pt x="13249148" y="19050"/>
                  </a:lnTo>
                  <a:lnTo>
                    <a:pt x="13249148" y="0"/>
                  </a:lnTo>
                  <a:cubicBezTo>
                    <a:pt x="13362051" y="0"/>
                    <a:pt x="13453999" y="90170"/>
                    <a:pt x="13453999" y="201930"/>
                  </a:cubicBezTo>
                  <a:lnTo>
                    <a:pt x="13434949" y="201930"/>
                  </a:lnTo>
                  <a:lnTo>
                    <a:pt x="13453999" y="201930"/>
                  </a:lnTo>
                  <a:lnTo>
                    <a:pt x="13453999" y="1843151"/>
                  </a:lnTo>
                  <a:lnTo>
                    <a:pt x="13434949" y="1843151"/>
                  </a:lnTo>
                  <a:lnTo>
                    <a:pt x="13453999" y="1843151"/>
                  </a:lnTo>
                  <a:cubicBezTo>
                    <a:pt x="13453999" y="1954911"/>
                    <a:pt x="13361924" y="2045081"/>
                    <a:pt x="13249148" y="2045081"/>
                  </a:cubicBezTo>
                  <a:lnTo>
                    <a:pt x="13249148" y="2026031"/>
                  </a:lnTo>
                  <a:lnTo>
                    <a:pt x="13249148" y="2045081"/>
                  </a:lnTo>
                  <a:lnTo>
                    <a:pt x="204851" y="2045081"/>
                  </a:lnTo>
                  <a:lnTo>
                    <a:pt x="204851" y="2026031"/>
                  </a:lnTo>
                  <a:lnTo>
                    <a:pt x="204851" y="2045081"/>
                  </a:lnTo>
                  <a:cubicBezTo>
                    <a:pt x="91948" y="2045081"/>
                    <a:pt x="0" y="1954911"/>
                    <a:pt x="0" y="1843151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843151"/>
                  </a:lnTo>
                  <a:lnTo>
                    <a:pt x="19050" y="1843151"/>
                  </a:lnTo>
                  <a:lnTo>
                    <a:pt x="38100" y="1843151"/>
                  </a:lnTo>
                  <a:cubicBezTo>
                    <a:pt x="38100" y="1933321"/>
                    <a:pt x="112522" y="2006981"/>
                    <a:pt x="204851" y="2006981"/>
                  </a:cubicBezTo>
                  <a:lnTo>
                    <a:pt x="13249148" y="2006981"/>
                  </a:lnTo>
                  <a:cubicBezTo>
                    <a:pt x="13341604" y="2006981"/>
                    <a:pt x="13415899" y="1933321"/>
                    <a:pt x="13415899" y="1843151"/>
                  </a:cubicBezTo>
                  <a:lnTo>
                    <a:pt x="13415899" y="201930"/>
                  </a:lnTo>
                  <a:cubicBezTo>
                    <a:pt x="13415899" y="111760"/>
                    <a:pt x="13341477" y="38100"/>
                    <a:pt x="13249148" y="38100"/>
                  </a:cubicBezTo>
                  <a:lnTo>
                    <a:pt x="204851" y="38100"/>
                  </a:lnTo>
                  <a:lnTo>
                    <a:pt x="204851" y="19050"/>
                  </a:lnTo>
                  <a:lnTo>
                    <a:pt x="204851" y="38100"/>
                  </a:lnTo>
                  <a:cubicBezTo>
                    <a:pt x="112522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7513439" y="4535538"/>
            <a:ext cx="114300" cy="1505248"/>
            <a:chOff x="0" y="0"/>
            <a:chExt cx="152400" cy="200699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2400" cy="2006981"/>
            </a:xfrm>
            <a:custGeom>
              <a:avLst/>
              <a:gdLst/>
              <a:ahLst/>
              <a:cxnLst/>
              <a:rect l="l" t="t" r="r" b="b"/>
              <a:pathLst>
                <a:path w="152400" h="2006981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1930781"/>
                  </a:lnTo>
                  <a:cubicBezTo>
                    <a:pt x="152400" y="1972818"/>
                    <a:pt x="118237" y="2006981"/>
                    <a:pt x="76200" y="2006981"/>
                  </a:cubicBezTo>
                  <a:cubicBezTo>
                    <a:pt x="34163" y="2006981"/>
                    <a:pt x="0" y="1972818"/>
                    <a:pt x="0" y="1930781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7527726" y="6221909"/>
            <a:ext cx="10090547" cy="1524297"/>
            <a:chOff x="0" y="0"/>
            <a:chExt cx="13454063" cy="2032397"/>
          </a:xfrm>
        </p:grpSpPr>
        <p:sp>
          <p:nvSpPr>
            <p:cNvPr id="22" name="Freeform 22"/>
            <p:cNvSpPr/>
            <p:nvPr/>
          </p:nvSpPr>
          <p:spPr>
            <a:xfrm>
              <a:off x="19050" y="19050"/>
              <a:ext cx="13415899" cy="1994281"/>
            </a:xfrm>
            <a:custGeom>
              <a:avLst/>
              <a:gdLst/>
              <a:ahLst/>
              <a:cxnLst/>
              <a:rect l="l" t="t" r="r" b="b"/>
              <a:pathLst>
                <a:path w="13415899" h="1994281">
                  <a:moveTo>
                    <a:pt x="0" y="182880"/>
                  </a:moveTo>
                  <a:cubicBezTo>
                    <a:pt x="0" y="81915"/>
                    <a:pt x="83185" y="0"/>
                    <a:pt x="185801" y="0"/>
                  </a:cubicBezTo>
                  <a:lnTo>
                    <a:pt x="13230098" y="0"/>
                  </a:lnTo>
                  <a:cubicBezTo>
                    <a:pt x="13332713" y="0"/>
                    <a:pt x="13415899" y="81915"/>
                    <a:pt x="13415899" y="182880"/>
                  </a:cubicBezTo>
                  <a:lnTo>
                    <a:pt x="13415899" y="1811401"/>
                  </a:lnTo>
                  <a:cubicBezTo>
                    <a:pt x="13415899" y="1912366"/>
                    <a:pt x="13332713" y="1994281"/>
                    <a:pt x="13230098" y="1994281"/>
                  </a:cubicBezTo>
                  <a:lnTo>
                    <a:pt x="185801" y="1994281"/>
                  </a:lnTo>
                  <a:cubicBezTo>
                    <a:pt x="83185" y="1994281"/>
                    <a:pt x="0" y="1912366"/>
                    <a:pt x="0" y="1811401"/>
                  </a:cubicBez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13453999" cy="2032381"/>
            </a:xfrm>
            <a:custGeom>
              <a:avLst/>
              <a:gdLst/>
              <a:ahLst/>
              <a:cxnLst/>
              <a:rect l="l" t="t" r="r" b="b"/>
              <a:pathLst>
                <a:path w="13453999" h="2032381">
                  <a:moveTo>
                    <a:pt x="0" y="201930"/>
                  </a:moveTo>
                  <a:cubicBezTo>
                    <a:pt x="0" y="90170"/>
                    <a:pt x="92075" y="0"/>
                    <a:pt x="204851" y="0"/>
                  </a:cubicBezTo>
                  <a:lnTo>
                    <a:pt x="13249148" y="0"/>
                  </a:lnTo>
                  <a:lnTo>
                    <a:pt x="13249148" y="19050"/>
                  </a:lnTo>
                  <a:lnTo>
                    <a:pt x="13249148" y="0"/>
                  </a:lnTo>
                  <a:cubicBezTo>
                    <a:pt x="13362051" y="0"/>
                    <a:pt x="13453999" y="90170"/>
                    <a:pt x="13453999" y="201930"/>
                  </a:cubicBezTo>
                  <a:lnTo>
                    <a:pt x="13434949" y="201930"/>
                  </a:lnTo>
                  <a:lnTo>
                    <a:pt x="13453999" y="201930"/>
                  </a:lnTo>
                  <a:lnTo>
                    <a:pt x="13453999" y="1830451"/>
                  </a:lnTo>
                  <a:lnTo>
                    <a:pt x="13434949" y="1830451"/>
                  </a:lnTo>
                  <a:lnTo>
                    <a:pt x="13453999" y="1830451"/>
                  </a:lnTo>
                  <a:cubicBezTo>
                    <a:pt x="13453999" y="1942211"/>
                    <a:pt x="13361924" y="2032381"/>
                    <a:pt x="13249148" y="2032381"/>
                  </a:cubicBezTo>
                  <a:lnTo>
                    <a:pt x="13249148" y="2013331"/>
                  </a:lnTo>
                  <a:lnTo>
                    <a:pt x="13249148" y="2032381"/>
                  </a:lnTo>
                  <a:lnTo>
                    <a:pt x="204851" y="2032381"/>
                  </a:lnTo>
                  <a:lnTo>
                    <a:pt x="204851" y="2013331"/>
                  </a:lnTo>
                  <a:lnTo>
                    <a:pt x="204851" y="2032381"/>
                  </a:lnTo>
                  <a:cubicBezTo>
                    <a:pt x="91948" y="2032381"/>
                    <a:pt x="0" y="1942211"/>
                    <a:pt x="0" y="1830451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830451"/>
                  </a:lnTo>
                  <a:lnTo>
                    <a:pt x="19050" y="1830451"/>
                  </a:lnTo>
                  <a:lnTo>
                    <a:pt x="38100" y="1830451"/>
                  </a:lnTo>
                  <a:cubicBezTo>
                    <a:pt x="38100" y="1920621"/>
                    <a:pt x="112522" y="1994281"/>
                    <a:pt x="204851" y="1994281"/>
                  </a:cubicBezTo>
                  <a:lnTo>
                    <a:pt x="13249148" y="1994281"/>
                  </a:lnTo>
                  <a:cubicBezTo>
                    <a:pt x="13341604" y="1994281"/>
                    <a:pt x="13415899" y="1920621"/>
                    <a:pt x="13415899" y="1830451"/>
                  </a:cubicBezTo>
                  <a:lnTo>
                    <a:pt x="13415899" y="201930"/>
                  </a:lnTo>
                  <a:cubicBezTo>
                    <a:pt x="13415899" y="111760"/>
                    <a:pt x="13341477" y="38100"/>
                    <a:pt x="13249148" y="38100"/>
                  </a:cubicBezTo>
                  <a:lnTo>
                    <a:pt x="204851" y="38100"/>
                  </a:lnTo>
                  <a:lnTo>
                    <a:pt x="204851" y="19050"/>
                  </a:lnTo>
                  <a:lnTo>
                    <a:pt x="204851" y="38100"/>
                  </a:lnTo>
                  <a:cubicBezTo>
                    <a:pt x="112522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7513439" y="6236196"/>
            <a:ext cx="114300" cy="1495722"/>
            <a:chOff x="0" y="0"/>
            <a:chExt cx="152400" cy="199429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2400" cy="1994281"/>
            </a:xfrm>
            <a:custGeom>
              <a:avLst/>
              <a:gdLst/>
              <a:ahLst/>
              <a:cxnLst/>
              <a:rect l="l" t="t" r="r" b="b"/>
              <a:pathLst>
                <a:path w="152400" h="1994281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1918081"/>
                  </a:lnTo>
                  <a:cubicBezTo>
                    <a:pt x="152400" y="1960118"/>
                    <a:pt x="118237" y="1994281"/>
                    <a:pt x="76200" y="1994281"/>
                  </a:cubicBezTo>
                  <a:cubicBezTo>
                    <a:pt x="34163" y="1994281"/>
                    <a:pt x="0" y="1960118"/>
                    <a:pt x="0" y="1918081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7542014" y="8684716"/>
            <a:ext cx="10061972" cy="918270"/>
            <a:chOff x="0" y="0"/>
            <a:chExt cx="13415963" cy="12243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416026" cy="1224407"/>
            </a:xfrm>
            <a:custGeom>
              <a:avLst/>
              <a:gdLst/>
              <a:ahLst/>
              <a:cxnLst/>
              <a:rect l="l" t="t" r="r" b="b"/>
              <a:pathLst>
                <a:path w="13416026" h="1224407">
                  <a:moveTo>
                    <a:pt x="0" y="109474"/>
                  </a:moveTo>
                  <a:cubicBezTo>
                    <a:pt x="0" y="49022"/>
                    <a:pt x="49022" y="0"/>
                    <a:pt x="109474" y="0"/>
                  </a:cubicBezTo>
                  <a:lnTo>
                    <a:pt x="13306552" y="0"/>
                  </a:lnTo>
                  <a:cubicBezTo>
                    <a:pt x="13367004" y="0"/>
                    <a:pt x="13416026" y="49022"/>
                    <a:pt x="13416026" y="109474"/>
                  </a:cubicBezTo>
                  <a:lnTo>
                    <a:pt x="13416026" y="1114933"/>
                  </a:lnTo>
                  <a:cubicBezTo>
                    <a:pt x="13416026" y="1175385"/>
                    <a:pt x="13367004" y="1224407"/>
                    <a:pt x="13306552" y="1224407"/>
                  </a:cubicBezTo>
                  <a:lnTo>
                    <a:pt x="109474" y="1224407"/>
                  </a:lnTo>
                  <a:cubicBezTo>
                    <a:pt x="49022" y="1224407"/>
                    <a:pt x="0" y="1175385"/>
                    <a:pt x="0" y="1114933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7532340" y="8684716"/>
            <a:ext cx="10081320" cy="918270"/>
            <a:chOff x="0" y="0"/>
            <a:chExt cx="13441760" cy="12243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441806" cy="1224407"/>
            </a:xfrm>
            <a:custGeom>
              <a:avLst/>
              <a:gdLst/>
              <a:ahLst/>
              <a:cxnLst/>
              <a:rect l="l" t="t" r="r" b="b"/>
              <a:pathLst>
                <a:path w="13441806" h="1224407">
                  <a:moveTo>
                    <a:pt x="0" y="39116"/>
                  </a:moveTo>
                  <a:cubicBezTo>
                    <a:pt x="0" y="17526"/>
                    <a:pt x="17526" y="0"/>
                    <a:pt x="39116" y="0"/>
                  </a:cubicBezTo>
                  <a:lnTo>
                    <a:pt x="13402690" y="0"/>
                  </a:lnTo>
                  <a:cubicBezTo>
                    <a:pt x="13424280" y="0"/>
                    <a:pt x="13441806" y="17526"/>
                    <a:pt x="13441806" y="39116"/>
                  </a:cubicBezTo>
                  <a:lnTo>
                    <a:pt x="13441806" y="1185291"/>
                  </a:lnTo>
                  <a:cubicBezTo>
                    <a:pt x="13441806" y="1206881"/>
                    <a:pt x="13424280" y="1224407"/>
                    <a:pt x="13402690" y="1224407"/>
                  </a:cubicBezTo>
                  <a:lnTo>
                    <a:pt x="39116" y="1224407"/>
                  </a:lnTo>
                  <a:cubicBezTo>
                    <a:pt x="17526" y="1224407"/>
                    <a:pt x="0" y="1206881"/>
                    <a:pt x="0" y="1185291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sp>
        <p:nvSpPr>
          <p:cNvPr id="30" name="Freeform 30"/>
          <p:cNvSpPr/>
          <p:nvPr/>
        </p:nvSpPr>
        <p:spPr>
          <a:xfrm>
            <a:off x="70016" y="2213670"/>
            <a:ext cx="7271973" cy="5297465"/>
          </a:xfrm>
          <a:custGeom>
            <a:avLst/>
            <a:gdLst/>
            <a:ahLst/>
            <a:cxnLst/>
            <a:rect l="l" t="t" r="r" b="b"/>
            <a:pathLst>
              <a:path w="7271973" h="5297465">
                <a:moveTo>
                  <a:pt x="0" y="0"/>
                </a:moveTo>
                <a:lnTo>
                  <a:pt x="7271973" y="0"/>
                </a:lnTo>
                <a:lnTo>
                  <a:pt x="7271973" y="5297465"/>
                </a:lnTo>
                <a:lnTo>
                  <a:pt x="0" y="5297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5075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7627739" y="286644"/>
            <a:ext cx="7806332" cy="963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Tuple Internal Working and Core Use Cases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851725" y="1661220"/>
            <a:ext cx="2443311" cy="344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8"/>
              </a:lnSpc>
            </a:pPr>
            <a:r>
              <a:rPr lang="en-US" sz="2074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Memory Efficiency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51725" y="2026741"/>
            <a:ext cx="9528274" cy="764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189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Python stores tuples as arrays of object references in contiguous memory. This compact structure makes them generally </a:t>
            </a:r>
            <a:r>
              <a:rPr lang="en-US" sz="1899" b="1">
                <a:solidFill>
                  <a:srgbClr val="00357A"/>
                </a:solidFill>
                <a:latin typeface="Roboto Bold"/>
                <a:ea typeface="Roboto Bold"/>
                <a:cs typeface="Roboto Bold"/>
                <a:sym typeface="Roboto Bold"/>
              </a:rPr>
              <a:t>faster than lists for iteration</a:t>
            </a:r>
            <a:r>
              <a:rPr lang="en-US" sz="189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 and access.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851725" y="3352354"/>
            <a:ext cx="2443311" cy="344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8"/>
              </a:lnSpc>
            </a:pPr>
            <a:r>
              <a:rPr lang="en-US" sz="2074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Function Returns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801719" y="3653284"/>
            <a:ext cx="9528274" cy="806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199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Ideal for functions that need to return multiple values, often implicitly packing them into a single tuple object.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851725" y="4730949"/>
            <a:ext cx="2443311" cy="344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8"/>
              </a:lnSpc>
            </a:pPr>
            <a:r>
              <a:rPr lang="en-US" sz="2074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Fixed Data Storage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851725" y="5086945"/>
            <a:ext cx="9528274" cy="806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199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Excellent for data that should not change, such as geographic coordinates (e.g., (27.7, 85.3)) or constant configuration settings.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851725" y="6431608"/>
            <a:ext cx="2443311" cy="344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8"/>
              </a:lnSpc>
            </a:pPr>
            <a:r>
              <a:rPr lang="en-US" sz="2074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Dictionary Keys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851725" y="6787604"/>
            <a:ext cx="9528274" cy="806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199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Since tuples are immutable, they are </a:t>
            </a:r>
            <a:r>
              <a:rPr lang="en-US" sz="1999" b="1">
                <a:solidFill>
                  <a:srgbClr val="00357A"/>
                </a:solidFill>
                <a:latin typeface="Roboto Bold"/>
                <a:ea typeface="Roboto Bold"/>
                <a:cs typeface="Roboto Bold"/>
                <a:sym typeface="Roboto Bold"/>
              </a:rPr>
              <a:t>hashable</a:t>
            </a:r>
            <a:r>
              <a:rPr lang="en-US" sz="199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 and can be used as keys in Python dictionaries, unlike mutable lists.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542014" y="8006060"/>
            <a:ext cx="5378419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249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Practical Example: Storing Records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27751" y="8736062"/>
            <a:ext cx="9690498" cy="720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coordinates = (27.7, 85.3)person = ("Anish", 21, "Nepal", "Software Developer")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11858" y="613023"/>
            <a:ext cx="12939627" cy="573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625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Tuple Operations: Access, Combination, and Unpacking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1858" y="1782216"/>
            <a:ext cx="3479601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Accessing Elements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1858" y="2382291"/>
            <a:ext cx="8049220" cy="82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0"/>
              </a:lnSpc>
            </a:pPr>
            <a:r>
              <a:rPr lang="en-US" sz="2112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Tuples support standard sequence operations like indexing and slicing to retrieve elements.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11858" y="3471268"/>
            <a:ext cx="8049220" cy="1461492"/>
            <a:chOff x="0" y="0"/>
            <a:chExt cx="10732293" cy="194865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32262" cy="1948688"/>
            </a:xfrm>
            <a:custGeom>
              <a:avLst/>
              <a:gdLst/>
              <a:ahLst/>
              <a:cxnLst/>
              <a:rect l="l" t="t" r="r" b="b"/>
              <a:pathLst>
                <a:path w="10732262" h="1948688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10602340" y="0"/>
                  </a:lnTo>
                  <a:cubicBezTo>
                    <a:pt x="10674096" y="0"/>
                    <a:pt x="10732262" y="58166"/>
                    <a:pt x="10732262" y="129921"/>
                  </a:cubicBezTo>
                  <a:lnTo>
                    <a:pt x="10732262" y="1818767"/>
                  </a:lnTo>
                  <a:cubicBezTo>
                    <a:pt x="10732262" y="1890522"/>
                    <a:pt x="10674096" y="1948688"/>
                    <a:pt x="10602340" y="1948688"/>
                  </a:cubicBezTo>
                  <a:lnTo>
                    <a:pt x="129921" y="1948688"/>
                  </a:lnTo>
                  <a:cubicBezTo>
                    <a:pt x="58166" y="1948688"/>
                    <a:pt x="0" y="1890522"/>
                    <a:pt x="0" y="1818767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800398" y="3471268"/>
            <a:ext cx="8072140" cy="1672232"/>
            <a:chOff x="0" y="0"/>
            <a:chExt cx="10762853" cy="222964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62869" cy="2229534"/>
            </a:xfrm>
            <a:custGeom>
              <a:avLst/>
              <a:gdLst/>
              <a:ahLst/>
              <a:cxnLst/>
              <a:rect l="l" t="t" r="r" b="b"/>
              <a:pathLst>
                <a:path w="10762869" h="2229534">
                  <a:moveTo>
                    <a:pt x="0" y="53039"/>
                  </a:moveTo>
                  <a:cubicBezTo>
                    <a:pt x="0" y="23831"/>
                    <a:pt x="20828" y="0"/>
                    <a:pt x="46355" y="0"/>
                  </a:cubicBezTo>
                  <a:lnTo>
                    <a:pt x="10716514" y="0"/>
                  </a:lnTo>
                  <a:cubicBezTo>
                    <a:pt x="10742168" y="0"/>
                    <a:pt x="10762869" y="23831"/>
                    <a:pt x="10762869" y="53039"/>
                  </a:cubicBezTo>
                  <a:lnTo>
                    <a:pt x="10762869" y="2176495"/>
                  </a:lnTo>
                  <a:cubicBezTo>
                    <a:pt x="10762869" y="2205848"/>
                    <a:pt x="10742041" y="2229534"/>
                    <a:pt x="10716514" y="2229534"/>
                  </a:cubicBezTo>
                  <a:lnTo>
                    <a:pt x="46355" y="2229534"/>
                  </a:lnTo>
                  <a:cubicBezTo>
                    <a:pt x="20701" y="2229534"/>
                    <a:pt x="0" y="2205703"/>
                    <a:pt x="0" y="2176495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032272" y="3540472"/>
            <a:ext cx="7608391" cy="146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12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person = ("Anish", 23, "Nepal")print(person[0]) </a:t>
            </a:r>
          </a:p>
          <a:p>
            <a:pPr algn="l">
              <a:lnSpc>
                <a:spcPts val="2874"/>
              </a:lnSpc>
            </a:pPr>
            <a:r>
              <a:rPr lang="en-US" sz="1812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# Output: Anish</a:t>
            </a:r>
          </a:p>
          <a:p>
            <a:pPr algn="l">
              <a:lnSpc>
                <a:spcPts val="2874"/>
              </a:lnSpc>
            </a:pPr>
            <a:r>
              <a:rPr lang="en-US" sz="1812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print(person[1:]) </a:t>
            </a:r>
          </a:p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# Output: (23, 'Nepal')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36448" y="1782216"/>
            <a:ext cx="3479601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Combining Tuples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24988" y="2289304"/>
            <a:ext cx="8049220" cy="82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0"/>
              </a:lnSpc>
            </a:pPr>
            <a:r>
              <a:rPr lang="en-US" sz="2112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You can use the + operator for concatenation and the * operator for repetition.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436448" y="3109615"/>
            <a:ext cx="8049220" cy="1461492"/>
            <a:chOff x="0" y="0"/>
            <a:chExt cx="10732293" cy="194865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32262" cy="1948688"/>
            </a:xfrm>
            <a:custGeom>
              <a:avLst/>
              <a:gdLst/>
              <a:ahLst/>
              <a:cxnLst/>
              <a:rect l="l" t="t" r="r" b="b"/>
              <a:pathLst>
                <a:path w="10732262" h="1948688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10602340" y="0"/>
                  </a:lnTo>
                  <a:cubicBezTo>
                    <a:pt x="10674096" y="0"/>
                    <a:pt x="10732262" y="58166"/>
                    <a:pt x="10732262" y="129921"/>
                  </a:cubicBezTo>
                  <a:lnTo>
                    <a:pt x="10732262" y="1818767"/>
                  </a:lnTo>
                  <a:cubicBezTo>
                    <a:pt x="10732262" y="1890522"/>
                    <a:pt x="10674096" y="1948688"/>
                    <a:pt x="10602340" y="1948688"/>
                  </a:cubicBezTo>
                  <a:lnTo>
                    <a:pt x="129921" y="1948688"/>
                  </a:lnTo>
                  <a:cubicBezTo>
                    <a:pt x="58166" y="1948688"/>
                    <a:pt x="0" y="1890522"/>
                    <a:pt x="0" y="1818767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424988" y="3109615"/>
            <a:ext cx="8072140" cy="2033885"/>
            <a:chOff x="0" y="0"/>
            <a:chExt cx="10762853" cy="271184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62869" cy="2711713"/>
            </a:xfrm>
            <a:custGeom>
              <a:avLst/>
              <a:gdLst/>
              <a:ahLst/>
              <a:cxnLst/>
              <a:rect l="l" t="t" r="r" b="b"/>
              <a:pathLst>
                <a:path w="10762869" h="2711713">
                  <a:moveTo>
                    <a:pt x="0" y="64510"/>
                  </a:moveTo>
                  <a:cubicBezTo>
                    <a:pt x="0" y="28985"/>
                    <a:pt x="20828" y="0"/>
                    <a:pt x="46355" y="0"/>
                  </a:cubicBezTo>
                  <a:lnTo>
                    <a:pt x="10716514" y="0"/>
                  </a:lnTo>
                  <a:cubicBezTo>
                    <a:pt x="10742168" y="0"/>
                    <a:pt x="10762869" y="28985"/>
                    <a:pt x="10762869" y="64510"/>
                  </a:cubicBezTo>
                  <a:lnTo>
                    <a:pt x="10762869" y="2647204"/>
                  </a:lnTo>
                  <a:cubicBezTo>
                    <a:pt x="10762869" y="2682905"/>
                    <a:pt x="10742041" y="2711713"/>
                    <a:pt x="10716514" y="2711713"/>
                  </a:cubicBezTo>
                  <a:lnTo>
                    <a:pt x="46355" y="2711713"/>
                  </a:lnTo>
                  <a:cubicBezTo>
                    <a:pt x="20701" y="2711713"/>
                    <a:pt x="0" y="2682728"/>
                    <a:pt x="0" y="2647204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9656861" y="3178820"/>
            <a:ext cx="7608391" cy="1825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12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t1 = (1, 2); t2 = (3, 4)</a:t>
            </a:r>
          </a:p>
          <a:p>
            <a:pPr algn="l">
              <a:lnSpc>
                <a:spcPts val="2874"/>
              </a:lnSpc>
            </a:pPr>
            <a:r>
              <a:rPr lang="en-US" sz="1812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print(t1 + t2) </a:t>
            </a:r>
          </a:p>
          <a:p>
            <a:pPr algn="l">
              <a:lnSpc>
                <a:spcPts val="2874"/>
              </a:lnSpc>
            </a:pPr>
            <a:r>
              <a:rPr lang="en-US" sz="1812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# Output: (1, 2, 3, 4)</a:t>
            </a:r>
          </a:p>
          <a:p>
            <a:pPr algn="l">
              <a:lnSpc>
                <a:spcPts val="2874"/>
              </a:lnSpc>
            </a:pPr>
            <a:r>
              <a:rPr lang="en-US" sz="1812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print(t1 * 2) </a:t>
            </a:r>
          </a:p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# Output: (1, 2, 1, 2)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11858" y="5570441"/>
            <a:ext cx="16664285" cy="38397"/>
            <a:chOff x="0" y="0"/>
            <a:chExt cx="22219047" cy="5119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219031" cy="51181"/>
            </a:xfrm>
            <a:custGeom>
              <a:avLst/>
              <a:gdLst/>
              <a:ahLst/>
              <a:cxnLst/>
              <a:rect l="l" t="t" r="r" b="b"/>
              <a:pathLst>
                <a:path w="22219031" h="51181">
                  <a:moveTo>
                    <a:pt x="0" y="0"/>
                  </a:moveTo>
                  <a:lnTo>
                    <a:pt x="22219031" y="0"/>
                  </a:lnTo>
                  <a:lnTo>
                    <a:pt x="22219031" y="51181"/>
                  </a:lnTo>
                  <a:lnTo>
                    <a:pt x="0" y="51181"/>
                  </a:lnTo>
                  <a:close/>
                </a:path>
              </a:pathLst>
            </a:custGeom>
            <a:solidFill>
              <a:srgbClr val="3C3939">
                <a:alpha val="24706"/>
              </a:srgbClr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811858" y="5937647"/>
            <a:ext cx="5957132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Tuple Packing and Unpacking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1857" y="6644282"/>
            <a:ext cx="16664285" cy="424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212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This allows for easy assignment of values from a tuple to multiple variables simultaneously, a highly useful Python feature.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11858" y="7371606"/>
            <a:ext cx="5554712" cy="927795"/>
            <a:chOff x="0" y="0"/>
            <a:chExt cx="7406283" cy="1237060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7406259" cy="1237107"/>
            </a:xfrm>
            <a:custGeom>
              <a:avLst/>
              <a:gdLst/>
              <a:ahLst/>
              <a:cxnLst/>
              <a:rect l="l" t="t" r="r" b="b"/>
              <a:pathLst>
                <a:path w="7406259" h="1237107">
                  <a:moveTo>
                    <a:pt x="0" y="0"/>
                  </a:moveTo>
                  <a:lnTo>
                    <a:pt x="7406259" y="0"/>
                  </a:lnTo>
                  <a:lnTo>
                    <a:pt x="7406259" y="1237107"/>
                  </a:lnTo>
                  <a:lnTo>
                    <a:pt x="0" y="1237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4" r="-194" b="3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1043731" y="8512225"/>
            <a:ext cx="2899768" cy="357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Packing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3731" y="8928050"/>
            <a:ext cx="5090964" cy="485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my_tuple = 1, 2, 3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366570" y="7371606"/>
            <a:ext cx="5554712" cy="927795"/>
            <a:chOff x="0" y="0"/>
            <a:chExt cx="7406283" cy="1237060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7406259" cy="1237107"/>
            </a:xfrm>
            <a:custGeom>
              <a:avLst/>
              <a:gdLst/>
              <a:ahLst/>
              <a:cxnLst/>
              <a:rect l="l" t="t" r="r" b="b"/>
              <a:pathLst>
                <a:path w="7406259" h="1237107">
                  <a:moveTo>
                    <a:pt x="0" y="0"/>
                  </a:moveTo>
                  <a:lnTo>
                    <a:pt x="7406259" y="0"/>
                  </a:lnTo>
                  <a:lnTo>
                    <a:pt x="7406259" y="1237107"/>
                  </a:lnTo>
                  <a:lnTo>
                    <a:pt x="0" y="1237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4" r="-194" b="3"/>
              </a:stretch>
            </a:blipFill>
          </p:spPr>
        </p:sp>
      </p:grpSp>
      <p:sp>
        <p:nvSpPr>
          <p:cNvPr id="31" name="TextBox 31"/>
          <p:cNvSpPr txBox="1"/>
          <p:nvPr/>
        </p:nvSpPr>
        <p:spPr>
          <a:xfrm>
            <a:off x="6598444" y="8512225"/>
            <a:ext cx="2899768" cy="357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Unpacking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98444" y="8928050"/>
            <a:ext cx="5090964" cy="485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a, b, c = my_tuple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1921281" y="7371606"/>
            <a:ext cx="5554861" cy="927795"/>
            <a:chOff x="0" y="0"/>
            <a:chExt cx="7406482" cy="1237060"/>
          </a:xfrm>
        </p:grpSpPr>
        <p:sp>
          <p:nvSpPr>
            <p:cNvPr id="34" name="Freeform 34" descr="preencoded.png"/>
            <p:cNvSpPr/>
            <p:nvPr/>
          </p:nvSpPr>
          <p:spPr>
            <a:xfrm>
              <a:off x="0" y="0"/>
              <a:ext cx="7406513" cy="1237107"/>
            </a:xfrm>
            <a:custGeom>
              <a:avLst/>
              <a:gdLst/>
              <a:ahLst/>
              <a:cxnLst/>
              <a:rect l="l" t="t" r="r" b="b"/>
              <a:pathLst>
                <a:path w="7406513" h="1237107">
                  <a:moveTo>
                    <a:pt x="0" y="0"/>
                  </a:moveTo>
                  <a:lnTo>
                    <a:pt x="7406513" y="0"/>
                  </a:lnTo>
                  <a:lnTo>
                    <a:pt x="7406513" y="1237107"/>
                  </a:lnTo>
                  <a:lnTo>
                    <a:pt x="0" y="1237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3" r="-192" b="3"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12153156" y="8512225"/>
            <a:ext cx="2899768" cy="357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Result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153156" y="8956625"/>
            <a:ext cx="5091112" cy="447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a = 1, b = 2, c =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35075" y="1358056"/>
            <a:ext cx="13102530" cy="712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2"/>
              </a:lnSpc>
            </a:pPr>
            <a:r>
              <a:rPr lang="en-US" sz="4537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Sets: Unordered, Unique Elements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5075" y="2658964"/>
            <a:ext cx="16617851" cy="1064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9"/>
              </a:lnSpc>
            </a:pPr>
            <a:r>
              <a:rPr lang="en-US" sz="2674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sz="2674" b="1">
                <a:solidFill>
                  <a:srgbClr val="00357A"/>
                </a:solidFill>
                <a:latin typeface="Roboto Bold"/>
                <a:ea typeface="Roboto Bold"/>
                <a:cs typeface="Roboto Bold"/>
                <a:sym typeface="Roboto Bold"/>
              </a:rPr>
              <a:t>set</a:t>
            </a:r>
            <a:r>
              <a:rPr lang="en-US" sz="2674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 is an unordered collection of unique elements, modeled after mathematical set theory. They excel at managing unique members and performing membership tests.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35075" y="4162574"/>
            <a:ext cx="5380136" cy="2524274"/>
            <a:chOff x="0" y="0"/>
            <a:chExt cx="7173515" cy="33656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73468" cy="3365627"/>
            </a:xfrm>
            <a:custGeom>
              <a:avLst/>
              <a:gdLst/>
              <a:ahLst/>
              <a:cxnLst/>
              <a:rect l="l" t="t" r="r" b="b"/>
              <a:pathLst>
                <a:path w="7173468" h="336562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90588" y="0"/>
                  </a:lnTo>
                  <a:cubicBezTo>
                    <a:pt x="7091553" y="0"/>
                    <a:pt x="7173468" y="81915"/>
                    <a:pt x="7173468" y="182880"/>
                  </a:cubicBezTo>
                  <a:lnTo>
                    <a:pt x="7173468" y="3182747"/>
                  </a:lnTo>
                  <a:cubicBezTo>
                    <a:pt x="7173468" y="3283712"/>
                    <a:pt x="7091553" y="3365627"/>
                    <a:pt x="6990588" y="3365627"/>
                  </a:cubicBezTo>
                  <a:lnTo>
                    <a:pt x="182880" y="3365627"/>
                  </a:lnTo>
                  <a:cubicBezTo>
                    <a:pt x="81915" y="3365627"/>
                    <a:pt x="0" y="3283712"/>
                    <a:pt x="0" y="3182747"/>
                  </a:cubicBez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35075" y="4133999"/>
            <a:ext cx="5380136" cy="114300"/>
            <a:chOff x="0" y="0"/>
            <a:chExt cx="7173515" cy="152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173468" cy="152400"/>
            </a:xfrm>
            <a:custGeom>
              <a:avLst/>
              <a:gdLst/>
              <a:ahLst/>
              <a:cxnLst/>
              <a:rect l="l" t="t" r="r" b="b"/>
              <a:pathLst>
                <a:path w="7173468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7097268" y="0"/>
                  </a:lnTo>
                  <a:cubicBezTo>
                    <a:pt x="7139305" y="0"/>
                    <a:pt x="7173468" y="34163"/>
                    <a:pt x="7173468" y="76200"/>
                  </a:cubicBezTo>
                  <a:cubicBezTo>
                    <a:pt x="7173468" y="118237"/>
                    <a:pt x="7139305" y="152400"/>
                    <a:pt x="7097268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102221" y="4740027"/>
            <a:ext cx="4476006" cy="37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12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Unordered and Unindexed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2221" y="5189190"/>
            <a:ext cx="4845844" cy="818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sz="2074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Elements have no defined order and cannot be accessed by index.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453782" y="4162574"/>
            <a:ext cx="5380285" cy="2524274"/>
            <a:chOff x="0" y="0"/>
            <a:chExt cx="7173713" cy="33656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173723" cy="3365627"/>
            </a:xfrm>
            <a:custGeom>
              <a:avLst/>
              <a:gdLst/>
              <a:ahLst/>
              <a:cxnLst/>
              <a:rect l="l" t="t" r="r" b="b"/>
              <a:pathLst>
                <a:path w="7173723" h="336562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90842" y="0"/>
                  </a:lnTo>
                  <a:cubicBezTo>
                    <a:pt x="7091807" y="0"/>
                    <a:pt x="7173723" y="81915"/>
                    <a:pt x="7173723" y="182880"/>
                  </a:cubicBezTo>
                  <a:lnTo>
                    <a:pt x="7173723" y="3182747"/>
                  </a:lnTo>
                  <a:cubicBezTo>
                    <a:pt x="7173723" y="3283712"/>
                    <a:pt x="7091807" y="3365627"/>
                    <a:pt x="6990842" y="3365627"/>
                  </a:cubicBezTo>
                  <a:lnTo>
                    <a:pt x="182880" y="3365627"/>
                  </a:lnTo>
                  <a:cubicBezTo>
                    <a:pt x="81915" y="3365627"/>
                    <a:pt x="0" y="3283712"/>
                    <a:pt x="0" y="3182747"/>
                  </a:cubicBez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6453782" y="4133999"/>
            <a:ext cx="5380285" cy="114300"/>
            <a:chOff x="0" y="0"/>
            <a:chExt cx="7173713" cy="152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73722" cy="152400"/>
            </a:xfrm>
            <a:custGeom>
              <a:avLst/>
              <a:gdLst/>
              <a:ahLst/>
              <a:cxnLst/>
              <a:rect l="l" t="t" r="r" b="b"/>
              <a:pathLst>
                <a:path w="7173722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7097522" y="0"/>
                  </a:lnTo>
                  <a:cubicBezTo>
                    <a:pt x="7139559" y="0"/>
                    <a:pt x="7173722" y="34163"/>
                    <a:pt x="7173722" y="76200"/>
                  </a:cubicBezTo>
                  <a:cubicBezTo>
                    <a:pt x="7173722" y="118237"/>
                    <a:pt x="7139559" y="152400"/>
                    <a:pt x="7097522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6720929" y="4740027"/>
            <a:ext cx="2982516" cy="37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12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No Duplicates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20929" y="5189190"/>
            <a:ext cx="4845992" cy="818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sz="2074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Automatically ensures every element is unique. Duplicates are silently discarded.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072640" y="4162574"/>
            <a:ext cx="5380285" cy="2524274"/>
            <a:chOff x="0" y="0"/>
            <a:chExt cx="7173713" cy="336569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173723" cy="3365627"/>
            </a:xfrm>
            <a:custGeom>
              <a:avLst/>
              <a:gdLst/>
              <a:ahLst/>
              <a:cxnLst/>
              <a:rect l="l" t="t" r="r" b="b"/>
              <a:pathLst>
                <a:path w="7173723" h="336562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90842" y="0"/>
                  </a:lnTo>
                  <a:cubicBezTo>
                    <a:pt x="7091807" y="0"/>
                    <a:pt x="7173723" y="81915"/>
                    <a:pt x="7173723" y="182880"/>
                  </a:cubicBezTo>
                  <a:lnTo>
                    <a:pt x="7173723" y="3182747"/>
                  </a:lnTo>
                  <a:cubicBezTo>
                    <a:pt x="7173723" y="3283712"/>
                    <a:pt x="7091807" y="3365627"/>
                    <a:pt x="6990842" y="3365627"/>
                  </a:cubicBezTo>
                  <a:lnTo>
                    <a:pt x="182880" y="3365627"/>
                  </a:lnTo>
                  <a:cubicBezTo>
                    <a:pt x="81915" y="3365627"/>
                    <a:pt x="0" y="3283712"/>
                    <a:pt x="0" y="3182747"/>
                  </a:cubicBez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2072640" y="4133999"/>
            <a:ext cx="5380285" cy="114300"/>
            <a:chOff x="0" y="0"/>
            <a:chExt cx="7173713" cy="152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173722" cy="152400"/>
            </a:xfrm>
            <a:custGeom>
              <a:avLst/>
              <a:gdLst/>
              <a:ahLst/>
              <a:cxnLst/>
              <a:rect l="l" t="t" r="r" b="b"/>
              <a:pathLst>
                <a:path w="7173722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7097522" y="0"/>
                  </a:lnTo>
                  <a:cubicBezTo>
                    <a:pt x="7139559" y="0"/>
                    <a:pt x="7173722" y="34163"/>
                    <a:pt x="7173722" y="76200"/>
                  </a:cubicBezTo>
                  <a:cubicBezTo>
                    <a:pt x="7173722" y="118237"/>
                    <a:pt x="7139559" y="152400"/>
                    <a:pt x="7097522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2339786" y="4740027"/>
            <a:ext cx="2982516" cy="37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12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Mutable (Set)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39786" y="5189190"/>
            <a:ext cx="4845992" cy="123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sz="2074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The set collection itself can be modified (elements added/removed), but the elements stored must be immutable.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5075" y="7025580"/>
            <a:ext cx="5618708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12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Internal Mechanism: Hashing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5075" y="7745016"/>
            <a:ext cx="16617851" cy="969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2474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Sets use a </a:t>
            </a:r>
            <a:r>
              <a:rPr lang="en-US" sz="2474" b="1">
                <a:solidFill>
                  <a:srgbClr val="00357A"/>
                </a:solidFill>
                <a:latin typeface="Roboto Bold"/>
                <a:ea typeface="Roboto Bold"/>
                <a:cs typeface="Roboto Bold"/>
                <a:sym typeface="Roboto Bold"/>
              </a:rPr>
              <a:t>hash table</a:t>
            </a:r>
            <a:r>
              <a:rPr lang="en-US" sz="2474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 internally to store elements. This structure allows for highly optimized, average O(1) time complexity for membership testing (in keyword).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35075" y="8900369"/>
            <a:ext cx="16617851" cy="739379"/>
            <a:chOff x="0" y="0"/>
            <a:chExt cx="22157135" cy="98583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157182" cy="985901"/>
            </a:xfrm>
            <a:custGeom>
              <a:avLst/>
              <a:gdLst/>
              <a:ahLst/>
              <a:cxnLst/>
              <a:rect l="l" t="t" r="r" b="b"/>
              <a:pathLst>
                <a:path w="22157182" h="985901">
                  <a:moveTo>
                    <a:pt x="0" y="133604"/>
                  </a:moveTo>
                  <a:cubicBezTo>
                    <a:pt x="0" y="59817"/>
                    <a:pt x="59817" y="0"/>
                    <a:pt x="133604" y="0"/>
                  </a:cubicBezTo>
                  <a:lnTo>
                    <a:pt x="22023578" y="0"/>
                  </a:lnTo>
                  <a:cubicBezTo>
                    <a:pt x="22097366" y="0"/>
                    <a:pt x="22157182" y="59817"/>
                    <a:pt x="22157182" y="133604"/>
                  </a:cubicBezTo>
                  <a:lnTo>
                    <a:pt x="22157182" y="852170"/>
                  </a:lnTo>
                  <a:cubicBezTo>
                    <a:pt x="22157182" y="925957"/>
                    <a:pt x="22097366" y="985774"/>
                    <a:pt x="22023578" y="985774"/>
                  </a:cubicBezTo>
                  <a:lnTo>
                    <a:pt x="133604" y="985774"/>
                  </a:lnTo>
                  <a:cubicBezTo>
                    <a:pt x="59817" y="985901"/>
                    <a:pt x="0" y="925957"/>
                    <a:pt x="0" y="852170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823169" y="8900369"/>
            <a:ext cx="16641664" cy="739379"/>
            <a:chOff x="0" y="0"/>
            <a:chExt cx="22188885" cy="98583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188932" cy="985901"/>
            </a:xfrm>
            <a:custGeom>
              <a:avLst/>
              <a:gdLst/>
              <a:ahLst/>
              <a:cxnLst/>
              <a:rect l="l" t="t" r="r" b="b"/>
              <a:pathLst>
                <a:path w="22188932" h="985901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lnTo>
                    <a:pt x="22141180" y="0"/>
                  </a:lnTo>
                  <a:cubicBezTo>
                    <a:pt x="22167596" y="0"/>
                    <a:pt x="22188932" y="21336"/>
                    <a:pt x="22188932" y="47752"/>
                  </a:cubicBezTo>
                  <a:lnTo>
                    <a:pt x="22188932" y="938149"/>
                  </a:lnTo>
                  <a:cubicBezTo>
                    <a:pt x="22188932" y="964565"/>
                    <a:pt x="22167596" y="985901"/>
                    <a:pt x="22141180" y="985901"/>
                  </a:cubicBezTo>
                  <a:lnTo>
                    <a:pt x="47752" y="985901"/>
                  </a:lnTo>
                  <a:cubicBezTo>
                    <a:pt x="21336" y="985901"/>
                    <a:pt x="0" y="964438"/>
                    <a:pt x="0" y="938149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1061740" y="8955435"/>
            <a:ext cx="16164520" cy="437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sz="2074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my_set = {1, "apple", 3.14}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1430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73299" y="509885"/>
            <a:ext cx="8712455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Set Use Cases and Duplicate Removal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3299" y="1676697"/>
            <a:ext cx="4988570" cy="412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49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Key Applications of Sets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3774" y="2114252"/>
            <a:ext cx="9977140" cy="854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1785" lvl="1" indent="-165892" algn="l">
              <a:lnSpc>
                <a:spcPts val="3483"/>
              </a:lnSpc>
              <a:buFont typeface="Arial"/>
              <a:buChar char="•"/>
            </a:pPr>
            <a:r>
              <a:rPr lang="en-US" sz="2199" b="1">
                <a:solidFill>
                  <a:srgbClr val="00357A"/>
                </a:solidFill>
                <a:latin typeface="Roboto Bold"/>
                <a:ea typeface="Roboto Bold"/>
                <a:cs typeface="Roboto Bold"/>
                <a:sym typeface="Roboto Bold"/>
              </a:rPr>
              <a:t>Deduplication</a:t>
            </a:r>
            <a:r>
              <a:rPr lang="en-US" sz="219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: Removing duplicate entries from other iterable data structures like lists.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3774" y="3343934"/>
            <a:ext cx="12588305" cy="440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6866" lvl="1" indent="-173433" algn="l">
              <a:lnSpc>
                <a:spcPts val="3641"/>
              </a:lnSpc>
              <a:buFont typeface="Arial"/>
              <a:buChar char="•"/>
            </a:pPr>
            <a:r>
              <a:rPr lang="en-US" sz="229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Fast </a:t>
            </a:r>
            <a:r>
              <a:rPr lang="en-US" sz="2299" b="1">
                <a:solidFill>
                  <a:srgbClr val="00357A"/>
                </a:solidFill>
                <a:latin typeface="Roboto Bold"/>
                <a:ea typeface="Roboto Bold"/>
                <a:cs typeface="Roboto Bold"/>
                <a:sym typeface="Roboto Bold"/>
              </a:rPr>
              <a:t>Membership Testing</a:t>
            </a:r>
            <a:r>
              <a:rPr lang="en-US" sz="229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: Quickly checking if an element exists within a large collection.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3299" y="4005869"/>
            <a:ext cx="13286116" cy="416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1785" lvl="1" indent="-165892" algn="l">
              <a:lnSpc>
                <a:spcPts val="3483"/>
              </a:lnSpc>
              <a:buFont typeface="Arial"/>
              <a:buChar char="•"/>
            </a:pPr>
            <a:r>
              <a:rPr lang="en-US" sz="219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Mathematical Set Operations: Performing union, intersection, and difference calculations.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3299" y="4763840"/>
            <a:ext cx="5593580" cy="38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49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Example: Removing Duplicates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44127" y="5308949"/>
            <a:ext cx="9996190" cy="1211759"/>
            <a:chOff x="0" y="0"/>
            <a:chExt cx="13328253" cy="161567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328269" cy="1615694"/>
            </a:xfrm>
            <a:custGeom>
              <a:avLst/>
              <a:gdLst/>
              <a:ahLst/>
              <a:cxnLst/>
              <a:rect l="l" t="t" r="r" b="b"/>
              <a:pathLst>
                <a:path w="13328269" h="1615694">
                  <a:moveTo>
                    <a:pt x="0" y="38481"/>
                  </a:moveTo>
                  <a:cubicBezTo>
                    <a:pt x="0" y="17272"/>
                    <a:pt x="17272" y="0"/>
                    <a:pt x="38481" y="0"/>
                  </a:cubicBezTo>
                  <a:lnTo>
                    <a:pt x="13289787" y="0"/>
                  </a:lnTo>
                  <a:cubicBezTo>
                    <a:pt x="13310997" y="0"/>
                    <a:pt x="13328269" y="17272"/>
                    <a:pt x="13328269" y="38481"/>
                  </a:cubicBezTo>
                  <a:lnTo>
                    <a:pt x="13328269" y="1577213"/>
                  </a:lnTo>
                  <a:cubicBezTo>
                    <a:pt x="13328269" y="1598422"/>
                    <a:pt x="13310997" y="1615694"/>
                    <a:pt x="13289787" y="1615694"/>
                  </a:cubicBezTo>
                  <a:lnTo>
                    <a:pt x="38481" y="1615694"/>
                  </a:lnTo>
                  <a:cubicBezTo>
                    <a:pt x="17272" y="1615694"/>
                    <a:pt x="0" y="1598422"/>
                    <a:pt x="0" y="1577213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836414" y="5338833"/>
            <a:ext cx="9611617" cy="783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sz="1899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nums = [1, 2, 2, 3, 3, 4, 1]unique_nums = set(nums)print(unique_nums) # Output: {1, 2, 3, 4}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90537" y="7257604"/>
            <a:ext cx="16941404" cy="33486"/>
            <a:chOff x="0" y="0"/>
            <a:chExt cx="22588538" cy="446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588601" cy="44704"/>
            </a:xfrm>
            <a:custGeom>
              <a:avLst/>
              <a:gdLst/>
              <a:ahLst/>
              <a:cxnLst/>
              <a:rect l="l" t="t" r="r" b="b"/>
              <a:pathLst>
                <a:path w="22588601" h="44704">
                  <a:moveTo>
                    <a:pt x="0" y="0"/>
                  </a:moveTo>
                  <a:lnTo>
                    <a:pt x="22588601" y="0"/>
                  </a:lnTo>
                  <a:lnTo>
                    <a:pt x="22588601" y="44704"/>
                  </a:lnTo>
                  <a:lnTo>
                    <a:pt x="0" y="44704"/>
                  </a:lnTo>
                  <a:close/>
                </a:path>
              </a:pathLst>
            </a:custGeom>
            <a:solidFill>
              <a:srgbClr val="3C3939">
                <a:alpha val="24706"/>
              </a:srgbClr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644127" y="6796933"/>
            <a:ext cx="2885629" cy="412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49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Basic Operations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92349" y="7453015"/>
            <a:ext cx="16941404" cy="1519535"/>
            <a:chOff x="0" y="0"/>
            <a:chExt cx="22588538" cy="202604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588474" cy="2026031"/>
            </a:xfrm>
            <a:custGeom>
              <a:avLst/>
              <a:gdLst/>
              <a:ahLst/>
              <a:cxnLst/>
              <a:rect l="l" t="t" r="r" b="b"/>
              <a:pathLst>
                <a:path w="22588474" h="2026031">
                  <a:moveTo>
                    <a:pt x="0" y="107696"/>
                  </a:moveTo>
                  <a:cubicBezTo>
                    <a:pt x="0" y="48260"/>
                    <a:pt x="48260" y="0"/>
                    <a:pt x="107696" y="0"/>
                  </a:cubicBezTo>
                  <a:lnTo>
                    <a:pt x="22480778" y="0"/>
                  </a:lnTo>
                  <a:cubicBezTo>
                    <a:pt x="22540215" y="0"/>
                    <a:pt x="22588474" y="48260"/>
                    <a:pt x="22588474" y="107696"/>
                  </a:cubicBezTo>
                  <a:lnTo>
                    <a:pt x="22588474" y="1918335"/>
                  </a:lnTo>
                  <a:cubicBezTo>
                    <a:pt x="22588474" y="1977771"/>
                    <a:pt x="22540215" y="2026031"/>
                    <a:pt x="22480778" y="2026031"/>
                  </a:cubicBezTo>
                  <a:lnTo>
                    <a:pt x="107696" y="2026031"/>
                  </a:lnTo>
                  <a:cubicBezTo>
                    <a:pt x="48260" y="2026031"/>
                    <a:pt x="0" y="1977771"/>
                    <a:pt x="0" y="1918335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673299" y="7453015"/>
            <a:ext cx="16960454" cy="1519535"/>
            <a:chOff x="0" y="0"/>
            <a:chExt cx="22613938" cy="202604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614001" cy="2026031"/>
            </a:xfrm>
            <a:custGeom>
              <a:avLst/>
              <a:gdLst/>
              <a:ahLst/>
              <a:cxnLst/>
              <a:rect l="l" t="t" r="r" b="b"/>
              <a:pathLst>
                <a:path w="22614001" h="2026031">
                  <a:moveTo>
                    <a:pt x="0" y="38481"/>
                  </a:moveTo>
                  <a:cubicBezTo>
                    <a:pt x="0" y="17272"/>
                    <a:pt x="17272" y="0"/>
                    <a:pt x="38481" y="0"/>
                  </a:cubicBezTo>
                  <a:lnTo>
                    <a:pt x="22575520" y="0"/>
                  </a:lnTo>
                  <a:cubicBezTo>
                    <a:pt x="22596729" y="0"/>
                    <a:pt x="22614001" y="17272"/>
                    <a:pt x="22614001" y="38481"/>
                  </a:cubicBezTo>
                  <a:lnTo>
                    <a:pt x="22614001" y="1987550"/>
                  </a:lnTo>
                  <a:cubicBezTo>
                    <a:pt x="22614001" y="2008759"/>
                    <a:pt x="22596729" y="2026031"/>
                    <a:pt x="22575520" y="2026031"/>
                  </a:cubicBezTo>
                  <a:lnTo>
                    <a:pt x="38481" y="2026031"/>
                  </a:lnTo>
                  <a:cubicBezTo>
                    <a:pt x="17272" y="2026031"/>
                    <a:pt x="0" y="2008759"/>
                    <a:pt x="0" y="1987550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865585" y="7523307"/>
            <a:ext cx="16575881" cy="859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4"/>
              </a:lnSpc>
            </a:pPr>
            <a:r>
              <a:rPr lang="en-US" sz="2099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s = {1, 2, 3}s.add(4) # Adds 4 to the sets.remove(2) # Removes 2 (raises error if not present)s.discard(5) # Removes 5 if present (no error)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3810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98314" y="600819"/>
            <a:ext cx="9596052" cy="569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62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Advanced Set Operations (Set Algebra)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8314" y="1560611"/>
            <a:ext cx="16691372" cy="422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14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Python sets provide built-in methods and operators for standard mathematical set operations, useful for data analysis and filtering.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98314" y="2277368"/>
            <a:ext cx="684311" cy="684311"/>
            <a:chOff x="0" y="0"/>
            <a:chExt cx="912415" cy="912415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2368" cy="912368"/>
            </a:xfrm>
            <a:custGeom>
              <a:avLst/>
              <a:gdLst/>
              <a:ahLst/>
              <a:cxnLst/>
              <a:rect l="l" t="t" r="r" b="b"/>
              <a:pathLst>
                <a:path w="912368" h="912368">
                  <a:moveTo>
                    <a:pt x="0" y="0"/>
                  </a:moveTo>
                  <a:lnTo>
                    <a:pt x="912368" y="0"/>
                  </a:lnTo>
                  <a:lnTo>
                    <a:pt x="912368" y="912368"/>
                  </a:lnTo>
                  <a:lnTo>
                    <a:pt x="0" y="912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5" b="-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98314" y="3218260"/>
            <a:ext cx="2851548" cy="392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387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Union (|)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8314" y="3673376"/>
            <a:ext cx="5373589" cy="78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04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Returns a new set with all elements from both sets. A | B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457058" y="2277368"/>
            <a:ext cx="684311" cy="684311"/>
            <a:chOff x="0" y="0"/>
            <a:chExt cx="912415" cy="912415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912368" cy="912368"/>
            </a:xfrm>
            <a:custGeom>
              <a:avLst/>
              <a:gdLst/>
              <a:ahLst/>
              <a:cxnLst/>
              <a:rect l="l" t="t" r="r" b="b"/>
              <a:pathLst>
                <a:path w="912368" h="912368">
                  <a:moveTo>
                    <a:pt x="0" y="0"/>
                  </a:moveTo>
                  <a:lnTo>
                    <a:pt x="912368" y="0"/>
                  </a:lnTo>
                  <a:lnTo>
                    <a:pt x="912368" y="912368"/>
                  </a:lnTo>
                  <a:lnTo>
                    <a:pt x="0" y="912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5" b="-5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6457058" y="3218260"/>
            <a:ext cx="2851548" cy="392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387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Intersection (&amp;)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57058" y="3673376"/>
            <a:ext cx="5373738" cy="78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04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Returns a new set containing only elements common to both sets. A &amp; B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115949" y="2277368"/>
            <a:ext cx="684311" cy="684311"/>
            <a:chOff x="0" y="0"/>
            <a:chExt cx="912415" cy="912415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912368" cy="912368"/>
            </a:xfrm>
            <a:custGeom>
              <a:avLst/>
              <a:gdLst/>
              <a:ahLst/>
              <a:cxnLst/>
              <a:rect l="l" t="t" r="r" b="b"/>
              <a:pathLst>
                <a:path w="912368" h="912368">
                  <a:moveTo>
                    <a:pt x="0" y="0"/>
                  </a:moveTo>
                  <a:lnTo>
                    <a:pt x="912368" y="0"/>
                  </a:lnTo>
                  <a:lnTo>
                    <a:pt x="912368" y="912368"/>
                  </a:lnTo>
                  <a:lnTo>
                    <a:pt x="0" y="912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" b="-5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2115949" y="3218260"/>
            <a:ext cx="2851548" cy="392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387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Difference (-)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15949" y="3673376"/>
            <a:ext cx="5373738" cy="78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04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Returns a new set with elements from the first set that are not in the second set. A - B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8314" y="5701215"/>
            <a:ext cx="3421856" cy="427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 b="1" dirty="0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Relational Checks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6319" y="6494115"/>
            <a:ext cx="2851548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isdisjoint()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6319" y="6930181"/>
            <a:ext cx="4955679" cy="78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04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Checks if two sets have no elements in common.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6011" y="6494115"/>
            <a:ext cx="2851548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issubset()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6011" y="6930181"/>
            <a:ext cx="4955827" cy="78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04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Checks if all elements of one set are in another.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05854" y="6494115"/>
            <a:ext cx="2851548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issuperset()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05854" y="6930181"/>
            <a:ext cx="4955827" cy="78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04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Checks if one set contains all elements of another.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98314" y="8220819"/>
            <a:ext cx="16691372" cy="1436786"/>
            <a:chOff x="0" y="0"/>
            <a:chExt cx="22255163" cy="191571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255226" cy="1915668"/>
            </a:xfrm>
            <a:custGeom>
              <a:avLst/>
              <a:gdLst/>
              <a:ahLst/>
              <a:cxnLst/>
              <a:rect l="l" t="t" r="r" b="b"/>
              <a:pathLst>
                <a:path w="22255226" h="1915668">
                  <a:moveTo>
                    <a:pt x="0" y="127762"/>
                  </a:moveTo>
                  <a:cubicBezTo>
                    <a:pt x="0" y="57150"/>
                    <a:pt x="57150" y="0"/>
                    <a:pt x="127762" y="0"/>
                  </a:cubicBezTo>
                  <a:lnTo>
                    <a:pt x="22127463" y="0"/>
                  </a:lnTo>
                  <a:cubicBezTo>
                    <a:pt x="22198076" y="0"/>
                    <a:pt x="22255226" y="57150"/>
                    <a:pt x="22255226" y="127762"/>
                  </a:cubicBezTo>
                  <a:lnTo>
                    <a:pt x="22255226" y="1787906"/>
                  </a:lnTo>
                  <a:cubicBezTo>
                    <a:pt x="22255226" y="1858518"/>
                    <a:pt x="22198076" y="1915668"/>
                    <a:pt x="22127463" y="1915668"/>
                  </a:cubicBezTo>
                  <a:lnTo>
                    <a:pt x="127762" y="1915668"/>
                  </a:lnTo>
                  <a:cubicBezTo>
                    <a:pt x="57150" y="1915668"/>
                    <a:pt x="0" y="1858518"/>
                    <a:pt x="0" y="1787906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787004" y="8220819"/>
            <a:ext cx="16713994" cy="1436786"/>
            <a:chOff x="0" y="0"/>
            <a:chExt cx="22285325" cy="191571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2285325" cy="1915668"/>
            </a:xfrm>
            <a:custGeom>
              <a:avLst/>
              <a:gdLst/>
              <a:ahLst/>
              <a:cxnLst/>
              <a:rect l="l" t="t" r="r" b="b"/>
              <a:pathLst>
                <a:path w="22285325" h="1915668">
                  <a:moveTo>
                    <a:pt x="0" y="45593"/>
                  </a:moveTo>
                  <a:cubicBezTo>
                    <a:pt x="0" y="20447"/>
                    <a:pt x="20447" y="0"/>
                    <a:pt x="45593" y="0"/>
                  </a:cubicBezTo>
                  <a:lnTo>
                    <a:pt x="22239732" y="0"/>
                  </a:lnTo>
                  <a:cubicBezTo>
                    <a:pt x="22264878" y="0"/>
                    <a:pt x="22285325" y="20447"/>
                    <a:pt x="22285325" y="45593"/>
                  </a:cubicBezTo>
                  <a:lnTo>
                    <a:pt x="22285325" y="1870075"/>
                  </a:lnTo>
                  <a:cubicBezTo>
                    <a:pt x="22285325" y="1895221"/>
                    <a:pt x="22264878" y="1915668"/>
                    <a:pt x="22239732" y="1915668"/>
                  </a:cubicBezTo>
                  <a:lnTo>
                    <a:pt x="45593" y="1915668"/>
                  </a:lnTo>
                  <a:cubicBezTo>
                    <a:pt x="20447" y="1915668"/>
                    <a:pt x="0" y="1895221"/>
                    <a:pt x="0" y="1870075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015008" y="8277522"/>
            <a:ext cx="16257984" cy="40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3"/>
              </a:lnSpc>
            </a:pPr>
            <a:r>
              <a:rPr lang="en-US" sz="1950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A = {1, 2, 3}; B = {3, 4, 5}print(A | B) # {1, 2, 3, 4, 5}print(A &amp; B) # {3}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804731"/>
            <a:chOff x="0" y="0"/>
            <a:chExt cx="24384000" cy="144063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4406308"/>
            </a:xfrm>
            <a:custGeom>
              <a:avLst/>
              <a:gdLst/>
              <a:ahLst/>
              <a:cxnLst/>
              <a:rect l="l" t="t" r="r" b="b"/>
              <a:pathLst>
                <a:path w="24384000" h="14406308">
                  <a:moveTo>
                    <a:pt x="0" y="0"/>
                  </a:moveTo>
                  <a:lnTo>
                    <a:pt x="24384000" y="0"/>
                  </a:lnTo>
                  <a:lnTo>
                    <a:pt x="24384000" y="14406308"/>
                  </a:lnTo>
                  <a:lnTo>
                    <a:pt x="0" y="14406308"/>
                  </a:ln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34604" y="611535"/>
            <a:ext cx="10144154" cy="719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8"/>
              </a:lnSpc>
            </a:pPr>
            <a:r>
              <a:rPr lang="en-US" sz="4575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Dictionaries: Key-Value Mapping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3654" y="1711076"/>
            <a:ext cx="5513934" cy="370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2325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Definition and Core Concepts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3654" y="2357880"/>
            <a:ext cx="15809638" cy="104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74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sz="2574" b="1">
                <a:solidFill>
                  <a:srgbClr val="00357A"/>
                </a:solidFill>
                <a:latin typeface="Roboto Bold"/>
                <a:ea typeface="Roboto Bold"/>
                <a:cs typeface="Roboto Bold"/>
                <a:sym typeface="Roboto Bold"/>
              </a:rPr>
              <a:t>dictionary</a:t>
            </a:r>
            <a:r>
              <a:rPr lang="en-US" sz="2574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 is an unordered (since Python 3.7, insertion-ordered) collection of key-value pairs. They map unique, hashable keys to arbitrary values.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5079" y="3549699"/>
            <a:ext cx="13040903" cy="422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8015" lvl="1" indent="-164007" algn="l">
              <a:lnSpc>
                <a:spcPts val="3559"/>
              </a:lnSpc>
              <a:buFont typeface="Arial"/>
              <a:buChar char="•"/>
            </a:pPr>
            <a:r>
              <a:rPr lang="en-US" sz="2174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Conceptualized as a real-world dictionary: you look up a definition (value) using a word (key).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061" y="4276890"/>
            <a:ext cx="11780341" cy="422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8015" lvl="1" indent="-164007" algn="l">
              <a:lnSpc>
                <a:spcPts val="3559"/>
              </a:lnSpc>
              <a:buFont typeface="Arial"/>
              <a:buChar char="•"/>
            </a:pPr>
            <a:r>
              <a:rPr lang="en-US" sz="2174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Internally uses a </a:t>
            </a:r>
            <a:r>
              <a:rPr lang="en-US" sz="2174" b="1">
                <a:solidFill>
                  <a:srgbClr val="00357A"/>
                </a:solidFill>
                <a:latin typeface="Roboto Bold"/>
                <a:ea typeface="Roboto Bold"/>
                <a:cs typeface="Roboto Bold"/>
                <a:sym typeface="Roboto Bold"/>
              </a:rPr>
              <a:t>hash map</a:t>
            </a:r>
            <a:r>
              <a:rPr lang="en-US" sz="2174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 for extremely fast lookups.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061" y="4930227"/>
            <a:ext cx="11780341" cy="422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8015" lvl="1" indent="-164007" algn="l">
              <a:lnSpc>
                <a:spcPts val="3559"/>
              </a:lnSpc>
              <a:buFont typeface="Arial"/>
              <a:buChar char="•"/>
            </a:pPr>
            <a:r>
              <a:rPr lang="en-US" sz="2174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Keys must be unique and immutable (e.g., strings, numbers, tuples).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78061" y="5707856"/>
            <a:ext cx="5571084" cy="1645295"/>
            <a:chOff x="0" y="0"/>
            <a:chExt cx="7428112" cy="2193727"/>
          </a:xfrm>
        </p:grpSpPr>
        <p:sp>
          <p:nvSpPr>
            <p:cNvPr id="13" name="Freeform 13"/>
            <p:cNvSpPr/>
            <p:nvPr/>
          </p:nvSpPr>
          <p:spPr>
            <a:xfrm>
              <a:off x="12700" y="12700"/>
              <a:ext cx="7402703" cy="2168398"/>
            </a:xfrm>
            <a:custGeom>
              <a:avLst/>
              <a:gdLst/>
              <a:ahLst/>
              <a:cxnLst/>
              <a:rect l="l" t="t" r="r" b="b"/>
              <a:pathLst>
                <a:path w="7402703" h="2168398">
                  <a:moveTo>
                    <a:pt x="0" y="101600"/>
                  </a:moveTo>
                  <a:cubicBezTo>
                    <a:pt x="0" y="45466"/>
                    <a:pt x="45847" y="0"/>
                    <a:pt x="102362" y="0"/>
                  </a:cubicBezTo>
                  <a:lnTo>
                    <a:pt x="7300341" y="0"/>
                  </a:lnTo>
                  <a:cubicBezTo>
                    <a:pt x="7356856" y="0"/>
                    <a:pt x="7402703" y="45466"/>
                    <a:pt x="7402703" y="101600"/>
                  </a:cubicBezTo>
                  <a:lnTo>
                    <a:pt x="7402703" y="2066798"/>
                  </a:lnTo>
                  <a:cubicBezTo>
                    <a:pt x="7402703" y="2122932"/>
                    <a:pt x="7356856" y="2168398"/>
                    <a:pt x="7300341" y="2168398"/>
                  </a:cubicBezTo>
                  <a:lnTo>
                    <a:pt x="102362" y="2168398"/>
                  </a:lnTo>
                  <a:cubicBezTo>
                    <a:pt x="45847" y="2168398"/>
                    <a:pt x="0" y="2122932"/>
                    <a:pt x="0" y="2066798"/>
                  </a:cubicBez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7428103" cy="2193798"/>
            </a:xfrm>
            <a:custGeom>
              <a:avLst/>
              <a:gdLst/>
              <a:ahLst/>
              <a:cxnLst/>
              <a:rect l="l" t="t" r="r" b="b"/>
              <a:pathLst>
                <a:path w="7428103" h="2193798">
                  <a:moveTo>
                    <a:pt x="0" y="114300"/>
                  </a:moveTo>
                  <a:cubicBezTo>
                    <a:pt x="0" y="51054"/>
                    <a:pt x="51562" y="0"/>
                    <a:pt x="115062" y="0"/>
                  </a:cubicBezTo>
                  <a:lnTo>
                    <a:pt x="7313041" y="0"/>
                  </a:lnTo>
                  <a:lnTo>
                    <a:pt x="7313041" y="12700"/>
                  </a:lnTo>
                  <a:lnTo>
                    <a:pt x="7313041" y="0"/>
                  </a:lnTo>
                  <a:cubicBezTo>
                    <a:pt x="7376541" y="0"/>
                    <a:pt x="7428103" y="51054"/>
                    <a:pt x="7428103" y="114300"/>
                  </a:cubicBezTo>
                  <a:lnTo>
                    <a:pt x="7415403" y="114300"/>
                  </a:lnTo>
                  <a:lnTo>
                    <a:pt x="7428103" y="114300"/>
                  </a:lnTo>
                  <a:lnTo>
                    <a:pt x="7428103" y="2079498"/>
                  </a:lnTo>
                  <a:lnTo>
                    <a:pt x="7415403" y="2079498"/>
                  </a:lnTo>
                  <a:lnTo>
                    <a:pt x="7428103" y="2079498"/>
                  </a:lnTo>
                  <a:cubicBezTo>
                    <a:pt x="7428103" y="2142744"/>
                    <a:pt x="7376541" y="2193798"/>
                    <a:pt x="7313041" y="2193798"/>
                  </a:cubicBezTo>
                  <a:lnTo>
                    <a:pt x="7313041" y="2181098"/>
                  </a:lnTo>
                  <a:lnTo>
                    <a:pt x="7313041" y="2193798"/>
                  </a:lnTo>
                  <a:lnTo>
                    <a:pt x="115062" y="2193798"/>
                  </a:lnTo>
                  <a:lnTo>
                    <a:pt x="115062" y="2181098"/>
                  </a:lnTo>
                  <a:lnTo>
                    <a:pt x="115062" y="2193798"/>
                  </a:lnTo>
                  <a:cubicBezTo>
                    <a:pt x="51562" y="2193798"/>
                    <a:pt x="0" y="2142744"/>
                    <a:pt x="0" y="2079498"/>
                  </a:cubicBezTo>
                  <a:lnTo>
                    <a:pt x="0" y="114300"/>
                  </a:lnTo>
                  <a:lnTo>
                    <a:pt x="12700" y="114300"/>
                  </a:lnTo>
                  <a:lnTo>
                    <a:pt x="0" y="114300"/>
                  </a:lnTo>
                  <a:moveTo>
                    <a:pt x="25400" y="114300"/>
                  </a:moveTo>
                  <a:lnTo>
                    <a:pt x="25400" y="2079498"/>
                  </a:lnTo>
                  <a:lnTo>
                    <a:pt x="12700" y="2079498"/>
                  </a:lnTo>
                  <a:lnTo>
                    <a:pt x="25400" y="2079498"/>
                  </a:lnTo>
                  <a:cubicBezTo>
                    <a:pt x="25400" y="2128520"/>
                    <a:pt x="65405" y="2168398"/>
                    <a:pt x="115062" y="2168398"/>
                  </a:cubicBezTo>
                  <a:lnTo>
                    <a:pt x="7313041" y="2168398"/>
                  </a:lnTo>
                  <a:cubicBezTo>
                    <a:pt x="7362698" y="2168398"/>
                    <a:pt x="7402703" y="2128520"/>
                    <a:pt x="7402703" y="2079498"/>
                  </a:cubicBezTo>
                  <a:lnTo>
                    <a:pt x="7402703" y="114300"/>
                  </a:lnTo>
                  <a:cubicBezTo>
                    <a:pt x="7402703" y="65278"/>
                    <a:pt x="7362698" y="25400"/>
                    <a:pt x="7313041" y="25400"/>
                  </a:cubicBezTo>
                  <a:lnTo>
                    <a:pt x="115062" y="25400"/>
                  </a:lnTo>
                  <a:lnTo>
                    <a:pt x="115062" y="12700"/>
                  </a:lnTo>
                  <a:lnTo>
                    <a:pt x="115062" y="25400"/>
                  </a:lnTo>
                  <a:cubicBezTo>
                    <a:pt x="65405" y="25400"/>
                    <a:pt x="25400" y="65278"/>
                    <a:pt x="25400" y="1143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735211" y="5752668"/>
            <a:ext cx="5513934" cy="543817"/>
            <a:chOff x="0" y="0"/>
            <a:chExt cx="7351912" cy="7250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52030" cy="725170"/>
            </a:xfrm>
            <a:custGeom>
              <a:avLst/>
              <a:gdLst/>
              <a:ahLst/>
              <a:cxnLst/>
              <a:rect l="l" t="t" r="r" b="b"/>
              <a:pathLst>
                <a:path w="7352030" h="725170">
                  <a:moveTo>
                    <a:pt x="0" y="71120"/>
                  </a:moveTo>
                  <a:cubicBezTo>
                    <a:pt x="0" y="31877"/>
                    <a:pt x="31877" y="0"/>
                    <a:pt x="71120" y="0"/>
                  </a:cubicBezTo>
                  <a:lnTo>
                    <a:pt x="7280910" y="0"/>
                  </a:lnTo>
                  <a:cubicBezTo>
                    <a:pt x="7320153" y="0"/>
                    <a:pt x="7352030" y="31877"/>
                    <a:pt x="7352030" y="71120"/>
                  </a:cubicBezTo>
                  <a:lnTo>
                    <a:pt x="7352030" y="654050"/>
                  </a:lnTo>
                  <a:cubicBezTo>
                    <a:pt x="7352030" y="693293"/>
                    <a:pt x="7320153" y="725170"/>
                    <a:pt x="7280910" y="725170"/>
                  </a:cubicBezTo>
                  <a:lnTo>
                    <a:pt x="71120" y="725170"/>
                  </a:lnTo>
                  <a:cubicBezTo>
                    <a:pt x="31877" y="725170"/>
                    <a:pt x="0" y="693293"/>
                    <a:pt x="0" y="654050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861269" y="5873442"/>
            <a:ext cx="2266355" cy="329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49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Keys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8595" y="6452451"/>
            <a:ext cx="5151388" cy="422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174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Unique, immutable identifiers.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386959" y="5707856"/>
            <a:ext cx="5571084" cy="1645295"/>
            <a:chOff x="0" y="0"/>
            <a:chExt cx="7428112" cy="2193727"/>
          </a:xfrm>
        </p:grpSpPr>
        <p:sp>
          <p:nvSpPr>
            <p:cNvPr id="20" name="Freeform 20"/>
            <p:cNvSpPr/>
            <p:nvPr/>
          </p:nvSpPr>
          <p:spPr>
            <a:xfrm>
              <a:off x="12700" y="12700"/>
              <a:ext cx="7402703" cy="2168398"/>
            </a:xfrm>
            <a:custGeom>
              <a:avLst/>
              <a:gdLst/>
              <a:ahLst/>
              <a:cxnLst/>
              <a:rect l="l" t="t" r="r" b="b"/>
              <a:pathLst>
                <a:path w="7402703" h="2168398">
                  <a:moveTo>
                    <a:pt x="0" y="101600"/>
                  </a:moveTo>
                  <a:cubicBezTo>
                    <a:pt x="0" y="45466"/>
                    <a:pt x="45847" y="0"/>
                    <a:pt x="102362" y="0"/>
                  </a:cubicBezTo>
                  <a:lnTo>
                    <a:pt x="7300341" y="0"/>
                  </a:lnTo>
                  <a:cubicBezTo>
                    <a:pt x="7356856" y="0"/>
                    <a:pt x="7402703" y="45466"/>
                    <a:pt x="7402703" y="101600"/>
                  </a:cubicBezTo>
                  <a:lnTo>
                    <a:pt x="7402703" y="2066798"/>
                  </a:lnTo>
                  <a:cubicBezTo>
                    <a:pt x="7402703" y="2122932"/>
                    <a:pt x="7356856" y="2168398"/>
                    <a:pt x="7300341" y="2168398"/>
                  </a:cubicBezTo>
                  <a:lnTo>
                    <a:pt x="102362" y="2168398"/>
                  </a:lnTo>
                  <a:cubicBezTo>
                    <a:pt x="45847" y="2168398"/>
                    <a:pt x="0" y="2122932"/>
                    <a:pt x="0" y="2066798"/>
                  </a:cubicBez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7428103" cy="2193798"/>
            </a:xfrm>
            <a:custGeom>
              <a:avLst/>
              <a:gdLst/>
              <a:ahLst/>
              <a:cxnLst/>
              <a:rect l="l" t="t" r="r" b="b"/>
              <a:pathLst>
                <a:path w="7428103" h="2193798">
                  <a:moveTo>
                    <a:pt x="0" y="114300"/>
                  </a:moveTo>
                  <a:cubicBezTo>
                    <a:pt x="0" y="51054"/>
                    <a:pt x="51562" y="0"/>
                    <a:pt x="115062" y="0"/>
                  </a:cubicBezTo>
                  <a:lnTo>
                    <a:pt x="7313041" y="0"/>
                  </a:lnTo>
                  <a:lnTo>
                    <a:pt x="7313041" y="12700"/>
                  </a:lnTo>
                  <a:lnTo>
                    <a:pt x="7313041" y="0"/>
                  </a:lnTo>
                  <a:cubicBezTo>
                    <a:pt x="7376541" y="0"/>
                    <a:pt x="7428103" y="51054"/>
                    <a:pt x="7428103" y="114300"/>
                  </a:cubicBezTo>
                  <a:lnTo>
                    <a:pt x="7415403" y="114300"/>
                  </a:lnTo>
                  <a:lnTo>
                    <a:pt x="7428103" y="114300"/>
                  </a:lnTo>
                  <a:lnTo>
                    <a:pt x="7428103" y="2079498"/>
                  </a:lnTo>
                  <a:lnTo>
                    <a:pt x="7415403" y="2079498"/>
                  </a:lnTo>
                  <a:lnTo>
                    <a:pt x="7428103" y="2079498"/>
                  </a:lnTo>
                  <a:cubicBezTo>
                    <a:pt x="7428103" y="2142744"/>
                    <a:pt x="7376541" y="2193798"/>
                    <a:pt x="7313041" y="2193798"/>
                  </a:cubicBezTo>
                  <a:lnTo>
                    <a:pt x="7313041" y="2181098"/>
                  </a:lnTo>
                  <a:lnTo>
                    <a:pt x="7313041" y="2193798"/>
                  </a:lnTo>
                  <a:lnTo>
                    <a:pt x="115062" y="2193798"/>
                  </a:lnTo>
                  <a:lnTo>
                    <a:pt x="115062" y="2181098"/>
                  </a:lnTo>
                  <a:lnTo>
                    <a:pt x="115062" y="2193798"/>
                  </a:lnTo>
                  <a:cubicBezTo>
                    <a:pt x="51562" y="2193798"/>
                    <a:pt x="0" y="2142744"/>
                    <a:pt x="0" y="2079498"/>
                  </a:cubicBezTo>
                  <a:lnTo>
                    <a:pt x="0" y="114300"/>
                  </a:lnTo>
                  <a:lnTo>
                    <a:pt x="12700" y="114300"/>
                  </a:lnTo>
                  <a:lnTo>
                    <a:pt x="0" y="114300"/>
                  </a:lnTo>
                  <a:moveTo>
                    <a:pt x="25400" y="114300"/>
                  </a:moveTo>
                  <a:lnTo>
                    <a:pt x="25400" y="2079498"/>
                  </a:lnTo>
                  <a:lnTo>
                    <a:pt x="12700" y="2079498"/>
                  </a:lnTo>
                  <a:lnTo>
                    <a:pt x="25400" y="2079498"/>
                  </a:lnTo>
                  <a:cubicBezTo>
                    <a:pt x="25400" y="2128520"/>
                    <a:pt x="65405" y="2168398"/>
                    <a:pt x="115062" y="2168398"/>
                  </a:cubicBezTo>
                  <a:lnTo>
                    <a:pt x="7313041" y="2168398"/>
                  </a:lnTo>
                  <a:cubicBezTo>
                    <a:pt x="7362698" y="2168398"/>
                    <a:pt x="7402703" y="2128520"/>
                    <a:pt x="7402703" y="2079498"/>
                  </a:cubicBezTo>
                  <a:lnTo>
                    <a:pt x="7402703" y="114300"/>
                  </a:lnTo>
                  <a:cubicBezTo>
                    <a:pt x="7402703" y="65278"/>
                    <a:pt x="7362698" y="25400"/>
                    <a:pt x="7313041" y="25400"/>
                  </a:cubicBezTo>
                  <a:lnTo>
                    <a:pt x="115062" y="25400"/>
                  </a:lnTo>
                  <a:lnTo>
                    <a:pt x="115062" y="12700"/>
                  </a:lnTo>
                  <a:lnTo>
                    <a:pt x="115062" y="25400"/>
                  </a:lnTo>
                  <a:cubicBezTo>
                    <a:pt x="65405" y="25400"/>
                    <a:pt x="25400" y="65278"/>
                    <a:pt x="25400" y="1143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6386958" y="5770919"/>
            <a:ext cx="5513934" cy="543817"/>
            <a:chOff x="0" y="0"/>
            <a:chExt cx="7351912" cy="7250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352030" cy="725170"/>
            </a:xfrm>
            <a:custGeom>
              <a:avLst/>
              <a:gdLst/>
              <a:ahLst/>
              <a:cxnLst/>
              <a:rect l="l" t="t" r="r" b="b"/>
              <a:pathLst>
                <a:path w="7352030" h="725170">
                  <a:moveTo>
                    <a:pt x="0" y="71120"/>
                  </a:moveTo>
                  <a:cubicBezTo>
                    <a:pt x="0" y="31877"/>
                    <a:pt x="31877" y="0"/>
                    <a:pt x="71120" y="0"/>
                  </a:cubicBezTo>
                  <a:lnTo>
                    <a:pt x="7280910" y="0"/>
                  </a:lnTo>
                  <a:cubicBezTo>
                    <a:pt x="7320153" y="0"/>
                    <a:pt x="7352030" y="31877"/>
                    <a:pt x="7352030" y="71120"/>
                  </a:cubicBezTo>
                  <a:lnTo>
                    <a:pt x="7352030" y="654050"/>
                  </a:lnTo>
                  <a:cubicBezTo>
                    <a:pt x="7352030" y="693293"/>
                    <a:pt x="7320153" y="725170"/>
                    <a:pt x="7280910" y="725170"/>
                  </a:cubicBezTo>
                  <a:lnTo>
                    <a:pt x="71120" y="725170"/>
                  </a:lnTo>
                  <a:cubicBezTo>
                    <a:pt x="31877" y="725170"/>
                    <a:pt x="0" y="693293"/>
                    <a:pt x="0" y="654050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6568231" y="5909944"/>
            <a:ext cx="2266355" cy="329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49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Values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68231" y="6484675"/>
            <a:ext cx="5151387" cy="827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074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Can be any data type, mutable or immutable.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091690" y="5725054"/>
            <a:ext cx="5571232" cy="1645295"/>
            <a:chOff x="0" y="0"/>
            <a:chExt cx="7428310" cy="2193727"/>
          </a:xfrm>
        </p:grpSpPr>
        <p:sp>
          <p:nvSpPr>
            <p:cNvPr id="27" name="Freeform 27"/>
            <p:cNvSpPr/>
            <p:nvPr/>
          </p:nvSpPr>
          <p:spPr>
            <a:xfrm>
              <a:off x="12700" y="12700"/>
              <a:ext cx="7402830" cy="2168398"/>
            </a:xfrm>
            <a:custGeom>
              <a:avLst/>
              <a:gdLst/>
              <a:ahLst/>
              <a:cxnLst/>
              <a:rect l="l" t="t" r="r" b="b"/>
              <a:pathLst>
                <a:path w="7402830" h="2168398">
                  <a:moveTo>
                    <a:pt x="0" y="101600"/>
                  </a:moveTo>
                  <a:cubicBezTo>
                    <a:pt x="0" y="45466"/>
                    <a:pt x="45847" y="0"/>
                    <a:pt x="102362" y="0"/>
                  </a:cubicBezTo>
                  <a:lnTo>
                    <a:pt x="7300468" y="0"/>
                  </a:lnTo>
                  <a:cubicBezTo>
                    <a:pt x="7356983" y="0"/>
                    <a:pt x="7402830" y="45466"/>
                    <a:pt x="7402830" y="101600"/>
                  </a:cubicBezTo>
                  <a:lnTo>
                    <a:pt x="7402830" y="2066798"/>
                  </a:lnTo>
                  <a:cubicBezTo>
                    <a:pt x="7402830" y="2122932"/>
                    <a:pt x="7356983" y="2168398"/>
                    <a:pt x="7300468" y="2168398"/>
                  </a:cubicBezTo>
                  <a:lnTo>
                    <a:pt x="102362" y="2168398"/>
                  </a:lnTo>
                  <a:cubicBezTo>
                    <a:pt x="45847" y="2168398"/>
                    <a:pt x="0" y="2122932"/>
                    <a:pt x="0" y="2066798"/>
                  </a:cubicBez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7428230" cy="2193798"/>
            </a:xfrm>
            <a:custGeom>
              <a:avLst/>
              <a:gdLst/>
              <a:ahLst/>
              <a:cxnLst/>
              <a:rect l="l" t="t" r="r" b="b"/>
              <a:pathLst>
                <a:path w="7428230" h="2193798">
                  <a:moveTo>
                    <a:pt x="0" y="114300"/>
                  </a:moveTo>
                  <a:cubicBezTo>
                    <a:pt x="0" y="51054"/>
                    <a:pt x="51562" y="0"/>
                    <a:pt x="115062" y="0"/>
                  </a:cubicBezTo>
                  <a:lnTo>
                    <a:pt x="7313168" y="0"/>
                  </a:lnTo>
                  <a:lnTo>
                    <a:pt x="7313168" y="12700"/>
                  </a:lnTo>
                  <a:lnTo>
                    <a:pt x="7313168" y="0"/>
                  </a:lnTo>
                  <a:cubicBezTo>
                    <a:pt x="7376668" y="0"/>
                    <a:pt x="7428230" y="51054"/>
                    <a:pt x="7428230" y="114300"/>
                  </a:cubicBezTo>
                  <a:lnTo>
                    <a:pt x="7415530" y="114300"/>
                  </a:lnTo>
                  <a:lnTo>
                    <a:pt x="7428230" y="114300"/>
                  </a:lnTo>
                  <a:lnTo>
                    <a:pt x="7428230" y="2079498"/>
                  </a:lnTo>
                  <a:lnTo>
                    <a:pt x="7415530" y="2079498"/>
                  </a:lnTo>
                  <a:lnTo>
                    <a:pt x="7428230" y="2079498"/>
                  </a:lnTo>
                  <a:cubicBezTo>
                    <a:pt x="7428230" y="2142744"/>
                    <a:pt x="7376668" y="2193798"/>
                    <a:pt x="7313168" y="2193798"/>
                  </a:cubicBezTo>
                  <a:lnTo>
                    <a:pt x="7313168" y="2181098"/>
                  </a:lnTo>
                  <a:lnTo>
                    <a:pt x="7313168" y="2193798"/>
                  </a:lnTo>
                  <a:lnTo>
                    <a:pt x="115062" y="2193798"/>
                  </a:lnTo>
                  <a:lnTo>
                    <a:pt x="115062" y="2181098"/>
                  </a:lnTo>
                  <a:lnTo>
                    <a:pt x="115062" y="2193798"/>
                  </a:lnTo>
                  <a:cubicBezTo>
                    <a:pt x="51562" y="2193798"/>
                    <a:pt x="0" y="2142744"/>
                    <a:pt x="0" y="2079498"/>
                  </a:cubicBezTo>
                  <a:lnTo>
                    <a:pt x="0" y="114300"/>
                  </a:lnTo>
                  <a:lnTo>
                    <a:pt x="12700" y="114300"/>
                  </a:lnTo>
                  <a:lnTo>
                    <a:pt x="0" y="114300"/>
                  </a:lnTo>
                  <a:moveTo>
                    <a:pt x="25400" y="114300"/>
                  </a:moveTo>
                  <a:lnTo>
                    <a:pt x="25400" y="2079498"/>
                  </a:lnTo>
                  <a:lnTo>
                    <a:pt x="12700" y="2079498"/>
                  </a:lnTo>
                  <a:lnTo>
                    <a:pt x="25400" y="2079498"/>
                  </a:lnTo>
                  <a:cubicBezTo>
                    <a:pt x="25400" y="2128520"/>
                    <a:pt x="65405" y="2168398"/>
                    <a:pt x="115062" y="2168398"/>
                  </a:cubicBezTo>
                  <a:lnTo>
                    <a:pt x="7313168" y="2168398"/>
                  </a:lnTo>
                  <a:cubicBezTo>
                    <a:pt x="7362825" y="2168398"/>
                    <a:pt x="7402830" y="2128520"/>
                    <a:pt x="7402830" y="2079498"/>
                  </a:cubicBezTo>
                  <a:lnTo>
                    <a:pt x="7402830" y="114300"/>
                  </a:lnTo>
                  <a:cubicBezTo>
                    <a:pt x="7402830" y="65278"/>
                    <a:pt x="7362825" y="25400"/>
                    <a:pt x="7313168" y="25400"/>
                  </a:cubicBezTo>
                  <a:lnTo>
                    <a:pt x="115062" y="25400"/>
                  </a:lnTo>
                  <a:lnTo>
                    <a:pt x="115062" y="12700"/>
                  </a:lnTo>
                  <a:lnTo>
                    <a:pt x="115062" y="25400"/>
                  </a:lnTo>
                  <a:cubicBezTo>
                    <a:pt x="65405" y="25400"/>
                    <a:pt x="25400" y="65278"/>
                    <a:pt x="25400" y="1143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2091690" y="5807422"/>
            <a:ext cx="5514082" cy="543817"/>
            <a:chOff x="0" y="0"/>
            <a:chExt cx="7352110" cy="72509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352157" cy="725170"/>
            </a:xfrm>
            <a:custGeom>
              <a:avLst/>
              <a:gdLst/>
              <a:ahLst/>
              <a:cxnLst/>
              <a:rect l="l" t="t" r="r" b="b"/>
              <a:pathLst>
                <a:path w="7352157" h="725170">
                  <a:moveTo>
                    <a:pt x="0" y="71120"/>
                  </a:moveTo>
                  <a:cubicBezTo>
                    <a:pt x="0" y="31877"/>
                    <a:pt x="31877" y="0"/>
                    <a:pt x="71120" y="0"/>
                  </a:cubicBezTo>
                  <a:lnTo>
                    <a:pt x="7281037" y="0"/>
                  </a:lnTo>
                  <a:cubicBezTo>
                    <a:pt x="7320280" y="0"/>
                    <a:pt x="7352157" y="31877"/>
                    <a:pt x="7352157" y="71120"/>
                  </a:cubicBezTo>
                  <a:lnTo>
                    <a:pt x="7352157" y="654050"/>
                  </a:lnTo>
                  <a:cubicBezTo>
                    <a:pt x="7352157" y="693293"/>
                    <a:pt x="7320280" y="725170"/>
                    <a:pt x="7281037" y="725170"/>
                  </a:cubicBezTo>
                  <a:lnTo>
                    <a:pt x="71120" y="725170"/>
                  </a:lnTo>
                  <a:cubicBezTo>
                    <a:pt x="31877" y="725170"/>
                    <a:pt x="0" y="693293"/>
                    <a:pt x="0" y="654050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2301537" y="5928196"/>
            <a:ext cx="2266355" cy="329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49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Mutable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329517" y="6435254"/>
            <a:ext cx="5151536" cy="870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174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Dictionaries are dynamic; they can be changed after creation.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3654" y="8115226"/>
            <a:ext cx="2719685" cy="407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24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Syntax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86979" y="8784216"/>
            <a:ext cx="17018794" cy="1017754"/>
            <a:chOff x="0" y="0"/>
            <a:chExt cx="22691725" cy="135700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2691725" cy="1357021"/>
            </a:xfrm>
            <a:custGeom>
              <a:avLst/>
              <a:gdLst/>
              <a:ahLst/>
              <a:cxnLst/>
              <a:rect l="l" t="t" r="r" b="b"/>
              <a:pathLst>
                <a:path w="22691725" h="1357021">
                  <a:moveTo>
                    <a:pt x="0" y="183868"/>
                  </a:moveTo>
                  <a:cubicBezTo>
                    <a:pt x="0" y="82384"/>
                    <a:pt x="45466" y="0"/>
                    <a:pt x="101473" y="0"/>
                  </a:cubicBezTo>
                  <a:lnTo>
                    <a:pt x="22590252" y="0"/>
                  </a:lnTo>
                  <a:cubicBezTo>
                    <a:pt x="22646387" y="0"/>
                    <a:pt x="22691725" y="82384"/>
                    <a:pt x="22691725" y="183868"/>
                  </a:cubicBezTo>
                  <a:lnTo>
                    <a:pt x="22691725" y="1172936"/>
                  </a:lnTo>
                  <a:cubicBezTo>
                    <a:pt x="22691725" y="1274650"/>
                    <a:pt x="22646260" y="1356804"/>
                    <a:pt x="22590252" y="1356804"/>
                  </a:cubicBezTo>
                  <a:lnTo>
                    <a:pt x="101473" y="1356804"/>
                  </a:lnTo>
                  <a:cubicBezTo>
                    <a:pt x="45466" y="1357021"/>
                    <a:pt x="0" y="1274650"/>
                    <a:pt x="0" y="1172936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861269" y="9124950"/>
            <a:ext cx="16674107" cy="460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174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my_dict = {"name": "Anish", "age": 23, "city": "Kathmandu"}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70459" y="10105996"/>
            <a:ext cx="17147084" cy="29766"/>
            <a:chOff x="0" y="0"/>
            <a:chExt cx="22862778" cy="396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862794" cy="39751"/>
            </a:xfrm>
            <a:custGeom>
              <a:avLst/>
              <a:gdLst/>
              <a:ahLst/>
              <a:cxnLst/>
              <a:rect l="l" t="t" r="r" b="b"/>
              <a:pathLst>
                <a:path w="22862794" h="39751">
                  <a:moveTo>
                    <a:pt x="0" y="0"/>
                  </a:moveTo>
                  <a:lnTo>
                    <a:pt x="22862794" y="0"/>
                  </a:lnTo>
                  <a:lnTo>
                    <a:pt x="22862794" y="39751"/>
                  </a:lnTo>
                  <a:lnTo>
                    <a:pt x="0" y="39751"/>
                  </a:lnTo>
                  <a:close/>
                </a:path>
              </a:pathLst>
            </a:custGeom>
            <a:solidFill>
              <a:srgbClr val="3C3939">
                <a:alpha val="24706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60934" y="10920412"/>
            <a:ext cx="5626001" cy="1257002"/>
            <a:chOff x="0" y="0"/>
            <a:chExt cx="7501335" cy="1676003"/>
          </a:xfrm>
        </p:grpSpPr>
        <p:sp>
          <p:nvSpPr>
            <p:cNvPr id="9" name="Freeform 9"/>
            <p:cNvSpPr/>
            <p:nvPr/>
          </p:nvSpPr>
          <p:spPr>
            <a:xfrm>
              <a:off x="12700" y="12700"/>
              <a:ext cx="7475855" cy="1650619"/>
            </a:xfrm>
            <a:custGeom>
              <a:avLst/>
              <a:gdLst/>
              <a:ahLst/>
              <a:cxnLst/>
              <a:rect l="l" t="t" r="r" b="b"/>
              <a:pathLst>
                <a:path w="7475855" h="1650619">
                  <a:moveTo>
                    <a:pt x="0" y="91313"/>
                  </a:moveTo>
                  <a:cubicBezTo>
                    <a:pt x="0" y="40894"/>
                    <a:pt x="41402" y="0"/>
                    <a:pt x="92329" y="0"/>
                  </a:cubicBezTo>
                  <a:lnTo>
                    <a:pt x="7383526" y="0"/>
                  </a:lnTo>
                  <a:cubicBezTo>
                    <a:pt x="7434580" y="0"/>
                    <a:pt x="7475855" y="40894"/>
                    <a:pt x="7475855" y="91313"/>
                  </a:cubicBezTo>
                  <a:lnTo>
                    <a:pt x="7475855" y="1559306"/>
                  </a:lnTo>
                  <a:cubicBezTo>
                    <a:pt x="7475855" y="1609725"/>
                    <a:pt x="7434453" y="1650619"/>
                    <a:pt x="7383526" y="1650619"/>
                  </a:cubicBezTo>
                  <a:lnTo>
                    <a:pt x="92329" y="1650619"/>
                  </a:lnTo>
                  <a:cubicBezTo>
                    <a:pt x="41275" y="1650619"/>
                    <a:pt x="0" y="1609725"/>
                    <a:pt x="0" y="1559306"/>
                  </a:cubicBez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7501255" cy="1676019"/>
            </a:xfrm>
            <a:custGeom>
              <a:avLst/>
              <a:gdLst/>
              <a:ahLst/>
              <a:cxnLst/>
              <a:rect l="l" t="t" r="r" b="b"/>
              <a:pathLst>
                <a:path w="7501255" h="1676019">
                  <a:moveTo>
                    <a:pt x="0" y="104013"/>
                  </a:moveTo>
                  <a:cubicBezTo>
                    <a:pt x="0" y="46355"/>
                    <a:pt x="47244" y="0"/>
                    <a:pt x="105029" y="0"/>
                  </a:cubicBezTo>
                  <a:lnTo>
                    <a:pt x="7396226" y="0"/>
                  </a:lnTo>
                  <a:lnTo>
                    <a:pt x="7396226" y="12700"/>
                  </a:lnTo>
                  <a:lnTo>
                    <a:pt x="7396226" y="0"/>
                  </a:lnTo>
                  <a:cubicBezTo>
                    <a:pt x="7454138" y="0"/>
                    <a:pt x="7501255" y="46355"/>
                    <a:pt x="7501255" y="104013"/>
                  </a:cubicBezTo>
                  <a:lnTo>
                    <a:pt x="7488555" y="104013"/>
                  </a:lnTo>
                  <a:lnTo>
                    <a:pt x="7501255" y="104013"/>
                  </a:lnTo>
                  <a:lnTo>
                    <a:pt x="7501255" y="1572006"/>
                  </a:lnTo>
                  <a:lnTo>
                    <a:pt x="7488555" y="1572006"/>
                  </a:lnTo>
                  <a:lnTo>
                    <a:pt x="7501255" y="1572006"/>
                  </a:lnTo>
                  <a:cubicBezTo>
                    <a:pt x="7501255" y="1629537"/>
                    <a:pt x="7454011" y="1676019"/>
                    <a:pt x="7396226" y="1676019"/>
                  </a:cubicBezTo>
                  <a:lnTo>
                    <a:pt x="7396226" y="1663319"/>
                  </a:lnTo>
                  <a:lnTo>
                    <a:pt x="7396226" y="1676019"/>
                  </a:lnTo>
                  <a:lnTo>
                    <a:pt x="105029" y="1676019"/>
                  </a:lnTo>
                  <a:lnTo>
                    <a:pt x="105029" y="1663319"/>
                  </a:lnTo>
                  <a:lnTo>
                    <a:pt x="105029" y="1676019"/>
                  </a:lnTo>
                  <a:cubicBezTo>
                    <a:pt x="47117" y="1676019"/>
                    <a:pt x="0" y="1629664"/>
                    <a:pt x="0" y="1572006"/>
                  </a:cubicBezTo>
                  <a:lnTo>
                    <a:pt x="0" y="104013"/>
                  </a:lnTo>
                  <a:lnTo>
                    <a:pt x="12700" y="104013"/>
                  </a:lnTo>
                  <a:lnTo>
                    <a:pt x="0" y="104013"/>
                  </a:lnTo>
                  <a:moveTo>
                    <a:pt x="25400" y="104013"/>
                  </a:moveTo>
                  <a:lnTo>
                    <a:pt x="25400" y="1572006"/>
                  </a:lnTo>
                  <a:lnTo>
                    <a:pt x="12700" y="1572006"/>
                  </a:lnTo>
                  <a:lnTo>
                    <a:pt x="25400" y="1572006"/>
                  </a:lnTo>
                  <a:cubicBezTo>
                    <a:pt x="25400" y="1615313"/>
                    <a:pt x="60960" y="1650619"/>
                    <a:pt x="105029" y="1650619"/>
                  </a:cubicBezTo>
                  <a:lnTo>
                    <a:pt x="7396226" y="1650619"/>
                  </a:lnTo>
                  <a:cubicBezTo>
                    <a:pt x="7440422" y="1650619"/>
                    <a:pt x="7475855" y="1615313"/>
                    <a:pt x="7475855" y="1572006"/>
                  </a:cubicBezTo>
                  <a:lnTo>
                    <a:pt x="7475855" y="104013"/>
                  </a:lnTo>
                  <a:cubicBezTo>
                    <a:pt x="7475855" y="60706"/>
                    <a:pt x="7440295" y="25400"/>
                    <a:pt x="7396226" y="25400"/>
                  </a:cubicBezTo>
                  <a:lnTo>
                    <a:pt x="105029" y="25400"/>
                  </a:lnTo>
                  <a:lnTo>
                    <a:pt x="105029" y="12700"/>
                  </a:lnTo>
                  <a:lnTo>
                    <a:pt x="105029" y="25400"/>
                  </a:lnTo>
                  <a:cubicBezTo>
                    <a:pt x="60960" y="25400"/>
                    <a:pt x="25400" y="60706"/>
                    <a:pt x="25400" y="104013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330851" y="10920412"/>
            <a:ext cx="5626150" cy="1257002"/>
            <a:chOff x="0" y="0"/>
            <a:chExt cx="7501533" cy="1676003"/>
          </a:xfrm>
        </p:grpSpPr>
        <p:sp>
          <p:nvSpPr>
            <p:cNvPr id="12" name="Freeform 12"/>
            <p:cNvSpPr/>
            <p:nvPr/>
          </p:nvSpPr>
          <p:spPr>
            <a:xfrm>
              <a:off x="12700" y="12700"/>
              <a:ext cx="7476110" cy="1650619"/>
            </a:xfrm>
            <a:custGeom>
              <a:avLst/>
              <a:gdLst/>
              <a:ahLst/>
              <a:cxnLst/>
              <a:rect l="l" t="t" r="r" b="b"/>
              <a:pathLst>
                <a:path w="7476110" h="1650619">
                  <a:moveTo>
                    <a:pt x="0" y="91313"/>
                  </a:moveTo>
                  <a:cubicBezTo>
                    <a:pt x="0" y="40894"/>
                    <a:pt x="41402" y="0"/>
                    <a:pt x="92329" y="0"/>
                  </a:cubicBezTo>
                  <a:lnTo>
                    <a:pt x="7383780" y="0"/>
                  </a:lnTo>
                  <a:cubicBezTo>
                    <a:pt x="7434835" y="0"/>
                    <a:pt x="7476110" y="40894"/>
                    <a:pt x="7476110" y="91313"/>
                  </a:cubicBezTo>
                  <a:lnTo>
                    <a:pt x="7476110" y="1559306"/>
                  </a:lnTo>
                  <a:cubicBezTo>
                    <a:pt x="7476110" y="1609725"/>
                    <a:pt x="7434707" y="1650619"/>
                    <a:pt x="7383780" y="1650619"/>
                  </a:cubicBezTo>
                  <a:lnTo>
                    <a:pt x="92329" y="1650619"/>
                  </a:lnTo>
                  <a:cubicBezTo>
                    <a:pt x="41275" y="1650619"/>
                    <a:pt x="0" y="1609725"/>
                    <a:pt x="0" y="1559306"/>
                  </a:cubicBez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501510" cy="1676019"/>
            </a:xfrm>
            <a:custGeom>
              <a:avLst/>
              <a:gdLst/>
              <a:ahLst/>
              <a:cxnLst/>
              <a:rect l="l" t="t" r="r" b="b"/>
              <a:pathLst>
                <a:path w="7501510" h="1676019">
                  <a:moveTo>
                    <a:pt x="0" y="104013"/>
                  </a:moveTo>
                  <a:cubicBezTo>
                    <a:pt x="0" y="46355"/>
                    <a:pt x="47244" y="0"/>
                    <a:pt x="105029" y="0"/>
                  </a:cubicBezTo>
                  <a:lnTo>
                    <a:pt x="7396480" y="0"/>
                  </a:lnTo>
                  <a:lnTo>
                    <a:pt x="7396480" y="12700"/>
                  </a:lnTo>
                  <a:lnTo>
                    <a:pt x="7396480" y="0"/>
                  </a:lnTo>
                  <a:cubicBezTo>
                    <a:pt x="7454392" y="0"/>
                    <a:pt x="7501510" y="46355"/>
                    <a:pt x="7501510" y="104013"/>
                  </a:cubicBezTo>
                  <a:lnTo>
                    <a:pt x="7488810" y="104013"/>
                  </a:lnTo>
                  <a:lnTo>
                    <a:pt x="7501510" y="104013"/>
                  </a:lnTo>
                  <a:lnTo>
                    <a:pt x="7501510" y="1572006"/>
                  </a:lnTo>
                  <a:lnTo>
                    <a:pt x="7488810" y="1572006"/>
                  </a:lnTo>
                  <a:lnTo>
                    <a:pt x="7501510" y="1572006"/>
                  </a:lnTo>
                  <a:cubicBezTo>
                    <a:pt x="7501510" y="1629537"/>
                    <a:pt x="7454265" y="1676019"/>
                    <a:pt x="7396480" y="1676019"/>
                  </a:cubicBezTo>
                  <a:lnTo>
                    <a:pt x="7396480" y="1663319"/>
                  </a:lnTo>
                  <a:lnTo>
                    <a:pt x="7396480" y="1676019"/>
                  </a:lnTo>
                  <a:lnTo>
                    <a:pt x="105029" y="1676019"/>
                  </a:lnTo>
                  <a:lnTo>
                    <a:pt x="105029" y="1663319"/>
                  </a:lnTo>
                  <a:lnTo>
                    <a:pt x="105029" y="1676019"/>
                  </a:lnTo>
                  <a:cubicBezTo>
                    <a:pt x="47117" y="1676019"/>
                    <a:pt x="0" y="1629664"/>
                    <a:pt x="0" y="1572006"/>
                  </a:cubicBezTo>
                  <a:lnTo>
                    <a:pt x="0" y="104013"/>
                  </a:lnTo>
                  <a:lnTo>
                    <a:pt x="12700" y="104013"/>
                  </a:lnTo>
                  <a:lnTo>
                    <a:pt x="0" y="104013"/>
                  </a:lnTo>
                  <a:moveTo>
                    <a:pt x="25400" y="104013"/>
                  </a:moveTo>
                  <a:lnTo>
                    <a:pt x="25400" y="1572006"/>
                  </a:lnTo>
                  <a:lnTo>
                    <a:pt x="12700" y="1572006"/>
                  </a:lnTo>
                  <a:lnTo>
                    <a:pt x="25400" y="1572006"/>
                  </a:lnTo>
                  <a:cubicBezTo>
                    <a:pt x="25400" y="1615313"/>
                    <a:pt x="60960" y="1650619"/>
                    <a:pt x="105029" y="1650619"/>
                  </a:cubicBezTo>
                  <a:lnTo>
                    <a:pt x="7396480" y="1650619"/>
                  </a:lnTo>
                  <a:cubicBezTo>
                    <a:pt x="7440676" y="1650619"/>
                    <a:pt x="7476110" y="1615313"/>
                    <a:pt x="7476110" y="1572006"/>
                  </a:cubicBezTo>
                  <a:lnTo>
                    <a:pt x="7476110" y="104013"/>
                  </a:lnTo>
                  <a:cubicBezTo>
                    <a:pt x="7476110" y="60706"/>
                    <a:pt x="7440549" y="25400"/>
                    <a:pt x="7396480" y="25400"/>
                  </a:cubicBezTo>
                  <a:lnTo>
                    <a:pt x="105029" y="25400"/>
                  </a:lnTo>
                  <a:lnTo>
                    <a:pt x="105029" y="12700"/>
                  </a:lnTo>
                  <a:lnTo>
                    <a:pt x="105029" y="25400"/>
                  </a:lnTo>
                  <a:cubicBezTo>
                    <a:pt x="60960" y="25400"/>
                    <a:pt x="25400" y="60706"/>
                    <a:pt x="25400" y="104013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2100917" y="10920412"/>
            <a:ext cx="5626150" cy="1257002"/>
            <a:chOff x="0" y="0"/>
            <a:chExt cx="7501533" cy="1676003"/>
          </a:xfrm>
        </p:grpSpPr>
        <p:sp>
          <p:nvSpPr>
            <p:cNvPr id="15" name="Freeform 15"/>
            <p:cNvSpPr/>
            <p:nvPr/>
          </p:nvSpPr>
          <p:spPr>
            <a:xfrm>
              <a:off x="12700" y="12700"/>
              <a:ext cx="7476110" cy="1650619"/>
            </a:xfrm>
            <a:custGeom>
              <a:avLst/>
              <a:gdLst/>
              <a:ahLst/>
              <a:cxnLst/>
              <a:rect l="l" t="t" r="r" b="b"/>
              <a:pathLst>
                <a:path w="7476110" h="1650619">
                  <a:moveTo>
                    <a:pt x="0" y="91313"/>
                  </a:moveTo>
                  <a:cubicBezTo>
                    <a:pt x="0" y="40894"/>
                    <a:pt x="41402" y="0"/>
                    <a:pt x="92329" y="0"/>
                  </a:cubicBezTo>
                  <a:lnTo>
                    <a:pt x="7383780" y="0"/>
                  </a:lnTo>
                  <a:cubicBezTo>
                    <a:pt x="7434835" y="0"/>
                    <a:pt x="7476110" y="40894"/>
                    <a:pt x="7476110" y="91313"/>
                  </a:cubicBezTo>
                  <a:lnTo>
                    <a:pt x="7476110" y="1559306"/>
                  </a:lnTo>
                  <a:cubicBezTo>
                    <a:pt x="7476110" y="1609725"/>
                    <a:pt x="7434707" y="1650619"/>
                    <a:pt x="7383780" y="1650619"/>
                  </a:cubicBezTo>
                  <a:lnTo>
                    <a:pt x="92329" y="1650619"/>
                  </a:lnTo>
                  <a:cubicBezTo>
                    <a:pt x="41275" y="1650619"/>
                    <a:pt x="0" y="1609725"/>
                    <a:pt x="0" y="1559306"/>
                  </a:cubicBez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7501510" cy="1676019"/>
            </a:xfrm>
            <a:custGeom>
              <a:avLst/>
              <a:gdLst/>
              <a:ahLst/>
              <a:cxnLst/>
              <a:rect l="l" t="t" r="r" b="b"/>
              <a:pathLst>
                <a:path w="7501510" h="1676019">
                  <a:moveTo>
                    <a:pt x="0" y="104013"/>
                  </a:moveTo>
                  <a:cubicBezTo>
                    <a:pt x="0" y="46355"/>
                    <a:pt x="47244" y="0"/>
                    <a:pt x="105029" y="0"/>
                  </a:cubicBezTo>
                  <a:lnTo>
                    <a:pt x="7396480" y="0"/>
                  </a:lnTo>
                  <a:lnTo>
                    <a:pt x="7396480" y="12700"/>
                  </a:lnTo>
                  <a:lnTo>
                    <a:pt x="7396480" y="0"/>
                  </a:lnTo>
                  <a:cubicBezTo>
                    <a:pt x="7454392" y="0"/>
                    <a:pt x="7501510" y="46355"/>
                    <a:pt x="7501510" y="104013"/>
                  </a:cubicBezTo>
                  <a:lnTo>
                    <a:pt x="7488810" y="104013"/>
                  </a:lnTo>
                  <a:lnTo>
                    <a:pt x="7501510" y="104013"/>
                  </a:lnTo>
                  <a:lnTo>
                    <a:pt x="7501510" y="1572006"/>
                  </a:lnTo>
                  <a:lnTo>
                    <a:pt x="7488810" y="1572006"/>
                  </a:lnTo>
                  <a:lnTo>
                    <a:pt x="7501510" y="1572006"/>
                  </a:lnTo>
                  <a:cubicBezTo>
                    <a:pt x="7501510" y="1629537"/>
                    <a:pt x="7454265" y="1676019"/>
                    <a:pt x="7396480" y="1676019"/>
                  </a:cubicBezTo>
                  <a:lnTo>
                    <a:pt x="7396480" y="1663319"/>
                  </a:lnTo>
                  <a:lnTo>
                    <a:pt x="7396480" y="1676019"/>
                  </a:lnTo>
                  <a:lnTo>
                    <a:pt x="105029" y="1676019"/>
                  </a:lnTo>
                  <a:lnTo>
                    <a:pt x="105029" y="1663319"/>
                  </a:lnTo>
                  <a:lnTo>
                    <a:pt x="105029" y="1676019"/>
                  </a:lnTo>
                  <a:cubicBezTo>
                    <a:pt x="47117" y="1676019"/>
                    <a:pt x="0" y="1629664"/>
                    <a:pt x="0" y="1572006"/>
                  </a:cubicBezTo>
                  <a:lnTo>
                    <a:pt x="0" y="104013"/>
                  </a:lnTo>
                  <a:lnTo>
                    <a:pt x="12700" y="104013"/>
                  </a:lnTo>
                  <a:lnTo>
                    <a:pt x="0" y="104013"/>
                  </a:lnTo>
                  <a:moveTo>
                    <a:pt x="25400" y="104013"/>
                  </a:moveTo>
                  <a:lnTo>
                    <a:pt x="25400" y="1572006"/>
                  </a:lnTo>
                  <a:lnTo>
                    <a:pt x="12700" y="1572006"/>
                  </a:lnTo>
                  <a:lnTo>
                    <a:pt x="25400" y="1572006"/>
                  </a:lnTo>
                  <a:cubicBezTo>
                    <a:pt x="25400" y="1615313"/>
                    <a:pt x="60960" y="1650619"/>
                    <a:pt x="105029" y="1650619"/>
                  </a:cubicBezTo>
                  <a:lnTo>
                    <a:pt x="7396480" y="1650619"/>
                  </a:lnTo>
                  <a:cubicBezTo>
                    <a:pt x="7440676" y="1650619"/>
                    <a:pt x="7476110" y="1615313"/>
                    <a:pt x="7476110" y="1572006"/>
                  </a:cubicBezTo>
                  <a:lnTo>
                    <a:pt x="7476110" y="104013"/>
                  </a:lnTo>
                  <a:cubicBezTo>
                    <a:pt x="7476110" y="60706"/>
                    <a:pt x="7440549" y="25400"/>
                    <a:pt x="7396480" y="25400"/>
                  </a:cubicBezTo>
                  <a:lnTo>
                    <a:pt x="105029" y="25400"/>
                  </a:lnTo>
                  <a:lnTo>
                    <a:pt x="105029" y="12700"/>
                  </a:lnTo>
                  <a:lnTo>
                    <a:pt x="105029" y="25400"/>
                  </a:lnTo>
                  <a:cubicBezTo>
                    <a:pt x="60960" y="25400"/>
                    <a:pt x="25400" y="60706"/>
                    <a:pt x="25400" y="104013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570459" y="4224922"/>
            <a:ext cx="10019783" cy="5462003"/>
          </a:xfrm>
          <a:custGeom>
            <a:avLst/>
            <a:gdLst/>
            <a:ahLst/>
            <a:cxnLst/>
            <a:rect l="l" t="t" r="r" b="b"/>
            <a:pathLst>
              <a:path w="10019783" h="5462003">
                <a:moveTo>
                  <a:pt x="0" y="0"/>
                </a:moveTo>
                <a:lnTo>
                  <a:pt x="10019782" y="0"/>
                </a:lnTo>
                <a:lnTo>
                  <a:pt x="10019782" y="5462003"/>
                </a:lnTo>
                <a:lnTo>
                  <a:pt x="0" y="5462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940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70459" y="429071"/>
            <a:ext cx="10019783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Dictionary Internal Working and High-Speed Access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0459" y="978099"/>
            <a:ext cx="3165270" cy="343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174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Internal Hash Table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0459" y="1636068"/>
            <a:ext cx="16555188" cy="876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24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The key-value pairs are stored within a hash table structure. When you look up a value, the key is hashed to compute an address (index) in the table.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0459" y="2579044"/>
            <a:ext cx="8374708" cy="414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9"/>
              </a:lnSpc>
            </a:pPr>
            <a:r>
              <a:rPr lang="en-US" sz="214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This hashing process results in: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0459" y="3009762"/>
            <a:ext cx="10019783" cy="414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4244" lvl="1" indent="-162122" algn="l">
              <a:lnSpc>
                <a:spcPts val="3439"/>
              </a:lnSpc>
              <a:buFont typeface="Arial"/>
              <a:buChar char="•"/>
            </a:pPr>
            <a:r>
              <a:rPr lang="en-US" sz="214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Average Time Complexity for Access, Insertion, and Deletion: </a:t>
            </a:r>
            <a:r>
              <a:rPr lang="en-US" sz="2149" b="1">
                <a:solidFill>
                  <a:srgbClr val="00357A"/>
                </a:solidFill>
                <a:latin typeface="Roboto Bold"/>
                <a:ea typeface="Roboto Bold"/>
                <a:cs typeface="Roboto Bold"/>
                <a:sym typeface="Roboto Bold"/>
              </a:rPr>
              <a:t>O(1)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459" y="3491093"/>
            <a:ext cx="10198021" cy="414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4244" lvl="1" indent="-162122" algn="l">
              <a:lnSpc>
                <a:spcPts val="3439"/>
              </a:lnSpc>
              <a:buFont typeface="Arial"/>
              <a:buChar char="•"/>
            </a:pPr>
            <a:r>
              <a:rPr lang="en-US" sz="214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This makes dictionaries one of the most efficient data structures for retrieval.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0459" y="10360968"/>
            <a:ext cx="2444949" cy="324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>
                <a:solidFill>
                  <a:srgbClr val="00357A"/>
                </a:solidFill>
                <a:latin typeface="Raleway"/>
                <a:ea typeface="Raleway"/>
                <a:cs typeface="Raleway"/>
                <a:sym typeface="Raleway"/>
              </a:rPr>
              <a:t>Use Cases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2475" y="11083379"/>
            <a:ext cx="2037457" cy="283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>
                <a:solidFill>
                  <a:srgbClr val="00357A"/>
                </a:solidFill>
                <a:latin typeface="Raleway"/>
                <a:ea typeface="Raleway"/>
                <a:cs typeface="Raleway"/>
                <a:sym typeface="Raleway"/>
              </a:rPr>
              <a:t>Data Configuration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2475" y="11407229"/>
            <a:ext cx="5242918" cy="57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24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Storing settings, user profiles, or system configurations (JSON-like data).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22392" y="11083379"/>
            <a:ext cx="2037457" cy="283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>
                <a:solidFill>
                  <a:srgbClr val="00357A"/>
                </a:solidFill>
                <a:latin typeface="Raleway"/>
                <a:ea typeface="Raleway"/>
                <a:cs typeface="Raleway"/>
                <a:sym typeface="Raleway"/>
              </a:rPr>
              <a:t>Frequency Counting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22392" y="11407229"/>
            <a:ext cx="5243066" cy="317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24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Efficiently tracking the occurrences of items (e.g., word counts in text).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92459" y="11083379"/>
            <a:ext cx="2037458" cy="283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>
                <a:solidFill>
                  <a:srgbClr val="00357A"/>
                </a:solidFill>
                <a:latin typeface="Raleway"/>
                <a:ea typeface="Raleway"/>
                <a:cs typeface="Raleway"/>
                <a:sym typeface="Raleway"/>
              </a:rPr>
              <a:t>Mapping Objects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292459" y="11407229"/>
            <a:ext cx="5243066" cy="317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249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Creating associations between related data points, like IDs to names.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21655" y="468511"/>
            <a:ext cx="10808345" cy="439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Dictionary Operations: Manipulation and Views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029" y="1356420"/>
            <a:ext cx="14932848" cy="1831032"/>
            <a:chOff x="0" y="0"/>
            <a:chExt cx="19910464" cy="2441377"/>
          </a:xfrm>
        </p:grpSpPr>
        <p:sp>
          <p:nvSpPr>
            <p:cNvPr id="8" name="Freeform 8"/>
            <p:cNvSpPr/>
            <p:nvPr/>
          </p:nvSpPr>
          <p:spPr>
            <a:xfrm>
              <a:off x="18582" y="12700"/>
              <a:ext cx="19873321" cy="2415921"/>
            </a:xfrm>
            <a:custGeom>
              <a:avLst/>
              <a:gdLst/>
              <a:ahLst/>
              <a:cxnLst/>
              <a:rect l="l" t="t" r="r" b="b"/>
              <a:pathLst>
                <a:path w="19873321" h="2415921">
                  <a:moveTo>
                    <a:pt x="0" y="99441"/>
                  </a:moveTo>
                  <a:cubicBezTo>
                    <a:pt x="0" y="44577"/>
                    <a:pt x="65782" y="0"/>
                    <a:pt x="146801" y="0"/>
                  </a:cubicBezTo>
                  <a:lnTo>
                    <a:pt x="19726521" y="0"/>
                  </a:lnTo>
                  <a:cubicBezTo>
                    <a:pt x="19807540" y="0"/>
                    <a:pt x="19873322" y="44577"/>
                    <a:pt x="19873322" y="99441"/>
                  </a:cubicBezTo>
                  <a:lnTo>
                    <a:pt x="19873322" y="2316480"/>
                  </a:lnTo>
                  <a:cubicBezTo>
                    <a:pt x="19873322" y="2371471"/>
                    <a:pt x="19807540" y="2415921"/>
                    <a:pt x="19726521" y="2415921"/>
                  </a:cubicBezTo>
                  <a:lnTo>
                    <a:pt x="146801" y="2415921"/>
                  </a:lnTo>
                  <a:cubicBezTo>
                    <a:pt x="65782" y="2415921"/>
                    <a:pt x="0" y="2371344"/>
                    <a:pt x="0" y="2316480"/>
                  </a:cubicBez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9910479" cy="2441321"/>
            </a:xfrm>
            <a:custGeom>
              <a:avLst/>
              <a:gdLst/>
              <a:ahLst/>
              <a:cxnLst/>
              <a:rect l="l" t="t" r="r" b="b"/>
              <a:pathLst>
                <a:path w="19910479" h="2441321">
                  <a:moveTo>
                    <a:pt x="0" y="112141"/>
                  </a:moveTo>
                  <a:cubicBezTo>
                    <a:pt x="0" y="50165"/>
                    <a:pt x="74144" y="0"/>
                    <a:pt x="165383" y="0"/>
                  </a:cubicBezTo>
                  <a:lnTo>
                    <a:pt x="19745103" y="0"/>
                  </a:lnTo>
                  <a:lnTo>
                    <a:pt x="19745103" y="12700"/>
                  </a:lnTo>
                  <a:lnTo>
                    <a:pt x="19745103" y="0"/>
                  </a:lnTo>
                  <a:cubicBezTo>
                    <a:pt x="19836343" y="0"/>
                    <a:pt x="19910479" y="50165"/>
                    <a:pt x="19910479" y="112141"/>
                  </a:cubicBezTo>
                  <a:lnTo>
                    <a:pt x="19891904" y="112141"/>
                  </a:lnTo>
                  <a:lnTo>
                    <a:pt x="19910479" y="112141"/>
                  </a:lnTo>
                  <a:lnTo>
                    <a:pt x="19910479" y="2329180"/>
                  </a:lnTo>
                  <a:lnTo>
                    <a:pt x="19891904" y="2329180"/>
                  </a:lnTo>
                  <a:lnTo>
                    <a:pt x="19910479" y="2329180"/>
                  </a:lnTo>
                  <a:cubicBezTo>
                    <a:pt x="19910479" y="2391283"/>
                    <a:pt x="19836343" y="2441321"/>
                    <a:pt x="19745103" y="2441321"/>
                  </a:cubicBezTo>
                  <a:lnTo>
                    <a:pt x="19745103" y="2428621"/>
                  </a:lnTo>
                  <a:lnTo>
                    <a:pt x="19745103" y="2441321"/>
                  </a:lnTo>
                  <a:lnTo>
                    <a:pt x="165383" y="2441321"/>
                  </a:lnTo>
                  <a:lnTo>
                    <a:pt x="165383" y="2428621"/>
                  </a:lnTo>
                  <a:lnTo>
                    <a:pt x="165383" y="2441321"/>
                  </a:lnTo>
                  <a:cubicBezTo>
                    <a:pt x="74144" y="2441321"/>
                    <a:pt x="0" y="2391156"/>
                    <a:pt x="0" y="2329180"/>
                  </a:cubicBezTo>
                  <a:lnTo>
                    <a:pt x="0" y="112141"/>
                  </a:lnTo>
                  <a:lnTo>
                    <a:pt x="18582" y="112141"/>
                  </a:lnTo>
                  <a:lnTo>
                    <a:pt x="0" y="112141"/>
                  </a:lnTo>
                  <a:moveTo>
                    <a:pt x="37165" y="112141"/>
                  </a:moveTo>
                  <a:lnTo>
                    <a:pt x="37165" y="2329180"/>
                  </a:lnTo>
                  <a:lnTo>
                    <a:pt x="18582" y="2329180"/>
                  </a:lnTo>
                  <a:lnTo>
                    <a:pt x="37165" y="2329180"/>
                  </a:lnTo>
                  <a:cubicBezTo>
                    <a:pt x="37165" y="2377059"/>
                    <a:pt x="94399" y="2415921"/>
                    <a:pt x="165383" y="2415921"/>
                  </a:cubicBezTo>
                  <a:lnTo>
                    <a:pt x="19745103" y="2415921"/>
                  </a:lnTo>
                  <a:cubicBezTo>
                    <a:pt x="19816087" y="2415921"/>
                    <a:pt x="19873322" y="2376932"/>
                    <a:pt x="19873322" y="2329180"/>
                  </a:cubicBezTo>
                  <a:lnTo>
                    <a:pt x="19873322" y="112141"/>
                  </a:lnTo>
                  <a:cubicBezTo>
                    <a:pt x="19873322" y="64262"/>
                    <a:pt x="19816087" y="25400"/>
                    <a:pt x="19745103" y="25400"/>
                  </a:cubicBezTo>
                  <a:lnTo>
                    <a:pt x="165383" y="25400"/>
                  </a:lnTo>
                  <a:lnTo>
                    <a:pt x="165383" y="12700"/>
                  </a:lnTo>
                  <a:lnTo>
                    <a:pt x="165383" y="25400"/>
                  </a:lnTo>
                  <a:cubicBezTo>
                    <a:pt x="94399" y="25400"/>
                    <a:pt x="37165" y="64389"/>
                    <a:pt x="37165" y="112141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78532" y="1356420"/>
            <a:ext cx="177552" cy="1773882"/>
            <a:chOff x="0" y="0"/>
            <a:chExt cx="236737" cy="23651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6601" cy="2365121"/>
            </a:xfrm>
            <a:custGeom>
              <a:avLst/>
              <a:gdLst/>
              <a:ahLst/>
              <a:cxnLst/>
              <a:rect l="l" t="t" r="r" b="b"/>
              <a:pathLst>
                <a:path w="236601" h="2365121">
                  <a:moveTo>
                    <a:pt x="0" y="68961"/>
                  </a:moveTo>
                  <a:cubicBezTo>
                    <a:pt x="0" y="30861"/>
                    <a:pt x="30861" y="0"/>
                    <a:pt x="68961" y="0"/>
                  </a:cubicBezTo>
                  <a:lnTo>
                    <a:pt x="167640" y="0"/>
                  </a:lnTo>
                  <a:cubicBezTo>
                    <a:pt x="205740" y="0"/>
                    <a:pt x="236601" y="30861"/>
                    <a:pt x="236601" y="68961"/>
                  </a:cubicBezTo>
                  <a:lnTo>
                    <a:pt x="236601" y="2296160"/>
                  </a:lnTo>
                  <a:cubicBezTo>
                    <a:pt x="236601" y="2334260"/>
                    <a:pt x="205740" y="2365121"/>
                    <a:pt x="167640" y="2365121"/>
                  </a:cubicBezTo>
                  <a:lnTo>
                    <a:pt x="68961" y="2365121"/>
                  </a:lnTo>
                  <a:cubicBezTo>
                    <a:pt x="30861" y="2365121"/>
                    <a:pt x="0" y="2334260"/>
                    <a:pt x="0" y="2296160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253430" y="1207442"/>
            <a:ext cx="3683669" cy="345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187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Adding &amp; Updating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5809" y="1692920"/>
            <a:ext cx="12742301" cy="439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274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New keys are added via simple assignment. Existing keys are updated the same way.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44861" y="2271936"/>
            <a:ext cx="9644434" cy="572616"/>
            <a:chOff x="0" y="0"/>
            <a:chExt cx="12859245" cy="7634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59150" cy="763456"/>
            </a:xfrm>
            <a:custGeom>
              <a:avLst/>
              <a:gdLst/>
              <a:ahLst/>
              <a:cxnLst/>
              <a:rect l="l" t="t" r="r" b="b"/>
              <a:pathLst>
                <a:path w="12859150" h="763456">
                  <a:moveTo>
                    <a:pt x="0" y="103405"/>
                  </a:moveTo>
                  <a:cubicBezTo>
                    <a:pt x="0" y="46354"/>
                    <a:pt x="43899" y="0"/>
                    <a:pt x="97928" y="0"/>
                  </a:cubicBezTo>
                  <a:lnTo>
                    <a:pt x="12761223" y="0"/>
                  </a:lnTo>
                  <a:cubicBezTo>
                    <a:pt x="12815377" y="0"/>
                    <a:pt x="12859150" y="46354"/>
                    <a:pt x="12859150" y="103405"/>
                  </a:cubicBezTo>
                  <a:lnTo>
                    <a:pt x="12859150" y="660050"/>
                  </a:lnTo>
                  <a:cubicBezTo>
                    <a:pt x="12859150" y="717234"/>
                    <a:pt x="12815251" y="763456"/>
                    <a:pt x="12761223" y="763456"/>
                  </a:cubicBezTo>
                  <a:lnTo>
                    <a:pt x="97928" y="763456"/>
                  </a:lnTo>
                  <a:cubicBezTo>
                    <a:pt x="43899" y="763456"/>
                    <a:pt x="0" y="717234"/>
                    <a:pt x="0" y="660050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361181" y="2304749"/>
            <a:ext cx="9455944" cy="392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1874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student["country"] = "Nepal"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78532" y="3187452"/>
            <a:ext cx="14666446" cy="2134344"/>
            <a:chOff x="0" y="0"/>
            <a:chExt cx="19555261" cy="2845792"/>
          </a:xfrm>
        </p:grpSpPr>
        <p:sp>
          <p:nvSpPr>
            <p:cNvPr id="18" name="Freeform 18"/>
            <p:cNvSpPr/>
            <p:nvPr/>
          </p:nvSpPr>
          <p:spPr>
            <a:xfrm>
              <a:off x="18740" y="12700"/>
              <a:ext cx="19517781" cy="2820416"/>
            </a:xfrm>
            <a:custGeom>
              <a:avLst/>
              <a:gdLst/>
              <a:ahLst/>
              <a:cxnLst/>
              <a:rect l="l" t="t" r="r" b="b"/>
              <a:pathLst>
                <a:path w="19517781" h="2820416">
                  <a:moveTo>
                    <a:pt x="0" y="99441"/>
                  </a:moveTo>
                  <a:cubicBezTo>
                    <a:pt x="0" y="44577"/>
                    <a:pt x="66153" y="0"/>
                    <a:pt x="147859" y="0"/>
                  </a:cubicBezTo>
                  <a:lnTo>
                    <a:pt x="19369921" y="0"/>
                  </a:lnTo>
                  <a:cubicBezTo>
                    <a:pt x="19451628" y="0"/>
                    <a:pt x="19517781" y="44577"/>
                    <a:pt x="19517781" y="99441"/>
                  </a:cubicBezTo>
                  <a:lnTo>
                    <a:pt x="19517781" y="2720975"/>
                  </a:lnTo>
                  <a:cubicBezTo>
                    <a:pt x="19517781" y="2775966"/>
                    <a:pt x="19451628" y="2820416"/>
                    <a:pt x="19369921" y="2820416"/>
                  </a:cubicBezTo>
                  <a:lnTo>
                    <a:pt x="147859" y="2820416"/>
                  </a:lnTo>
                  <a:cubicBezTo>
                    <a:pt x="66153" y="2820416"/>
                    <a:pt x="0" y="2775839"/>
                    <a:pt x="0" y="2720975"/>
                  </a:cubicBez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9555261" cy="2845816"/>
            </a:xfrm>
            <a:custGeom>
              <a:avLst/>
              <a:gdLst/>
              <a:ahLst/>
              <a:cxnLst/>
              <a:rect l="l" t="t" r="r" b="b"/>
              <a:pathLst>
                <a:path w="19555261" h="2845816">
                  <a:moveTo>
                    <a:pt x="0" y="112141"/>
                  </a:moveTo>
                  <a:cubicBezTo>
                    <a:pt x="0" y="50165"/>
                    <a:pt x="74773" y="0"/>
                    <a:pt x="166599" y="0"/>
                  </a:cubicBezTo>
                  <a:lnTo>
                    <a:pt x="19388661" y="0"/>
                  </a:lnTo>
                  <a:lnTo>
                    <a:pt x="19388661" y="12700"/>
                  </a:lnTo>
                  <a:lnTo>
                    <a:pt x="19388661" y="0"/>
                  </a:lnTo>
                  <a:cubicBezTo>
                    <a:pt x="19480488" y="0"/>
                    <a:pt x="19555261" y="50165"/>
                    <a:pt x="19555261" y="112141"/>
                  </a:cubicBezTo>
                  <a:lnTo>
                    <a:pt x="19536521" y="112141"/>
                  </a:lnTo>
                  <a:lnTo>
                    <a:pt x="19555261" y="112141"/>
                  </a:lnTo>
                  <a:lnTo>
                    <a:pt x="19555261" y="2733675"/>
                  </a:lnTo>
                  <a:lnTo>
                    <a:pt x="19536521" y="2733675"/>
                  </a:lnTo>
                  <a:lnTo>
                    <a:pt x="19555261" y="2733675"/>
                  </a:lnTo>
                  <a:cubicBezTo>
                    <a:pt x="19555261" y="2795651"/>
                    <a:pt x="19480488" y="2845816"/>
                    <a:pt x="19388661" y="2845816"/>
                  </a:cubicBezTo>
                  <a:lnTo>
                    <a:pt x="19388661" y="2833116"/>
                  </a:lnTo>
                  <a:lnTo>
                    <a:pt x="19388661" y="2845816"/>
                  </a:lnTo>
                  <a:lnTo>
                    <a:pt x="166599" y="2845816"/>
                  </a:lnTo>
                  <a:lnTo>
                    <a:pt x="166599" y="2833116"/>
                  </a:lnTo>
                  <a:lnTo>
                    <a:pt x="166599" y="2845816"/>
                  </a:lnTo>
                  <a:cubicBezTo>
                    <a:pt x="74773" y="2845816"/>
                    <a:pt x="0" y="2795651"/>
                    <a:pt x="0" y="2733675"/>
                  </a:cubicBezTo>
                  <a:lnTo>
                    <a:pt x="0" y="112141"/>
                  </a:lnTo>
                  <a:lnTo>
                    <a:pt x="18740" y="112141"/>
                  </a:lnTo>
                  <a:lnTo>
                    <a:pt x="0" y="112141"/>
                  </a:lnTo>
                  <a:moveTo>
                    <a:pt x="37480" y="112141"/>
                  </a:moveTo>
                  <a:lnTo>
                    <a:pt x="37480" y="2733675"/>
                  </a:lnTo>
                  <a:lnTo>
                    <a:pt x="18740" y="2733675"/>
                  </a:lnTo>
                  <a:lnTo>
                    <a:pt x="37480" y="2733675"/>
                  </a:lnTo>
                  <a:cubicBezTo>
                    <a:pt x="37480" y="2781554"/>
                    <a:pt x="95200" y="2820416"/>
                    <a:pt x="166599" y="2820416"/>
                  </a:cubicBezTo>
                  <a:lnTo>
                    <a:pt x="19388661" y="2820416"/>
                  </a:lnTo>
                  <a:cubicBezTo>
                    <a:pt x="19460062" y="2820416"/>
                    <a:pt x="19517781" y="2781427"/>
                    <a:pt x="19517781" y="2733675"/>
                  </a:cubicBezTo>
                  <a:lnTo>
                    <a:pt x="19517781" y="112141"/>
                  </a:lnTo>
                  <a:cubicBezTo>
                    <a:pt x="19517781" y="64262"/>
                    <a:pt x="19460062" y="25400"/>
                    <a:pt x="19388661" y="25400"/>
                  </a:cubicBezTo>
                  <a:lnTo>
                    <a:pt x="166599" y="25400"/>
                  </a:lnTo>
                  <a:lnTo>
                    <a:pt x="166599" y="12700"/>
                  </a:lnTo>
                  <a:lnTo>
                    <a:pt x="166599" y="25400"/>
                  </a:lnTo>
                  <a:cubicBezTo>
                    <a:pt x="95200" y="25400"/>
                    <a:pt x="37480" y="64389"/>
                    <a:pt x="37480" y="112141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07108" y="3216027"/>
            <a:ext cx="177552" cy="2077194"/>
            <a:chOff x="0" y="0"/>
            <a:chExt cx="236737" cy="27695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6601" cy="2769489"/>
            </a:xfrm>
            <a:custGeom>
              <a:avLst/>
              <a:gdLst/>
              <a:ahLst/>
              <a:cxnLst/>
              <a:rect l="l" t="t" r="r" b="b"/>
              <a:pathLst>
                <a:path w="236601" h="2769489">
                  <a:moveTo>
                    <a:pt x="0" y="68961"/>
                  </a:moveTo>
                  <a:cubicBezTo>
                    <a:pt x="0" y="30861"/>
                    <a:pt x="30861" y="0"/>
                    <a:pt x="68961" y="0"/>
                  </a:cubicBezTo>
                  <a:lnTo>
                    <a:pt x="167640" y="0"/>
                  </a:lnTo>
                  <a:cubicBezTo>
                    <a:pt x="205740" y="0"/>
                    <a:pt x="236601" y="30861"/>
                    <a:pt x="236601" y="68961"/>
                  </a:cubicBezTo>
                  <a:lnTo>
                    <a:pt x="236601" y="2700528"/>
                  </a:lnTo>
                  <a:cubicBezTo>
                    <a:pt x="236601" y="2738628"/>
                    <a:pt x="205740" y="2769489"/>
                    <a:pt x="167640" y="2769489"/>
                  </a:cubicBezTo>
                  <a:lnTo>
                    <a:pt x="68961" y="2769489"/>
                  </a:lnTo>
                  <a:cubicBezTo>
                    <a:pt x="30861" y="2769489"/>
                    <a:pt x="0" y="2738628"/>
                    <a:pt x="0" y="2700528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262211" y="3365004"/>
            <a:ext cx="2220516" cy="30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00357A"/>
                </a:solidFill>
                <a:latin typeface="Raleway"/>
                <a:ea typeface="Raleway"/>
                <a:cs typeface="Raleway"/>
                <a:sym typeface="Raleway"/>
              </a:rPr>
              <a:t>Removing Elements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2211" y="3682454"/>
            <a:ext cx="9527084" cy="439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274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Use pop() (returns value) or del keyword for removal.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62211" y="4280744"/>
            <a:ext cx="9527084" cy="834926"/>
            <a:chOff x="0" y="0"/>
            <a:chExt cx="12702778" cy="111323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702794" cy="1113282"/>
            </a:xfrm>
            <a:custGeom>
              <a:avLst/>
              <a:gdLst/>
              <a:ahLst/>
              <a:cxnLst/>
              <a:rect l="l" t="t" r="r" b="b"/>
              <a:pathLst>
                <a:path w="12702794" h="1113282">
                  <a:moveTo>
                    <a:pt x="0" y="99441"/>
                  </a:moveTo>
                  <a:cubicBezTo>
                    <a:pt x="0" y="44577"/>
                    <a:pt x="44577" y="0"/>
                    <a:pt x="99441" y="0"/>
                  </a:cubicBezTo>
                  <a:lnTo>
                    <a:pt x="12603353" y="0"/>
                  </a:lnTo>
                  <a:cubicBezTo>
                    <a:pt x="12658344" y="0"/>
                    <a:pt x="12702794" y="44577"/>
                    <a:pt x="12702794" y="99441"/>
                  </a:cubicBezTo>
                  <a:lnTo>
                    <a:pt x="12702794" y="1013714"/>
                  </a:lnTo>
                  <a:cubicBezTo>
                    <a:pt x="12702794" y="1068705"/>
                    <a:pt x="12658217" y="1113155"/>
                    <a:pt x="12603353" y="1113155"/>
                  </a:cubicBezTo>
                  <a:lnTo>
                    <a:pt x="99441" y="1113155"/>
                  </a:lnTo>
                  <a:cubicBezTo>
                    <a:pt x="44577" y="1113282"/>
                    <a:pt x="0" y="1068705"/>
                    <a:pt x="0" y="1013714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253430" y="4280744"/>
            <a:ext cx="9544645" cy="834926"/>
            <a:chOff x="0" y="0"/>
            <a:chExt cx="12726193" cy="111323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726162" cy="1113282"/>
            </a:xfrm>
            <a:custGeom>
              <a:avLst/>
              <a:gdLst/>
              <a:ahLst/>
              <a:cxnLst/>
              <a:rect l="l" t="t" r="r" b="b"/>
              <a:pathLst>
                <a:path w="12726162" h="1113282">
                  <a:moveTo>
                    <a:pt x="0" y="35560"/>
                  </a:moveTo>
                  <a:cubicBezTo>
                    <a:pt x="0" y="15875"/>
                    <a:pt x="15875" y="0"/>
                    <a:pt x="35560" y="0"/>
                  </a:cubicBezTo>
                  <a:lnTo>
                    <a:pt x="12690602" y="0"/>
                  </a:lnTo>
                  <a:cubicBezTo>
                    <a:pt x="12710287" y="0"/>
                    <a:pt x="12726162" y="15875"/>
                    <a:pt x="12726162" y="35560"/>
                  </a:cubicBezTo>
                  <a:lnTo>
                    <a:pt x="12726162" y="1077722"/>
                  </a:lnTo>
                  <a:cubicBezTo>
                    <a:pt x="12726162" y="1097407"/>
                    <a:pt x="12710287" y="1113282"/>
                    <a:pt x="12690602" y="1113282"/>
                  </a:cubicBezTo>
                  <a:lnTo>
                    <a:pt x="35560" y="1113282"/>
                  </a:lnTo>
                  <a:cubicBezTo>
                    <a:pt x="15875" y="1113282"/>
                    <a:pt x="0" y="1097407"/>
                    <a:pt x="0" y="1077722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430982" y="4299645"/>
            <a:ext cx="9189541" cy="40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sz="1974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student.pop("age")del student["dept"]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07107" y="5480298"/>
            <a:ext cx="14637871" cy="1850082"/>
            <a:chOff x="0" y="0"/>
            <a:chExt cx="19517161" cy="2466777"/>
          </a:xfrm>
        </p:grpSpPr>
        <p:sp>
          <p:nvSpPr>
            <p:cNvPr id="30" name="Freeform 30"/>
            <p:cNvSpPr/>
            <p:nvPr/>
          </p:nvSpPr>
          <p:spPr>
            <a:xfrm>
              <a:off x="19219" y="12700"/>
              <a:ext cx="19478700" cy="2441321"/>
            </a:xfrm>
            <a:custGeom>
              <a:avLst/>
              <a:gdLst/>
              <a:ahLst/>
              <a:cxnLst/>
              <a:rect l="l" t="t" r="r" b="b"/>
              <a:pathLst>
                <a:path w="19478700" h="2441321">
                  <a:moveTo>
                    <a:pt x="0" y="99441"/>
                  </a:moveTo>
                  <a:cubicBezTo>
                    <a:pt x="0" y="44577"/>
                    <a:pt x="68034" y="0"/>
                    <a:pt x="151827" y="0"/>
                  </a:cubicBezTo>
                  <a:lnTo>
                    <a:pt x="19326871" y="0"/>
                  </a:lnTo>
                  <a:cubicBezTo>
                    <a:pt x="19410665" y="0"/>
                    <a:pt x="19478699" y="44577"/>
                    <a:pt x="19478699" y="99441"/>
                  </a:cubicBezTo>
                  <a:lnTo>
                    <a:pt x="19478699" y="2341880"/>
                  </a:lnTo>
                  <a:cubicBezTo>
                    <a:pt x="19478699" y="2396871"/>
                    <a:pt x="19410665" y="2441321"/>
                    <a:pt x="19326871" y="2441321"/>
                  </a:cubicBezTo>
                  <a:lnTo>
                    <a:pt x="151827" y="2441321"/>
                  </a:lnTo>
                  <a:cubicBezTo>
                    <a:pt x="68034" y="2441321"/>
                    <a:pt x="0" y="2396744"/>
                    <a:pt x="0" y="2341880"/>
                  </a:cubicBezTo>
                  <a:close/>
                </a:path>
              </a:pathLst>
            </a:custGeom>
            <a:solidFill>
              <a:srgbClr val="99C5FF">
                <a:alpha val="90196"/>
              </a:srgbClr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19517137" cy="2466721"/>
            </a:xfrm>
            <a:custGeom>
              <a:avLst/>
              <a:gdLst/>
              <a:ahLst/>
              <a:cxnLst/>
              <a:rect l="l" t="t" r="r" b="b"/>
              <a:pathLst>
                <a:path w="19517137" h="2466721">
                  <a:moveTo>
                    <a:pt x="0" y="112141"/>
                  </a:moveTo>
                  <a:cubicBezTo>
                    <a:pt x="0" y="50165"/>
                    <a:pt x="76682" y="0"/>
                    <a:pt x="171046" y="0"/>
                  </a:cubicBezTo>
                  <a:lnTo>
                    <a:pt x="19346090" y="0"/>
                  </a:lnTo>
                  <a:lnTo>
                    <a:pt x="19346090" y="12700"/>
                  </a:lnTo>
                  <a:lnTo>
                    <a:pt x="19346090" y="0"/>
                  </a:lnTo>
                  <a:cubicBezTo>
                    <a:pt x="19440454" y="0"/>
                    <a:pt x="19517137" y="50165"/>
                    <a:pt x="19517137" y="112141"/>
                  </a:cubicBezTo>
                  <a:lnTo>
                    <a:pt x="19497918" y="112141"/>
                  </a:lnTo>
                  <a:lnTo>
                    <a:pt x="19517137" y="112141"/>
                  </a:lnTo>
                  <a:lnTo>
                    <a:pt x="19517137" y="2354580"/>
                  </a:lnTo>
                  <a:lnTo>
                    <a:pt x="19497918" y="2354580"/>
                  </a:lnTo>
                  <a:lnTo>
                    <a:pt x="19517137" y="2354580"/>
                  </a:lnTo>
                  <a:cubicBezTo>
                    <a:pt x="19517137" y="2416683"/>
                    <a:pt x="19440454" y="2466721"/>
                    <a:pt x="19346090" y="2466721"/>
                  </a:cubicBezTo>
                  <a:lnTo>
                    <a:pt x="19346090" y="2454021"/>
                  </a:lnTo>
                  <a:lnTo>
                    <a:pt x="19346090" y="2466721"/>
                  </a:lnTo>
                  <a:lnTo>
                    <a:pt x="171046" y="2466721"/>
                  </a:lnTo>
                  <a:lnTo>
                    <a:pt x="171046" y="2454021"/>
                  </a:lnTo>
                  <a:lnTo>
                    <a:pt x="171046" y="2466721"/>
                  </a:lnTo>
                  <a:cubicBezTo>
                    <a:pt x="76682" y="2466721"/>
                    <a:pt x="0" y="2416556"/>
                    <a:pt x="0" y="2354580"/>
                  </a:cubicBezTo>
                  <a:lnTo>
                    <a:pt x="0" y="112141"/>
                  </a:lnTo>
                  <a:lnTo>
                    <a:pt x="19219" y="112141"/>
                  </a:lnTo>
                  <a:lnTo>
                    <a:pt x="0" y="112141"/>
                  </a:lnTo>
                  <a:moveTo>
                    <a:pt x="38437" y="112141"/>
                  </a:moveTo>
                  <a:lnTo>
                    <a:pt x="38437" y="2354580"/>
                  </a:lnTo>
                  <a:lnTo>
                    <a:pt x="19219" y="2354580"/>
                  </a:lnTo>
                  <a:lnTo>
                    <a:pt x="38437" y="2354580"/>
                  </a:lnTo>
                  <a:cubicBezTo>
                    <a:pt x="38437" y="2402459"/>
                    <a:pt x="97631" y="2441321"/>
                    <a:pt x="171046" y="2441321"/>
                  </a:cubicBezTo>
                  <a:lnTo>
                    <a:pt x="19346090" y="2441321"/>
                  </a:lnTo>
                  <a:cubicBezTo>
                    <a:pt x="19419506" y="2441321"/>
                    <a:pt x="19478699" y="2402332"/>
                    <a:pt x="19478699" y="2354580"/>
                  </a:cubicBezTo>
                  <a:lnTo>
                    <a:pt x="19478699" y="112141"/>
                  </a:lnTo>
                  <a:cubicBezTo>
                    <a:pt x="19478699" y="64262"/>
                    <a:pt x="19419506" y="25400"/>
                    <a:pt x="19346090" y="25400"/>
                  </a:cubicBezTo>
                  <a:lnTo>
                    <a:pt x="171046" y="25400"/>
                  </a:lnTo>
                  <a:lnTo>
                    <a:pt x="171046" y="12700"/>
                  </a:lnTo>
                  <a:lnTo>
                    <a:pt x="171046" y="25400"/>
                  </a:lnTo>
                  <a:cubicBezTo>
                    <a:pt x="97631" y="25400"/>
                    <a:pt x="38437" y="64389"/>
                    <a:pt x="38437" y="112141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967309" y="5460950"/>
            <a:ext cx="177552" cy="1792932"/>
            <a:chOff x="0" y="0"/>
            <a:chExt cx="236737" cy="239057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36601" cy="2390521"/>
            </a:xfrm>
            <a:custGeom>
              <a:avLst/>
              <a:gdLst/>
              <a:ahLst/>
              <a:cxnLst/>
              <a:rect l="l" t="t" r="r" b="b"/>
              <a:pathLst>
                <a:path w="236601" h="2390521">
                  <a:moveTo>
                    <a:pt x="0" y="68961"/>
                  </a:moveTo>
                  <a:cubicBezTo>
                    <a:pt x="0" y="30861"/>
                    <a:pt x="30861" y="0"/>
                    <a:pt x="68961" y="0"/>
                  </a:cubicBezTo>
                  <a:lnTo>
                    <a:pt x="167640" y="0"/>
                  </a:lnTo>
                  <a:cubicBezTo>
                    <a:pt x="205740" y="0"/>
                    <a:pt x="236601" y="30861"/>
                    <a:pt x="236601" y="68961"/>
                  </a:cubicBezTo>
                  <a:lnTo>
                    <a:pt x="236601" y="2321560"/>
                  </a:lnTo>
                  <a:cubicBezTo>
                    <a:pt x="236601" y="2359660"/>
                    <a:pt x="205740" y="2390521"/>
                    <a:pt x="167640" y="2390521"/>
                  </a:cubicBezTo>
                  <a:lnTo>
                    <a:pt x="68961" y="2390521"/>
                  </a:lnTo>
                  <a:cubicBezTo>
                    <a:pt x="30861" y="2390521"/>
                    <a:pt x="0" y="2359660"/>
                    <a:pt x="0" y="2321560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1528614" y="5657850"/>
            <a:ext cx="2220516" cy="30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00357A"/>
                </a:solidFill>
                <a:latin typeface="Raleway"/>
                <a:ea typeface="Raleway"/>
                <a:cs typeface="Raleway"/>
                <a:sym typeface="Raleway"/>
              </a:rPr>
              <a:t>Viewing Contents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28614" y="5975300"/>
            <a:ext cx="12209496" cy="439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274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Methods like keys(), values(), and items() return dynamic views of the dictionary content.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528614" y="6573590"/>
            <a:ext cx="9260681" cy="550664"/>
            <a:chOff x="0" y="0"/>
            <a:chExt cx="12347575" cy="73421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347575" cy="734187"/>
            </a:xfrm>
            <a:custGeom>
              <a:avLst/>
              <a:gdLst/>
              <a:ahLst/>
              <a:cxnLst/>
              <a:rect l="l" t="t" r="r" b="b"/>
              <a:pathLst>
                <a:path w="12347575" h="734187">
                  <a:moveTo>
                    <a:pt x="0" y="99441"/>
                  </a:moveTo>
                  <a:cubicBezTo>
                    <a:pt x="0" y="44577"/>
                    <a:pt x="44577" y="0"/>
                    <a:pt x="99441" y="0"/>
                  </a:cubicBezTo>
                  <a:lnTo>
                    <a:pt x="12248134" y="0"/>
                  </a:lnTo>
                  <a:cubicBezTo>
                    <a:pt x="12303125" y="0"/>
                    <a:pt x="12347575" y="44577"/>
                    <a:pt x="12347575" y="99441"/>
                  </a:cubicBezTo>
                  <a:lnTo>
                    <a:pt x="12347575" y="634746"/>
                  </a:lnTo>
                  <a:cubicBezTo>
                    <a:pt x="12347575" y="689737"/>
                    <a:pt x="12302998" y="734187"/>
                    <a:pt x="12248134" y="734187"/>
                  </a:cubicBezTo>
                  <a:lnTo>
                    <a:pt x="99441" y="734187"/>
                  </a:lnTo>
                  <a:cubicBezTo>
                    <a:pt x="44577" y="734187"/>
                    <a:pt x="0" y="689737"/>
                    <a:pt x="0" y="634746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519832" y="6573590"/>
            <a:ext cx="9278242" cy="550664"/>
            <a:chOff x="0" y="0"/>
            <a:chExt cx="12370990" cy="73421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371070" cy="734187"/>
            </a:xfrm>
            <a:custGeom>
              <a:avLst/>
              <a:gdLst/>
              <a:ahLst/>
              <a:cxnLst/>
              <a:rect l="l" t="t" r="r" b="b"/>
              <a:pathLst>
                <a:path w="12371070" h="734187">
                  <a:moveTo>
                    <a:pt x="0" y="35560"/>
                  </a:moveTo>
                  <a:cubicBezTo>
                    <a:pt x="0" y="15875"/>
                    <a:pt x="15875" y="0"/>
                    <a:pt x="35560" y="0"/>
                  </a:cubicBezTo>
                  <a:lnTo>
                    <a:pt x="12335510" y="0"/>
                  </a:lnTo>
                  <a:cubicBezTo>
                    <a:pt x="12355195" y="0"/>
                    <a:pt x="12371070" y="15875"/>
                    <a:pt x="12371070" y="35560"/>
                  </a:cubicBezTo>
                  <a:lnTo>
                    <a:pt x="12371070" y="698627"/>
                  </a:lnTo>
                  <a:cubicBezTo>
                    <a:pt x="12371070" y="718312"/>
                    <a:pt x="12355195" y="734187"/>
                    <a:pt x="12335510" y="734187"/>
                  </a:cubicBezTo>
                  <a:lnTo>
                    <a:pt x="35560" y="734187"/>
                  </a:lnTo>
                  <a:cubicBezTo>
                    <a:pt x="15875" y="734187"/>
                    <a:pt x="0" y="718312"/>
                    <a:pt x="0" y="698627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1697385" y="6582965"/>
            <a:ext cx="8923139" cy="439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074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print(student.keys())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21655" y="7568207"/>
            <a:ext cx="8043396" cy="35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62" b="1">
                <a:solidFill>
                  <a:srgbClr val="00357A"/>
                </a:solidFill>
                <a:latin typeface="Raleway Bold"/>
                <a:ea typeface="Raleway Bold"/>
                <a:cs typeface="Raleway Bold"/>
                <a:sym typeface="Raleway Bold"/>
              </a:rPr>
              <a:t>Advanced Technique: Dictionary Comprehension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02605" y="8061654"/>
            <a:ext cx="10186690" cy="439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274">
                <a:solidFill>
                  <a:srgbClr val="00357A"/>
                </a:solidFill>
                <a:latin typeface="Roboto"/>
                <a:ea typeface="Roboto"/>
                <a:cs typeface="Roboto"/>
                <a:sym typeface="Roboto"/>
              </a:rPr>
              <a:t>A concise way to create dictionaries from expressions or existing data.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621655" y="8670578"/>
            <a:ext cx="10186690" cy="1119187"/>
            <a:chOff x="0" y="0"/>
            <a:chExt cx="13582253" cy="149225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3582143" cy="1492250"/>
            </a:xfrm>
            <a:custGeom>
              <a:avLst/>
              <a:gdLst/>
              <a:ahLst/>
              <a:cxnLst/>
              <a:rect l="l" t="t" r="r" b="b"/>
              <a:pathLst>
                <a:path w="13582143" h="1492250">
                  <a:moveTo>
                    <a:pt x="0" y="99441"/>
                  </a:moveTo>
                  <a:cubicBezTo>
                    <a:pt x="0" y="44577"/>
                    <a:pt x="44577" y="0"/>
                    <a:pt x="99441" y="0"/>
                  </a:cubicBezTo>
                  <a:lnTo>
                    <a:pt x="13482701" y="0"/>
                  </a:lnTo>
                  <a:cubicBezTo>
                    <a:pt x="13537693" y="0"/>
                    <a:pt x="13582143" y="44577"/>
                    <a:pt x="13582143" y="99441"/>
                  </a:cubicBezTo>
                  <a:lnTo>
                    <a:pt x="13582143" y="1392809"/>
                  </a:lnTo>
                  <a:cubicBezTo>
                    <a:pt x="13582143" y="1447800"/>
                    <a:pt x="13537566" y="1492250"/>
                    <a:pt x="13482701" y="1492250"/>
                  </a:cubicBezTo>
                  <a:lnTo>
                    <a:pt x="99441" y="1492250"/>
                  </a:lnTo>
                  <a:cubicBezTo>
                    <a:pt x="44450" y="1492250"/>
                    <a:pt x="0" y="1447673"/>
                    <a:pt x="0" y="1392809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612874" y="8670578"/>
            <a:ext cx="10204251" cy="1119187"/>
            <a:chOff x="0" y="0"/>
            <a:chExt cx="13605668" cy="149225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3605638" cy="1492250"/>
            </a:xfrm>
            <a:custGeom>
              <a:avLst/>
              <a:gdLst/>
              <a:ahLst/>
              <a:cxnLst/>
              <a:rect l="l" t="t" r="r" b="b"/>
              <a:pathLst>
                <a:path w="13605638" h="1492250">
                  <a:moveTo>
                    <a:pt x="0" y="35560"/>
                  </a:moveTo>
                  <a:cubicBezTo>
                    <a:pt x="0" y="15875"/>
                    <a:pt x="15875" y="0"/>
                    <a:pt x="35560" y="0"/>
                  </a:cubicBezTo>
                  <a:lnTo>
                    <a:pt x="13570077" y="0"/>
                  </a:lnTo>
                  <a:cubicBezTo>
                    <a:pt x="13589763" y="0"/>
                    <a:pt x="13605638" y="15875"/>
                    <a:pt x="13605638" y="35560"/>
                  </a:cubicBezTo>
                  <a:lnTo>
                    <a:pt x="13605638" y="1456690"/>
                  </a:lnTo>
                  <a:cubicBezTo>
                    <a:pt x="13605638" y="1476375"/>
                    <a:pt x="13589763" y="1492250"/>
                    <a:pt x="13570077" y="1492250"/>
                  </a:cubicBezTo>
                  <a:lnTo>
                    <a:pt x="35560" y="1492250"/>
                  </a:lnTo>
                  <a:cubicBezTo>
                    <a:pt x="15875" y="1492250"/>
                    <a:pt x="0" y="1476375"/>
                    <a:pt x="0" y="1456690"/>
                  </a:cubicBezTo>
                  <a:close/>
                </a:path>
              </a:pathLst>
            </a:custGeom>
            <a:solidFill>
              <a:srgbClr val="A2BEEB"/>
            </a:solidFill>
          </p:spPr>
        </p:sp>
      </p:grpSp>
      <p:sp>
        <p:nvSpPr>
          <p:cNvPr id="47" name="TextBox 47"/>
          <p:cNvSpPr txBox="1"/>
          <p:nvPr/>
        </p:nvSpPr>
        <p:spPr>
          <a:xfrm>
            <a:off x="790426" y="8699004"/>
            <a:ext cx="9849147" cy="72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1774">
                <a:solidFill>
                  <a:srgbClr val="00357A"/>
                </a:solidFill>
                <a:latin typeface="Consolas"/>
                <a:ea typeface="Consolas"/>
                <a:cs typeface="Consolas"/>
                <a:sym typeface="Consolas"/>
              </a:rPr>
              <a:t># Maps numbers 0-4 to their squaressquares = {x: x**2 for x in range(5)} # Output: {0: 0, 1: 1, 2: 4, 3: 9, 4: 16}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952500"/>
            <a:ext cx="18288000" cy="1546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endParaRPr lang="en-US" sz="3999" dirty="0">
              <a:solidFill>
                <a:srgbClr val="00357A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6299"/>
              </a:lnSpc>
              <a:spcBef>
                <a:spcPct val="0"/>
              </a:spcBef>
            </a:pPr>
            <a:endParaRPr lang="en-US" sz="3999" dirty="0">
              <a:solidFill>
                <a:srgbClr val="00357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A1DBA5-03C9-6599-F323-4EE4A494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66700"/>
            <a:ext cx="8229600" cy="1143000"/>
          </a:xfrm>
        </p:spPr>
        <p:txBody>
          <a:bodyPr/>
          <a:lstStyle/>
          <a:p>
            <a:r>
              <a:rPr lang="en-US" dirty="0"/>
              <a:t>Let’s 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B08EF8-CCC1-208A-22CF-94768610BDD7}"/>
              </a:ext>
            </a:extLst>
          </p:cNvPr>
          <p:cNvSpPr txBox="1"/>
          <p:nvPr/>
        </p:nvSpPr>
        <p:spPr>
          <a:xfrm>
            <a:off x="838200" y="1409700"/>
            <a:ext cx="16916400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Create a list and set with five fruits. Display the first and last fruit.</a:t>
            </a:r>
          </a:p>
          <a:p>
            <a:endParaRPr lang="en-US" sz="3200" b="0" i="0" u="none" strike="noStrike" baseline="0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Create a dictionary with 3 students and their marks. Print all names and their marks.</a:t>
            </a:r>
          </a:p>
          <a:p>
            <a:endParaRPr lang="en-US" sz="3200" b="0" i="0" u="none" strike="noStrike" baseline="0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From a dictionary of student names and marks, find and print the student with the highest</a:t>
            </a:r>
          </a:p>
          <a:p>
            <a:r>
              <a:rPr lang="en-US" sz="32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 mark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.</a:t>
            </a:r>
          </a:p>
          <a:p>
            <a:endParaRPr lang="en-US" sz="3200" b="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WAP to ask the user to enter names of their 3 favorite movies &amp; store them in a list.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b="0" i="0" u="none" strike="noStrike" baseline="0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WAP to check if a list contains a palindrome of elements. (Hint: use copy( ) method)</a:t>
            </a:r>
          </a:p>
          <a:p>
            <a:endParaRPr lang="en-US" sz="3200" b="0" i="0" u="none" strike="noStrike" baseline="0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WAP to count the number of students with the “A” grade in the following tuple.</a:t>
            </a:r>
          </a:p>
          <a:p>
            <a:r>
              <a:rPr lang="pt-BR" sz="32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 [“C”, “D”, “A”, “A”, “B”, “B”, “A”]</a:t>
            </a:r>
          </a:p>
          <a:p>
            <a:r>
              <a:rPr lang="en-US" sz="32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Store the above values in a list &amp; sort them from “A” to “D”</a:t>
            </a:r>
          </a:p>
        </p:txBody>
      </p:sp>
    </p:spTree>
    <p:extLst>
      <p:ext uri="{BB962C8B-B14F-4D97-AF65-F5344CB8AC3E}">
        <p14:creationId xmlns:p14="http://schemas.microsoft.com/office/powerpoint/2010/main" val="2678592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952500"/>
            <a:ext cx="18288000" cy="1546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endParaRPr lang="en-US" sz="3999" dirty="0">
              <a:solidFill>
                <a:srgbClr val="00357A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6299"/>
              </a:lnSpc>
              <a:spcBef>
                <a:spcPct val="0"/>
              </a:spcBef>
            </a:pPr>
            <a:endParaRPr lang="en-US" sz="3999" dirty="0">
              <a:solidFill>
                <a:srgbClr val="00357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A1DBA5-03C9-6599-F323-4EE4A494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66700"/>
            <a:ext cx="8229600" cy="1143000"/>
          </a:xfrm>
        </p:spPr>
        <p:txBody>
          <a:bodyPr/>
          <a:lstStyle/>
          <a:p>
            <a:r>
              <a:rPr lang="en-US" dirty="0"/>
              <a:t>Let’s 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B08EF8-CCC1-208A-22CF-94768610BDD7}"/>
              </a:ext>
            </a:extLst>
          </p:cNvPr>
          <p:cNvSpPr txBox="1"/>
          <p:nvPr/>
        </p:nvSpPr>
        <p:spPr>
          <a:xfrm>
            <a:off x="838200" y="1409700"/>
            <a:ext cx="169164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Store following word meanings in a python dictionary 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u="none" strike="noStrike" baseline="0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You are given a list of subjects for students. Assume one classroom is required for 1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subject. How many classrooms are needed by all students.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u="none" strike="noStrike" baseline="0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”python”,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“java”,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“C++”,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“python”, “</a:t>
            </a:r>
            <a:r>
              <a:rPr lang="en-US" sz="2400" b="0" i="0" u="none" strike="noStrike" baseline="0" dirty="0" err="1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javascript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24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“java”,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“python”,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“java,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“C++”,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4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“C”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Store following word meanings in a python dictionary :</a:t>
            </a:r>
          </a:p>
          <a:p>
            <a:pPr algn="l"/>
            <a:r>
              <a:rPr lang="en-US" sz="24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table : “a piece of furniture”, “list of facts &amp; figures”</a:t>
            </a:r>
          </a:p>
          <a:p>
            <a:pPr algn="l"/>
            <a:r>
              <a:rPr lang="en-US" sz="24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cat : “a small animal”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u="none" strike="noStrike" baseline="0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u="none" strike="noStrike" baseline="0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WAP to enter marks of 3 subjects from the user and store them in a dictionary. Start with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an empty dictionary &amp; add one by one. Use subject name as key &amp; marks as value.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u="none" strike="noStrike" baseline="0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Figure out a way to store 9 &amp; 9.0 as separate values in the set.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(You can take help of built-in data types)</a:t>
            </a:r>
          </a:p>
        </p:txBody>
      </p:sp>
    </p:spTree>
    <p:extLst>
      <p:ext uri="{BB962C8B-B14F-4D97-AF65-F5344CB8AC3E}">
        <p14:creationId xmlns:p14="http://schemas.microsoft.com/office/powerpoint/2010/main" val="1151764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2214</Words>
  <Application>Microsoft Office PowerPoint</Application>
  <PresentationFormat>Custom</PresentationFormat>
  <Paragraphs>192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Roboto</vt:lpstr>
      <vt:lpstr>Canva Sans Italics</vt:lpstr>
      <vt:lpstr>Canva Sans</vt:lpstr>
      <vt:lpstr>Consolas Bold</vt:lpstr>
      <vt:lpstr>Canva Sans Bold</vt:lpstr>
      <vt:lpstr>Raleway Bold</vt:lpstr>
      <vt:lpstr>Arial</vt:lpstr>
      <vt:lpstr>Consolas</vt:lpstr>
      <vt:lpstr>Raleway</vt:lpstr>
      <vt:lpstr>Calibri</vt:lpstr>
      <vt:lpstr>Roboto Bold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Practice</vt:lpstr>
      <vt:lpstr>Let’s 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in Python</dc:title>
  <cp:lastModifiedBy>Anish Dahal</cp:lastModifiedBy>
  <cp:revision>5</cp:revision>
  <dcterms:created xsi:type="dcterms:W3CDTF">2006-08-16T00:00:00Z</dcterms:created>
  <dcterms:modified xsi:type="dcterms:W3CDTF">2025-11-22T07:11:56Z</dcterms:modified>
  <dc:identifier>DAG1RkRKDH0</dc:identifier>
</cp:coreProperties>
</file>