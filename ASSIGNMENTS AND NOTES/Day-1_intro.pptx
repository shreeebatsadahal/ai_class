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Canva Sans" panose="020B0604020202020204" charset="0"/>
      <p:regular r:id="rId23"/>
    </p:embeddedFont>
    <p:embeddedFont>
      <p:font typeface="Canva Sans Bold" panose="020B0604020202020204" charset="0"/>
      <p:regular r:id="rId24"/>
    </p:embeddedFont>
    <p:embeddedFont>
      <p:font typeface="Inter" panose="020B0604020202020204" charset="0"/>
      <p:regular r:id="rId25"/>
    </p:embeddedFont>
    <p:embeddedFont>
      <p:font typeface="Inter Bold" panose="020B0604020202020204" charset="0"/>
      <p:regular r:id="rId26"/>
    </p:embeddedFont>
    <p:embeddedFont>
      <p:font typeface="Poppins" panose="00000500000000000000" pitchFamily="2"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Freeform 2"/>
          <p:cNvSpPr/>
          <p:nvPr/>
        </p:nvSpPr>
        <p:spPr>
          <a:xfrm>
            <a:off x="9054226" y="2767389"/>
            <a:ext cx="8534795" cy="5494623"/>
          </a:xfrm>
          <a:custGeom>
            <a:avLst/>
            <a:gdLst/>
            <a:ahLst/>
            <a:cxnLst/>
            <a:rect l="l" t="t" r="r" b="b"/>
            <a:pathLst>
              <a:path w="8534795" h="5494623">
                <a:moveTo>
                  <a:pt x="0" y="0"/>
                </a:moveTo>
                <a:lnTo>
                  <a:pt x="8534795" y="0"/>
                </a:lnTo>
                <a:lnTo>
                  <a:pt x="8534795" y="5494623"/>
                </a:lnTo>
                <a:lnTo>
                  <a:pt x="0" y="5494623"/>
                </a:lnTo>
                <a:lnTo>
                  <a:pt x="0" y="0"/>
                </a:lnTo>
                <a:close/>
              </a:path>
            </a:pathLst>
          </a:custGeom>
          <a:blipFill>
            <a:blip r:embed="rId2"/>
            <a:stretch>
              <a:fillRect/>
            </a:stretch>
          </a:blipFill>
        </p:spPr>
      </p:sp>
      <p:sp>
        <p:nvSpPr>
          <p:cNvPr id="3" name="TextBox 3"/>
          <p:cNvSpPr txBox="1"/>
          <p:nvPr/>
        </p:nvSpPr>
        <p:spPr>
          <a:xfrm>
            <a:off x="1028700" y="1473284"/>
            <a:ext cx="16051052" cy="828041"/>
          </a:xfrm>
          <a:prstGeom prst="rect">
            <a:avLst/>
          </a:prstGeom>
        </p:spPr>
        <p:txBody>
          <a:bodyPr lIns="0" tIns="0" rIns="0" bIns="0" rtlCol="0" anchor="t">
            <a:spAutoFit/>
          </a:bodyPr>
          <a:lstStyle/>
          <a:p>
            <a:pPr algn="ctr">
              <a:lnSpc>
                <a:spcPts val="6859"/>
              </a:lnSpc>
              <a:spcBef>
                <a:spcPct val="0"/>
              </a:spcBef>
            </a:pPr>
            <a:r>
              <a:rPr lang="en-US" sz="4899" b="1">
                <a:solidFill>
                  <a:srgbClr val="00357A"/>
                </a:solidFill>
                <a:latin typeface="Canva Sans Bold"/>
                <a:ea typeface="Canva Sans Bold"/>
                <a:cs typeface="Canva Sans Bold"/>
                <a:sym typeface="Canva Sans Bold"/>
              </a:rPr>
              <a:t>Welcome to Python &amp; Machine Learning Adventure</a:t>
            </a:r>
          </a:p>
        </p:txBody>
      </p:sp>
      <p:sp>
        <p:nvSpPr>
          <p:cNvPr id="4" name="TextBox 4"/>
          <p:cNvSpPr txBox="1"/>
          <p:nvPr/>
        </p:nvSpPr>
        <p:spPr>
          <a:xfrm>
            <a:off x="1028700" y="2919313"/>
            <a:ext cx="7801878" cy="5452110"/>
          </a:xfrm>
          <a:prstGeom prst="rect">
            <a:avLst/>
          </a:prstGeom>
        </p:spPr>
        <p:txBody>
          <a:bodyPr lIns="0" tIns="0" rIns="0" bIns="0" rtlCol="0" anchor="t">
            <a:spAutoFit/>
          </a:bodyPr>
          <a:lstStyle/>
          <a:p>
            <a:pPr algn="l">
              <a:lnSpc>
                <a:spcPts val="5319"/>
              </a:lnSpc>
            </a:pPr>
            <a:r>
              <a:rPr lang="en-US" sz="3799" b="1">
                <a:solidFill>
                  <a:srgbClr val="00357A"/>
                </a:solidFill>
                <a:latin typeface="Canva Sans Bold"/>
                <a:ea typeface="Canva Sans Bold"/>
                <a:cs typeface="Canva Sans Bold"/>
                <a:sym typeface="Canva Sans Bold"/>
              </a:rPr>
              <a:t>Today’s objectives:</a:t>
            </a:r>
          </a:p>
          <a:p>
            <a:pPr algn="l">
              <a:lnSpc>
                <a:spcPts val="4759"/>
              </a:lnSpc>
            </a:pPr>
            <a:endParaRPr lang="en-US" sz="3799" b="1">
              <a:solidFill>
                <a:srgbClr val="00357A"/>
              </a:solidFill>
              <a:latin typeface="Canva Sans Bold"/>
              <a:ea typeface="Canva Sans Bold"/>
              <a:cs typeface="Canva Sans Bold"/>
              <a:sym typeface="Canva Sans Bold"/>
            </a:endParaRPr>
          </a:p>
          <a:p>
            <a:pPr marL="734059" lvl="1" indent="-367030" algn="l">
              <a:lnSpc>
                <a:spcPts val="4759"/>
              </a:lnSpc>
              <a:buFont typeface="Arial"/>
              <a:buChar char="•"/>
            </a:pPr>
            <a:r>
              <a:rPr lang="en-US" sz="3399" b="1">
                <a:solidFill>
                  <a:srgbClr val="00357A"/>
                </a:solidFill>
                <a:latin typeface="Canva Sans Bold"/>
                <a:ea typeface="Canva Sans Bold"/>
                <a:cs typeface="Canva Sans Bold"/>
                <a:sym typeface="Canva Sans Bold"/>
              </a:rPr>
              <a:t>Learn how code and data can make machines intelligent (fundamental concepts)</a:t>
            </a:r>
          </a:p>
          <a:p>
            <a:pPr algn="l">
              <a:lnSpc>
                <a:spcPts val="4759"/>
              </a:lnSpc>
            </a:pPr>
            <a:endParaRPr lang="en-US" sz="3399" b="1">
              <a:solidFill>
                <a:srgbClr val="00357A"/>
              </a:solidFill>
              <a:latin typeface="Canva Sans Bold"/>
              <a:ea typeface="Canva Sans Bold"/>
              <a:cs typeface="Canva Sans Bold"/>
              <a:sym typeface="Canva Sans Bold"/>
            </a:endParaRPr>
          </a:p>
          <a:p>
            <a:pPr marL="734059" lvl="1" indent="-367030" algn="l">
              <a:lnSpc>
                <a:spcPts val="4759"/>
              </a:lnSpc>
              <a:buFont typeface="Arial"/>
              <a:buChar char="•"/>
            </a:pPr>
            <a:r>
              <a:rPr lang="en-US" sz="3399" b="1">
                <a:solidFill>
                  <a:srgbClr val="00357A"/>
                </a:solidFill>
                <a:latin typeface="Canva Sans Bold"/>
                <a:ea typeface="Canva Sans Bold"/>
                <a:cs typeface="Canva Sans Bold"/>
                <a:sym typeface="Canva Sans Bold"/>
              </a:rPr>
              <a:t>Setup your device for Ready to code</a:t>
            </a:r>
          </a:p>
          <a:p>
            <a:pPr algn="l">
              <a:lnSpc>
                <a:spcPts val="4759"/>
              </a:lnSpc>
              <a:spcBef>
                <a:spcPct val="0"/>
              </a:spcBef>
            </a:pPr>
            <a:endParaRPr lang="en-US" sz="3399" b="1">
              <a:solidFill>
                <a:srgbClr val="00357A"/>
              </a:solidFill>
              <a:latin typeface="Canva Sans Bold"/>
              <a:ea typeface="Canva Sans Bold"/>
              <a:cs typeface="Canva Sans Bold"/>
              <a:sym typeface="Canva Sans Bold"/>
            </a:endParaRPr>
          </a:p>
        </p:txBody>
      </p:sp>
      <p:sp>
        <p:nvSpPr>
          <p:cNvPr id="5" name="TextBox 5"/>
          <p:cNvSpPr txBox="1"/>
          <p:nvPr/>
        </p:nvSpPr>
        <p:spPr>
          <a:xfrm>
            <a:off x="3532508" y="8955087"/>
            <a:ext cx="14056513" cy="396239"/>
          </a:xfrm>
          <a:prstGeom prst="rect">
            <a:avLst/>
          </a:prstGeom>
        </p:spPr>
        <p:txBody>
          <a:bodyPr lIns="0" tIns="0" rIns="0" bIns="0" rtlCol="0" anchor="t">
            <a:spAutoFit/>
          </a:bodyPr>
          <a:lstStyle/>
          <a:p>
            <a:pPr algn="ctr">
              <a:lnSpc>
                <a:spcPts val="3360"/>
              </a:lnSpc>
              <a:spcBef>
                <a:spcPct val="0"/>
              </a:spcBef>
            </a:pPr>
            <a:r>
              <a:rPr lang="en-US" sz="2400" b="1">
                <a:solidFill>
                  <a:srgbClr val="00357A"/>
                </a:solidFill>
                <a:latin typeface="Canva Sans Bold"/>
                <a:ea typeface="Canva Sans Bold"/>
                <a:cs typeface="Canva Sans Bold"/>
                <a:sym typeface="Canva Sans Bold"/>
              </a:rPr>
              <a:t>Organized by Sayapatri Group – Society, IT &amp;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99C5FF"/>
            </a:solidFill>
          </p:spPr>
        </p:sp>
      </p:grpSp>
      <p:sp>
        <p:nvSpPr>
          <p:cNvPr id="6" name="TextBox 6"/>
          <p:cNvSpPr txBox="1"/>
          <p:nvPr/>
        </p:nvSpPr>
        <p:spPr>
          <a:xfrm>
            <a:off x="1028700" y="781050"/>
            <a:ext cx="16230600" cy="5929910"/>
          </a:xfrm>
          <a:prstGeom prst="rect">
            <a:avLst/>
          </a:prstGeom>
        </p:spPr>
        <p:txBody>
          <a:bodyPr lIns="0" tIns="0" rIns="0" bIns="0" rtlCol="0" anchor="t">
            <a:spAutoFit/>
          </a:bodyPr>
          <a:lstStyle/>
          <a:p>
            <a:pPr algn="l">
              <a:lnSpc>
                <a:spcPts val="7819"/>
              </a:lnSpc>
            </a:pPr>
            <a:r>
              <a:rPr lang="en-US" sz="4801">
                <a:solidFill>
                  <a:srgbClr val="00357A"/>
                </a:solidFill>
                <a:latin typeface="Poppins"/>
                <a:ea typeface="Poppins"/>
                <a:cs typeface="Poppins"/>
                <a:sym typeface="Poppins"/>
              </a:rPr>
              <a:t>Welcome to an exciting journey into the world of Artificial Intelligence! This course will equip you with the foundational skills in Python, Machine Learning, and Deep Learning to navigate and innovate in the rapidly evolving tech landscape. Get ready to transform your understanding and career prospects.</a:t>
            </a:r>
          </a:p>
        </p:txBody>
      </p:sp>
      <p:sp>
        <p:nvSpPr>
          <p:cNvPr id="7" name="Freeform 7"/>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0999"/>
            </a:blip>
            <a:stretch>
              <a:fillRect t="-7225" b="-7225"/>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99C5FF"/>
            </a:solidFill>
          </p:spPr>
        </p:sp>
      </p:grpSp>
      <p:sp>
        <p:nvSpPr>
          <p:cNvPr id="6" name="TextBox 6"/>
          <p:cNvSpPr txBox="1"/>
          <p:nvPr/>
        </p:nvSpPr>
        <p:spPr>
          <a:xfrm>
            <a:off x="1028700" y="2125627"/>
            <a:ext cx="16303526" cy="1800522"/>
          </a:xfrm>
          <a:prstGeom prst="rect">
            <a:avLst/>
          </a:prstGeom>
        </p:spPr>
        <p:txBody>
          <a:bodyPr lIns="0" tIns="0" rIns="0" bIns="0" rtlCol="0" anchor="t">
            <a:spAutoFit/>
          </a:bodyPr>
          <a:lstStyle/>
          <a:p>
            <a:pPr algn="l">
              <a:lnSpc>
                <a:spcPts val="6937"/>
              </a:lnSpc>
            </a:pPr>
            <a:r>
              <a:rPr lang="en-US" sz="5562" b="1">
                <a:solidFill>
                  <a:srgbClr val="00357A"/>
                </a:solidFill>
                <a:latin typeface="Inter Bold"/>
                <a:ea typeface="Inter Bold"/>
                <a:cs typeface="Inter Bold"/>
                <a:sym typeface="Inter Bold"/>
              </a:rPr>
              <a:t>Why Python, Machine Learning, &amp; Deep Learning?</a:t>
            </a:r>
          </a:p>
        </p:txBody>
      </p:sp>
      <p:grpSp>
        <p:nvGrpSpPr>
          <p:cNvPr id="7" name="Group 7"/>
          <p:cNvGrpSpPr/>
          <p:nvPr/>
        </p:nvGrpSpPr>
        <p:grpSpPr>
          <a:xfrm>
            <a:off x="992238" y="4567684"/>
            <a:ext cx="708720" cy="708720"/>
            <a:chOff x="0" y="0"/>
            <a:chExt cx="944960" cy="944960"/>
          </a:xfrm>
        </p:grpSpPr>
        <p:sp>
          <p:nvSpPr>
            <p:cNvPr id="8" name="Freeform 8" descr="preencoded.png"/>
            <p:cNvSpPr/>
            <p:nvPr/>
          </p:nvSpPr>
          <p:spPr>
            <a:xfrm>
              <a:off x="0" y="0"/>
              <a:ext cx="945007" cy="945007"/>
            </a:xfrm>
            <a:custGeom>
              <a:avLst/>
              <a:gdLst/>
              <a:ahLst/>
              <a:cxnLst/>
              <a:rect l="l" t="t" r="r" b="b"/>
              <a:pathLst>
                <a:path w="945007" h="945007">
                  <a:moveTo>
                    <a:pt x="0" y="0"/>
                  </a:moveTo>
                  <a:lnTo>
                    <a:pt x="945007" y="0"/>
                  </a:lnTo>
                  <a:lnTo>
                    <a:pt x="945007" y="945007"/>
                  </a:lnTo>
                  <a:lnTo>
                    <a:pt x="0" y="945007"/>
                  </a:lnTo>
                  <a:lnTo>
                    <a:pt x="0" y="0"/>
                  </a:lnTo>
                  <a:close/>
                </a:path>
              </a:pathLst>
            </a:custGeom>
            <a:blipFill>
              <a:blip r:embed="rId2"/>
              <a:stretch>
                <a:fillRect r="4" b="4"/>
              </a:stretch>
            </a:blipFill>
          </p:spPr>
        </p:sp>
      </p:grpSp>
      <p:sp>
        <p:nvSpPr>
          <p:cNvPr id="9" name="TextBox 9"/>
          <p:cNvSpPr txBox="1"/>
          <p:nvPr/>
        </p:nvSpPr>
        <p:spPr>
          <a:xfrm>
            <a:off x="992238" y="5611714"/>
            <a:ext cx="3544044" cy="467043"/>
          </a:xfrm>
          <a:prstGeom prst="rect">
            <a:avLst/>
          </a:prstGeom>
        </p:spPr>
        <p:txBody>
          <a:bodyPr lIns="0" tIns="0" rIns="0" bIns="0" rtlCol="0" anchor="t">
            <a:spAutoFit/>
          </a:bodyPr>
          <a:lstStyle/>
          <a:p>
            <a:pPr algn="l">
              <a:lnSpc>
                <a:spcPts val="3687"/>
              </a:lnSpc>
            </a:pPr>
            <a:r>
              <a:rPr lang="en-US" sz="2949" b="1">
                <a:solidFill>
                  <a:srgbClr val="00357A"/>
                </a:solidFill>
                <a:latin typeface="Inter Bold"/>
                <a:ea typeface="Inter Bold"/>
                <a:cs typeface="Inter Bold"/>
                <a:sym typeface="Inter Bold"/>
              </a:rPr>
              <a:t>Real-World Impact</a:t>
            </a:r>
          </a:p>
        </p:txBody>
      </p:sp>
      <p:sp>
        <p:nvSpPr>
          <p:cNvPr id="10" name="TextBox 10"/>
          <p:cNvSpPr txBox="1"/>
          <p:nvPr/>
        </p:nvSpPr>
        <p:spPr>
          <a:xfrm>
            <a:off x="992238" y="6129486"/>
            <a:ext cx="5198269" cy="2640466"/>
          </a:xfrm>
          <a:prstGeom prst="rect">
            <a:avLst/>
          </a:prstGeom>
        </p:spPr>
        <p:txBody>
          <a:bodyPr lIns="0" tIns="0" rIns="0" bIns="0" rtlCol="0" anchor="t">
            <a:spAutoFit/>
          </a:bodyPr>
          <a:lstStyle/>
          <a:p>
            <a:pPr algn="l">
              <a:lnSpc>
                <a:spcPts val="4213"/>
              </a:lnSpc>
            </a:pPr>
            <a:r>
              <a:rPr lang="en-US" sz="2587">
                <a:solidFill>
                  <a:srgbClr val="00357A"/>
                </a:solidFill>
                <a:latin typeface="Inter"/>
                <a:ea typeface="Inter"/>
                <a:cs typeface="Inter"/>
                <a:sym typeface="Inter"/>
              </a:rPr>
              <a:t>From self-driving cars to personalized recommendations, AI is everywhere, solving complex problems and enhancing daily life.</a:t>
            </a:r>
          </a:p>
        </p:txBody>
      </p:sp>
      <p:grpSp>
        <p:nvGrpSpPr>
          <p:cNvPr id="11" name="Group 11"/>
          <p:cNvGrpSpPr/>
          <p:nvPr/>
        </p:nvGrpSpPr>
        <p:grpSpPr>
          <a:xfrm>
            <a:off x="6544866" y="4567684"/>
            <a:ext cx="708720" cy="708720"/>
            <a:chOff x="0" y="0"/>
            <a:chExt cx="944960" cy="944960"/>
          </a:xfrm>
        </p:grpSpPr>
        <p:sp>
          <p:nvSpPr>
            <p:cNvPr id="12" name="Freeform 12" descr="preencoded.png"/>
            <p:cNvSpPr/>
            <p:nvPr/>
          </p:nvSpPr>
          <p:spPr>
            <a:xfrm>
              <a:off x="0" y="0"/>
              <a:ext cx="945007" cy="945007"/>
            </a:xfrm>
            <a:custGeom>
              <a:avLst/>
              <a:gdLst/>
              <a:ahLst/>
              <a:cxnLst/>
              <a:rect l="l" t="t" r="r" b="b"/>
              <a:pathLst>
                <a:path w="945007" h="945007">
                  <a:moveTo>
                    <a:pt x="0" y="0"/>
                  </a:moveTo>
                  <a:lnTo>
                    <a:pt x="945007" y="0"/>
                  </a:lnTo>
                  <a:lnTo>
                    <a:pt x="945007" y="945007"/>
                  </a:lnTo>
                  <a:lnTo>
                    <a:pt x="0" y="945007"/>
                  </a:lnTo>
                  <a:lnTo>
                    <a:pt x="0" y="0"/>
                  </a:lnTo>
                  <a:close/>
                </a:path>
              </a:pathLst>
            </a:custGeom>
            <a:blipFill>
              <a:blip r:embed="rId3"/>
              <a:stretch>
                <a:fillRect r="4" b="4"/>
              </a:stretch>
            </a:blipFill>
          </p:spPr>
        </p:sp>
      </p:grpSp>
      <p:sp>
        <p:nvSpPr>
          <p:cNvPr id="13" name="TextBox 13"/>
          <p:cNvSpPr txBox="1"/>
          <p:nvPr/>
        </p:nvSpPr>
        <p:spPr>
          <a:xfrm>
            <a:off x="6679926" y="5611714"/>
            <a:ext cx="4249821" cy="467043"/>
          </a:xfrm>
          <a:prstGeom prst="rect">
            <a:avLst/>
          </a:prstGeom>
        </p:spPr>
        <p:txBody>
          <a:bodyPr lIns="0" tIns="0" rIns="0" bIns="0" rtlCol="0" anchor="t">
            <a:spAutoFit/>
          </a:bodyPr>
          <a:lstStyle/>
          <a:p>
            <a:pPr algn="l">
              <a:lnSpc>
                <a:spcPts val="3687"/>
              </a:lnSpc>
            </a:pPr>
            <a:r>
              <a:rPr lang="en-US" sz="2949" b="1">
                <a:solidFill>
                  <a:srgbClr val="00357A"/>
                </a:solidFill>
                <a:latin typeface="Inter Bold"/>
                <a:ea typeface="Inter Bold"/>
                <a:cs typeface="Inter Bold"/>
                <a:sym typeface="Inter Bold"/>
              </a:rPr>
              <a:t>High Industry Demand</a:t>
            </a:r>
          </a:p>
        </p:txBody>
      </p:sp>
      <p:sp>
        <p:nvSpPr>
          <p:cNvPr id="14" name="TextBox 14"/>
          <p:cNvSpPr txBox="1"/>
          <p:nvPr/>
        </p:nvSpPr>
        <p:spPr>
          <a:xfrm>
            <a:off x="6544866" y="6129486"/>
            <a:ext cx="5198269" cy="2640466"/>
          </a:xfrm>
          <a:prstGeom prst="rect">
            <a:avLst/>
          </a:prstGeom>
        </p:spPr>
        <p:txBody>
          <a:bodyPr lIns="0" tIns="0" rIns="0" bIns="0" rtlCol="0" anchor="t">
            <a:spAutoFit/>
          </a:bodyPr>
          <a:lstStyle/>
          <a:p>
            <a:pPr algn="l">
              <a:lnSpc>
                <a:spcPts val="4213"/>
              </a:lnSpc>
            </a:pPr>
            <a:r>
              <a:rPr lang="en-US" sz="2587">
                <a:solidFill>
                  <a:srgbClr val="00357A"/>
                </a:solidFill>
                <a:latin typeface="Inter"/>
                <a:ea typeface="Inter"/>
                <a:cs typeface="Inter"/>
                <a:sym typeface="Inter"/>
              </a:rPr>
              <a:t>AI engineers, data scientists, and ML specialists are among the most sought-after professionals globally, commanding competitive salaries.</a:t>
            </a:r>
          </a:p>
        </p:txBody>
      </p:sp>
      <p:grpSp>
        <p:nvGrpSpPr>
          <p:cNvPr id="15" name="Group 15"/>
          <p:cNvGrpSpPr/>
          <p:nvPr/>
        </p:nvGrpSpPr>
        <p:grpSpPr>
          <a:xfrm>
            <a:off x="12097494" y="4567684"/>
            <a:ext cx="708720" cy="708720"/>
            <a:chOff x="0" y="0"/>
            <a:chExt cx="944960" cy="944960"/>
          </a:xfrm>
        </p:grpSpPr>
        <p:sp>
          <p:nvSpPr>
            <p:cNvPr id="16" name="Freeform 16" descr="preencoded.png"/>
            <p:cNvSpPr/>
            <p:nvPr/>
          </p:nvSpPr>
          <p:spPr>
            <a:xfrm>
              <a:off x="0" y="0"/>
              <a:ext cx="945007" cy="945007"/>
            </a:xfrm>
            <a:custGeom>
              <a:avLst/>
              <a:gdLst/>
              <a:ahLst/>
              <a:cxnLst/>
              <a:rect l="l" t="t" r="r" b="b"/>
              <a:pathLst>
                <a:path w="945007" h="945007">
                  <a:moveTo>
                    <a:pt x="0" y="0"/>
                  </a:moveTo>
                  <a:lnTo>
                    <a:pt x="945007" y="0"/>
                  </a:lnTo>
                  <a:lnTo>
                    <a:pt x="945007" y="945007"/>
                  </a:lnTo>
                  <a:lnTo>
                    <a:pt x="0" y="945007"/>
                  </a:lnTo>
                  <a:lnTo>
                    <a:pt x="0" y="0"/>
                  </a:lnTo>
                  <a:close/>
                </a:path>
              </a:pathLst>
            </a:custGeom>
            <a:blipFill>
              <a:blip r:embed="rId4"/>
              <a:stretch>
                <a:fillRect r="4" b="4"/>
              </a:stretch>
            </a:blipFill>
          </p:spPr>
        </p:sp>
      </p:grpSp>
      <p:sp>
        <p:nvSpPr>
          <p:cNvPr id="17" name="TextBox 17"/>
          <p:cNvSpPr txBox="1"/>
          <p:nvPr/>
        </p:nvSpPr>
        <p:spPr>
          <a:xfrm>
            <a:off x="12097494" y="5611714"/>
            <a:ext cx="4129305" cy="467043"/>
          </a:xfrm>
          <a:prstGeom prst="rect">
            <a:avLst/>
          </a:prstGeom>
        </p:spPr>
        <p:txBody>
          <a:bodyPr lIns="0" tIns="0" rIns="0" bIns="0" rtlCol="0" anchor="t">
            <a:spAutoFit/>
          </a:bodyPr>
          <a:lstStyle/>
          <a:p>
            <a:pPr algn="l">
              <a:lnSpc>
                <a:spcPts val="3687"/>
              </a:lnSpc>
            </a:pPr>
            <a:r>
              <a:rPr lang="en-US" sz="2949" b="1">
                <a:solidFill>
                  <a:srgbClr val="00357A"/>
                </a:solidFill>
                <a:latin typeface="Inter Bold"/>
                <a:ea typeface="Inter Bold"/>
                <a:cs typeface="Inter Bold"/>
                <a:sym typeface="Inter Bold"/>
              </a:rPr>
              <a:t>Creative &amp; Powerful</a:t>
            </a:r>
          </a:p>
        </p:txBody>
      </p:sp>
      <p:sp>
        <p:nvSpPr>
          <p:cNvPr id="18" name="TextBox 18"/>
          <p:cNvSpPr txBox="1"/>
          <p:nvPr/>
        </p:nvSpPr>
        <p:spPr>
          <a:xfrm>
            <a:off x="12097494" y="6129486"/>
            <a:ext cx="5198269" cy="2107066"/>
          </a:xfrm>
          <a:prstGeom prst="rect">
            <a:avLst/>
          </a:prstGeom>
        </p:spPr>
        <p:txBody>
          <a:bodyPr lIns="0" tIns="0" rIns="0" bIns="0" rtlCol="0" anchor="t">
            <a:spAutoFit/>
          </a:bodyPr>
          <a:lstStyle/>
          <a:p>
            <a:pPr algn="l">
              <a:lnSpc>
                <a:spcPts val="4213"/>
              </a:lnSpc>
            </a:pPr>
            <a:r>
              <a:rPr lang="en-US" sz="2587">
                <a:solidFill>
                  <a:srgbClr val="00357A"/>
                </a:solidFill>
                <a:latin typeface="Inter"/>
                <a:ea typeface="Inter"/>
                <a:cs typeface="Inter"/>
                <a:sym typeface="Inter"/>
              </a:rPr>
              <a:t>It's not just about code; it's about building intelligent systems that can learn, adapt, and innovate across various domains.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99C5FF"/>
            </a:solidFill>
          </p:spPr>
        </p:sp>
      </p:grpSp>
      <p:sp>
        <p:nvSpPr>
          <p:cNvPr id="6" name="TextBox 6"/>
          <p:cNvSpPr txBox="1"/>
          <p:nvPr/>
        </p:nvSpPr>
        <p:spPr>
          <a:xfrm>
            <a:off x="1028700" y="1000125"/>
            <a:ext cx="9445526" cy="1800522"/>
          </a:xfrm>
          <a:prstGeom prst="rect">
            <a:avLst/>
          </a:prstGeom>
        </p:spPr>
        <p:txBody>
          <a:bodyPr lIns="0" tIns="0" rIns="0" bIns="0" rtlCol="0" anchor="t">
            <a:spAutoFit/>
          </a:bodyPr>
          <a:lstStyle/>
          <a:p>
            <a:pPr algn="l">
              <a:lnSpc>
                <a:spcPts val="6937"/>
              </a:lnSpc>
            </a:pPr>
            <a:r>
              <a:rPr lang="en-US" sz="5562" b="1">
                <a:solidFill>
                  <a:srgbClr val="00357A"/>
                </a:solidFill>
                <a:latin typeface="Inter Bold"/>
                <a:ea typeface="Inter Bold"/>
                <a:cs typeface="Inter Bold"/>
                <a:sym typeface="Inter Bold"/>
              </a:rPr>
              <a:t>Unlock Diverse Career Paths</a:t>
            </a:r>
          </a:p>
        </p:txBody>
      </p:sp>
      <p:sp>
        <p:nvSpPr>
          <p:cNvPr id="7" name="TextBox 7"/>
          <p:cNvSpPr txBox="1"/>
          <p:nvPr/>
        </p:nvSpPr>
        <p:spPr>
          <a:xfrm>
            <a:off x="1028700" y="3375273"/>
            <a:ext cx="4376886" cy="1115106"/>
          </a:xfrm>
          <a:prstGeom prst="rect">
            <a:avLst/>
          </a:prstGeom>
        </p:spPr>
        <p:txBody>
          <a:bodyPr lIns="0" tIns="0" rIns="0" bIns="0" rtlCol="0" anchor="t">
            <a:spAutoFit/>
          </a:bodyPr>
          <a:lstStyle/>
          <a:p>
            <a:pPr marL="420388" lvl="1" indent="-210194" algn="l">
              <a:lnSpc>
                <a:spcPts val="4539"/>
              </a:lnSpc>
              <a:buFont typeface="Arial"/>
              <a:buChar char="•"/>
            </a:pPr>
            <a:r>
              <a:rPr lang="en-US" sz="2787" b="1">
                <a:solidFill>
                  <a:srgbClr val="00357A"/>
                </a:solidFill>
                <a:latin typeface="Inter Bold"/>
                <a:ea typeface="Inter Bold"/>
                <a:cs typeface="Inter Bold"/>
                <a:sym typeface="Inter Bold"/>
              </a:rPr>
              <a:t>Data Science:</a:t>
            </a:r>
            <a:r>
              <a:rPr lang="en-US" sz="2787">
                <a:solidFill>
                  <a:srgbClr val="00357A"/>
                </a:solidFill>
                <a:latin typeface="Inter"/>
                <a:ea typeface="Inter"/>
                <a:cs typeface="Inter"/>
                <a:sym typeface="Inter"/>
              </a:rPr>
              <a:t> Extract insights from data.</a:t>
            </a:r>
          </a:p>
        </p:txBody>
      </p:sp>
      <p:sp>
        <p:nvSpPr>
          <p:cNvPr id="8" name="TextBox 8"/>
          <p:cNvSpPr txBox="1"/>
          <p:nvPr/>
        </p:nvSpPr>
        <p:spPr>
          <a:xfrm>
            <a:off x="1028700" y="6436917"/>
            <a:ext cx="4376886" cy="1686606"/>
          </a:xfrm>
          <a:prstGeom prst="rect">
            <a:avLst/>
          </a:prstGeom>
        </p:spPr>
        <p:txBody>
          <a:bodyPr lIns="0" tIns="0" rIns="0" bIns="0" rtlCol="0" anchor="t">
            <a:spAutoFit/>
          </a:bodyPr>
          <a:lstStyle/>
          <a:p>
            <a:pPr marL="420388" lvl="1" indent="-210194" algn="l">
              <a:lnSpc>
                <a:spcPts val="4539"/>
              </a:lnSpc>
              <a:buFont typeface="Arial"/>
              <a:buChar char="•"/>
            </a:pPr>
            <a:r>
              <a:rPr lang="en-US" sz="2787" b="1">
                <a:solidFill>
                  <a:srgbClr val="00357A"/>
                </a:solidFill>
                <a:latin typeface="Inter Bold"/>
                <a:ea typeface="Inter Bold"/>
                <a:cs typeface="Inter Bold"/>
                <a:sym typeface="Inter Bold"/>
              </a:rPr>
              <a:t>AI/ML Research:</a:t>
            </a:r>
            <a:r>
              <a:rPr lang="en-US" sz="2787">
                <a:solidFill>
                  <a:srgbClr val="00357A"/>
                </a:solidFill>
                <a:latin typeface="Inter"/>
                <a:ea typeface="Inter"/>
                <a:cs typeface="Inter"/>
                <a:sym typeface="Inter"/>
              </a:rPr>
              <a:t> Push the boundaries of intelligent systems.</a:t>
            </a:r>
          </a:p>
        </p:txBody>
      </p:sp>
      <p:sp>
        <p:nvSpPr>
          <p:cNvPr id="9" name="TextBox 9"/>
          <p:cNvSpPr txBox="1"/>
          <p:nvPr/>
        </p:nvSpPr>
        <p:spPr>
          <a:xfrm>
            <a:off x="6097340" y="6436917"/>
            <a:ext cx="4376886" cy="2258106"/>
          </a:xfrm>
          <a:prstGeom prst="rect">
            <a:avLst/>
          </a:prstGeom>
        </p:spPr>
        <p:txBody>
          <a:bodyPr lIns="0" tIns="0" rIns="0" bIns="0" rtlCol="0" anchor="t">
            <a:spAutoFit/>
          </a:bodyPr>
          <a:lstStyle/>
          <a:p>
            <a:pPr marL="420388" lvl="1" indent="-210194" algn="l">
              <a:lnSpc>
                <a:spcPts val="4539"/>
              </a:lnSpc>
              <a:buFont typeface="Arial"/>
              <a:buChar char="•"/>
            </a:pPr>
            <a:r>
              <a:rPr lang="en-US" sz="2787" b="1">
                <a:solidFill>
                  <a:srgbClr val="00357A"/>
                </a:solidFill>
                <a:latin typeface="Inter Bold"/>
                <a:ea typeface="Inter Bold"/>
                <a:cs typeface="Inter Bold"/>
                <a:sym typeface="Inter Bold"/>
              </a:rPr>
              <a:t>Deep Learning:</a:t>
            </a:r>
            <a:r>
              <a:rPr lang="en-US" sz="2787">
                <a:solidFill>
                  <a:srgbClr val="00357A"/>
                </a:solidFill>
                <a:latin typeface="Inter"/>
                <a:ea typeface="Inter"/>
                <a:cs typeface="Inter"/>
                <a:sym typeface="Inter"/>
              </a:rPr>
              <a:t> Specialise in Computer Vision, NLP, or Robotics.</a:t>
            </a:r>
          </a:p>
        </p:txBody>
      </p:sp>
      <p:sp>
        <p:nvSpPr>
          <p:cNvPr id="10" name="TextBox 10"/>
          <p:cNvSpPr txBox="1"/>
          <p:nvPr/>
        </p:nvSpPr>
        <p:spPr>
          <a:xfrm>
            <a:off x="6637581" y="3375273"/>
            <a:ext cx="4376886" cy="1686606"/>
          </a:xfrm>
          <a:prstGeom prst="rect">
            <a:avLst/>
          </a:prstGeom>
        </p:spPr>
        <p:txBody>
          <a:bodyPr lIns="0" tIns="0" rIns="0" bIns="0" rtlCol="0" anchor="t">
            <a:spAutoFit/>
          </a:bodyPr>
          <a:lstStyle/>
          <a:p>
            <a:pPr marL="420388" lvl="1" indent="-210194" algn="l">
              <a:lnSpc>
                <a:spcPts val="4539"/>
              </a:lnSpc>
              <a:buFont typeface="Arial"/>
              <a:buChar char="•"/>
            </a:pPr>
            <a:r>
              <a:rPr lang="en-US" sz="2787" b="1">
                <a:solidFill>
                  <a:srgbClr val="00357A"/>
                </a:solidFill>
                <a:latin typeface="Inter Bold"/>
                <a:ea typeface="Inter Bold"/>
                <a:cs typeface="Inter Bold"/>
                <a:sym typeface="Inter Bold"/>
              </a:rPr>
              <a:t>Sector-Specific AI:</a:t>
            </a:r>
            <a:r>
              <a:rPr lang="en-US" sz="2787">
                <a:solidFill>
                  <a:srgbClr val="00357A"/>
                </a:solidFill>
                <a:latin typeface="Inter"/>
                <a:ea typeface="Inter"/>
                <a:cs typeface="Inter"/>
                <a:sym typeface="Inter"/>
              </a:rPr>
              <a:t> Finance, Healthcare, E-commerce, and more.</a:t>
            </a:r>
          </a:p>
        </p:txBody>
      </p:sp>
      <p:sp>
        <p:nvSpPr>
          <p:cNvPr id="11" name="TextBox 11"/>
          <p:cNvSpPr txBox="1"/>
          <p:nvPr/>
        </p:nvSpPr>
        <p:spPr>
          <a:xfrm>
            <a:off x="11427791" y="3375273"/>
            <a:ext cx="4376886" cy="2258106"/>
          </a:xfrm>
          <a:prstGeom prst="rect">
            <a:avLst/>
          </a:prstGeom>
        </p:spPr>
        <p:txBody>
          <a:bodyPr lIns="0" tIns="0" rIns="0" bIns="0" rtlCol="0" anchor="t">
            <a:spAutoFit/>
          </a:bodyPr>
          <a:lstStyle/>
          <a:p>
            <a:pPr marL="420388" lvl="1" indent="-210194" algn="l">
              <a:lnSpc>
                <a:spcPts val="4539"/>
              </a:lnSpc>
              <a:buFont typeface="Arial"/>
              <a:buChar char="•"/>
            </a:pPr>
            <a:r>
              <a:rPr lang="en-US" sz="2787" b="1">
                <a:solidFill>
                  <a:srgbClr val="00357A"/>
                </a:solidFill>
                <a:latin typeface="Inter Bold"/>
                <a:ea typeface="Inter Bold"/>
                <a:cs typeface="Inter Bold"/>
                <a:sym typeface="Inter Bold"/>
              </a:rPr>
              <a:t>Global Opportunities:</a:t>
            </a:r>
            <a:r>
              <a:rPr lang="en-US" sz="2787">
                <a:solidFill>
                  <a:srgbClr val="00357A"/>
                </a:solidFill>
                <a:latin typeface="Inter"/>
                <a:ea typeface="Inter"/>
                <a:cs typeface="Inter"/>
                <a:sym typeface="Inter"/>
              </a:rPr>
              <a:t> Lucrative salaries and worldwide demand for skilled professionals.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99C5FF"/>
            </a:solidFill>
          </p:spPr>
        </p:sp>
      </p:grpSp>
      <p:sp>
        <p:nvSpPr>
          <p:cNvPr id="6" name="TextBox 6"/>
          <p:cNvSpPr txBox="1"/>
          <p:nvPr/>
        </p:nvSpPr>
        <p:spPr>
          <a:xfrm>
            <a:off x="992238" y="1044029"/>
            <a:ext cx="11169998" cy="914549"/>
          </a:xfrm>
          <a:prstGeom prst="rect">
            <a:avLst/>
          </a:prstGeom>
        </p:spPr>
        <p:txBody>
          <a:bodyPr lIns="0" tIns="0" rIns="0" bIns="0" rtlCol="0" anchor="t">
            <a:spAutoFit/>
          </a:bodyPr>
          <a:lstStyle/>
          <a:p>
            <a:pPr algn="l">
              <a:lnSpc>
                <a:spcPts val="6937"/>
              </a:lnSpc>
            </a:pPr>
            <a:r>
              <a:rPr lang="en-US" sz="5562" b="1">
                <a:solidFill>
                  <a:srgbClr val="00357A"/>
                </a:solidFill>
                <a:latin typeface="Inter Bold"/>
                <a:ea typeface="Inter Bold"/>
                <a:cs typeface="Inter Bold"/>
                <a:sym typeface="Inter Bold"/>
              </a:rPr>
              <a:t>Prerequisites: Your Starting Line</a:t>
            </a:r>
          </a:p>
        </p:txBody>
      </p:sp>
      <p:grpSp>
        <p:nvGrpSpPr>
          <p:cNvPr id="7" name="Group 7"/>
          <p:cNvGrpSpPr/>
          <p:nvPr/>
        </p:nvGrpSpPr>
        <p:grpSpPr>
          <a:xfrm>
            <a:off x="992238" y="2950815"/>
            <a:ext cx="8009930" cy="2550616"/>
            <a:chOff x="0" y="0"/>
            <a:chExt cx="10679907" cy="3400822"/>
          </a:xfrm>
        </p:grpSpPr>
        <p:sp>
          <p:nvSpPr>
            <p:cNvPr id="8" name="Freeform 8"/>
            <p:cNvSpPr/>
            <p:nvPr/>
          </p:nvSpPr>
          <p:spPr>
            <a:xfrm>
              <a:off x="0" y="0"/>
              <a:ext cx="10679938" cy="3400806"/>
            </a:xfrm>
            <a:custGeom>
              <a:avLst/>
              <a:gdLst/>
              <a:ahLst/>
              <a:cxnLst/>
              <a:rect l="l" t="t" r="r" b="b"/>
              <a:pathLst>
                <a:path w="10679938" h="3400806">
                  <a:moveTo>
                    <a:pt x="0" y="243840"/>
                  </a:moveTo>
                  <a:cubicBezTo>
                    <a:pt x="0" y="109220"/>
                    <a:pt x="109220" y="0"/>
                    <a:pt x="243840" y="0"/>
                  </a:cubicBezTo>
                  <a:lnTo>
                    <a:pt x="10436098" y="0"/>
                  </a:lnTo>
                  <a:cubicBezTo>
                    <a:pt x="10570718" y="0"/>
                    <a:pt x="10679938" y="109220"/>
                    <a:pt x="10679938" y="243840"/>
                  </a:cubicBezTo>
                  <a:lnTo>
                    <a:pt x="10679938" y="3156966"/>
                  </a:lnTo>
                  <a:cubicBezTo>
                    <a:pt x="10679938" y="3291586"/>
                    <a:pt x="10570718" y="3400806"/>
                    <a:pt x="10436098" y="3400806"/>
                  </a:cubicBezTo>
                  <a:lnTo>
                    <a:pt x="243840" y="3400806"/>
                  </a:lnTo>
                  <a:cubicBezTo>
                    <a:pt x="109220" y="3400806"/>
                    <a:pt x="0" y="3291586"/>
                    <a:pt x="0" y="3156966"/>
                  </a:cubicBezTo>
                  <a:close/>
                </a:path>
              </a:pathLst>
            </a:custGeom>
            <a:solidFill>
              <a:srgbClr val="99C5FF"/>
            </a:solidFill>
          </p:spPr>
        </p:sp>
      </p:grpSp>
      <p:grpSp>
        <p:nvGrpSpPr>
          <p:cNvPr id="9" name="Group 9"/>
          <p:cNvGrpSpPr/>
          <p:nvPr/>
        </p:nvGrpSpPr>
        <p:grpSpPr>
          <a:xfrm>
            <a:off x="992238" y="2912715"/>
            <a:ext cx="8009930" cy="152400"/>
            <a:chOff x="0" y="0"/>
            <a:chExt cx="10679907" cy="203200"/>
          </a:xfrm>
        </p:grpSpPr>
        <p:sp>
          <p:nvSpPr>
            <p:cNvPr id="10" name="Freeform 10"/>
            <p:cNvSpPr/>
            <p:nvPr/>
          </p:nvSpPr>
          <p:spPr>
            <a:xfrm>
              <a:off x="0" y="0"/>
              <a:ext cx="10679938" cy="203200"/>
            </a:xfrm>
            <a:custGeom>
              <a:avLst/>
              <a:gdLst/>
              <a:ahLst/>
              <a:cxnLst/>
              <a:rect l="l" t="t" r="r" b="b"/>
              <a:pathLst>
                <a:path w="10679938" h="203200">
                  <a:moveTo>
                    <a:pt x="0" y="101600"/>
                  </a:moveTo>
                  <a:cubicBezTo>
                    <a:pt x="0" y="45466"/>
                    <a:pt x="45466" y="0"/>
                    <a:pt x="101600" y="0"/>
                  </a:cubicBezTo>
                  <a:lnTo>
                    <a:pt x="10578338" y="0"/>
                  </a:lnTo>
                  <a:cubicBezTo>
                    <a:pt x="10634472" y="0"/>
                    <a:pt x="10679938" y="45466"/>
                    <a:pt x="10679938" y="101600"/>
                  </a:cubicBezTo>
                  <a:cubicBezTo>
                    <a:pt x="10679938" y="157734"/>
                    <a:pt x="10634472" y="203200"/>
                    <a:pt x="10578338" y="203200"/>
                  </a:cubicBezTo>
                  <a:lnTo>
                    <a:pt x="101600" y="203200"/>
                  </a:lnTo>
                  <a:cubicBezTo>
                    <a:pt x="45466" y="203200"/>
                    <a:pt x="0" y="157734"/>
                    <a:pt x="0" y="101600"/>
                  </a:cubicBezTo>
                  <a:close/>
                </a:path>
              </a:pathLst>
            </a:custGeom>
            <a:solidFill>
              <a:srgbClr val="4950BC"/>
            </a:solidFill>
          </p:spPr>
        </p:sp>
      </p:grpSp>
      <p:grpSp>
        <p:nvGrpSpPr>
          <p:cNvPr id="11" name="Group 11"/>
          <p:cNvGrpSpPr/>
          <p:nvPr/>
        </p:nvGrpSpPr>
        <p:grpSpPr>
          <a:xfrm>
            <a:off x="4571925" y="2525614"/>
            <a:ext cx="850553" cy="850552"/>
            <a:chOff x="0" y="0"/>
            <a:chExt cx="1134070" cy="1134070"/>
          </a:xfrm>
        </p:grpSpPr>
        <p:sp>
          <p:nvSpPr>
            <p:cNvPr id="12" name="Freeform 12"/>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4950BC"/>
            </a:solidFill>
          </p:spPr>
        </p:sp>
      </p:grpSp>
      <p:sp>
        <p:nvSpPr>
          <p:cNvPr id="13" name="TextBox 13"/>
          <p:cNvSpPr txBox="1"/>
          <p:nvPr/>
        </p:nvSpPr>
        <p:spPr>
          <a:xfrm>
            <a:off x="4827018" y="2633514"/>
            <a:ext cx="340221" cy="529978"/>
          </a:xfrm>
          <a:prstGeom prst="rect">
            <a:avLst/>
          </a:prstGeom>
        </p:spPr>
        <p:txBody>
          <a:bodyPr lIns="0" tIns="0" rIns="0" bIns="0" rtlCol="0" anchor="t">
            <a:spAutoFit/>
          </a:bodyPr>
          <a:lstStyle/>
          <a:p>
            <a:pPr algn="l">
              <a:lnSpc>
                <a:spcPts val="4250"/>
              </a:lnSpc>
            </a:pPr>
            <a:r>
              <a:rPr lang="en-US" sz="2625" b="1">
                <a:solidFill>
                  <a:srgbClr val="FFFFFF"/>
                </a:solidFill>
                <a:latin typeface="Inter Bold"/>
                <a:ea typeface="Inter Bold"/>
                <a:cs typeface="Inter Bold"/>
                <a:sym typeface="Inter Bold"/>
              </a:rPr>
              <a:t>1</a:t>
            </a:r>
          </a:p>
        </p:txBody>
      </p:sp>
      <p:sp>
        <p:nvSpPr>
          <p:cNvPr id="14" name="TextBox 14"/>
          <p:cNvSpPr txBox="1"/>
          <p:nvPr/>
        </p:nvSpPr>
        <p:spPr>
          <a:xfrm>
            <a:off x="1313855" y="3640485"/>
            <a:ext cx="5872747" cy="494348"/>
          </a:xfrm>
          <a:prstGeom prst="rect">
            <a:avLst/>
          </a:prstGeom>
        </p:spPr>
        <p:txBody>
          <a:bodyPr lIns="0" tIns="0" rIns="0" bIns="0" rtlCol="0" anchor="t">
            <a:spAutoFit/>
          </a:bodyPr>
          <a:lstStyle/>
          <a:p>
            <a:pPr algn="l">
              <a:lnSpc>
                <a:spcPts val="3937"/>
              </a:lnSpc>
            </a:pPr>
            <a:r>
              <a:rPr lang="en-US" sz="3149" b="1">
                <a:solidFill>
                  <a:srgbClr val="00357A"/>
                </a:solidFill>
                <a:latin typeface="Inter Bold"/>
                <a:ea typeface="Inter Bold"/>
                <a:cs typeface="Inter Bold"/>
                <a:sym typeface="Inter Bold"/>
              </a:rPr>
              <a:t>Basic Computer Knowledge</a:t>
            </a:r>
          </a:p>
        </p:txBody>
      </p:sp>
      <p:sp>
        <p:nvSpPr>
          <p:cNvPr id="15" name="TextBox 15"/>
          <p:cNvSpPr txBox="1"/>
          <p:nvPr/>
        </p:nvSpPr>
        <p:spPr>
          <a:xfrm>
            <a:off x="1313855" y="4139207"/>
            <a:ext cx="7366695" cy="1157288"/>
          </a:xfrm>
          <a:prstGeom prst="rect">
            <a:avLst/>
          </a:prstGeom>
        </p:spPr>
        <p:txBody>
          <a:bodyPr lIns="0" tIns="0" rIns="0" bIns="0" rtlCol="0" anchor="t">
            <a:spAutoFit/>
          </a:bodyPr>
          <a:lstStyle/>
          <a:p>
            <a:pPr algn="l">
              <a:lnSpc>
                <a:spcPts val="4702"/>
              </a:lnSpc>
            </a:pPr>
            <a:r>
              <a:rPr lang="en-US" sz="2887">
                <a:solidFill>
                  <a:srgbClr val="00357A"/>
                </a:solidFill>
                <a:latin typeface="Inter"/>
                <a:ea typeface="Inter"/>
                <a:cs typeface="Inter"/>
                <a:sym typeface="Inter"/>
              </a:rPr>
              <a:t>Comfort with navigating operating systems and basic software applications.</a:t>
            </a:r>
          </a:p>
        </p:txBody>
      </p:sp>
      <p:grpSp>
        <p:nvGrpSpPr>
          <p:cNvPr id="16" name="Group 16"/>
          <p:cNvGrpSpPr/>
          <p:nvPr/>
        </p:nvGrpSpPr>
        <p:grpSpPr>
          <a:xfrm>
            <a:off x="9285685" y="2950815"/>
            <a:ext cx="8010079" cy="2550616"/>
            <a:chOff x="0" y="0"/>
            <a:chExt cx="10680105" cy="3400822"/>
          </a:xfrm>
        </p:grpSpPr>
        <p:sp>
          <p:nvSpPr>
            <p:cNvPr id="17" name="Freeform 17"/>
            <p:cNvSpPr/>
            <p:nvPr/>
          </p:nvSpPr>
          <p:spPr>
            <a:xfrm>
              <a:off x="0" y="0"/>
              <a:ext cx="10680065" cy="3400806"/>
            </a:xfrm>
            <a:custGeom>
              <a:avLst/>
              <a:gdLst/>
              <a:ahLst/>
              <a:cxnLst/>
              <a:rect l="l" t="t" r="r" b="b"/>
              <a:pathLst>
                <a:path w="10680065" h="3400806">
                  <a:moveTo>
                    <a:pt x="0" y="243840"/>
                  </a:moveTo>
                  <a:cubicBezTo>
                    <a:pt x="0" y="109220"/>
                    <a:pt x="109220" y="0"/>
                    <a:pt x="243840" y="0"/>
                  </a:cubicBezTo>
                  <a:lnTo>
                    <a:pt x="10436225" y="0"/>
                  </a:lnTo>
                  <a:cubicBezTo>
                    <a:pt x="10570845" y="0"/>
                    <a:pt x="10680065" y="109220"/>
                    <a:pt x="10680065" y="243840"/>
                  </a:cubicBezTo>
                  <a:lnTo>
                    <a:pt x="10680065" y="3156966"/>
                  </a:lnTo>
                  <a:cubicBezTo>
                    <a:pt x="10680065" y="3291586"/>
                    <a:pt x="10570845" y="3400806"/>
                    <a:pt x="10436225" y="3400806"/>
                  </a:cubicBezTo>
                  <a:lnTo>
                    <a:pt x="243840" y="3400806"/>
                  </a:lnTo>
                  <a:cubicBezTo>
                    <a:pt x="109220" y="3400806"/>
                    <a:pt x="0" y="3291586"/>
                    <a:pt x="0" y="3156966"/>
                  </a:cubicBezTo>
                  <a:close/>
                </a:path>
              </a:pathLst>
            </a:custGeom>
            <a:solidFill>
              <a:srgbClr val="99C5FF"/>
            </a:solidFill>
          </p:spPr>
        </p:sp>
      </p:grpSp>
      <p:grpSp>
        <p:nvGrpSpPr>
          <p:cNvPr id="18" name="Group 18"/>
          <p:cNvGrpSpPr/>
          <p:nvPr/>
        </p:nvGrpSpPr>
        <p:grpSpPr>
          <a:xfrm>
            <a:off x="9285685" y="2912715"/>
            <a:ext cx="8010079" cy="152400"/>
            <a:chOff x="0" y="0"/>
            <a:chExt cx="10680105" cy="203200"/>
          </a:xfrm>
        </p:grpSpPr>
        <p:sp>
          <p:nvSpPr>
            <p:cNvPr id="19" name="Freeform 19"/>
            <p:cNvSpPr/>
            <p:nvPr/>
          </p:nvSpPr>
          <p:spPr>
            <a:xfrm>
              <a:off x="0" y="0"/>
              <a:ext cx="10680065" cy="203200"/>
            </a:xfrm>
            <a:custGeom>
              <a:avLst/>
              <a:gdLst/>
              <a:ahLst/>
              <a:cxnLst/>
              <a:rect l="l" t="t" r="r" b="b"/>
              <a:pathLst>
                <a:path w="10680065" h="203200">
                  <a:moveTo>
                    <a:pt x="0" y="101600"/>
                  </a:moveTo>
                  <a:cubicBezTo>
                    <a:pt x="0" y="45466"/>
                    <a:pt x="45466" y="0"/>
                    <a:pt x="101600" y="0"/>
                  </a:cubicBezTo>
                  <a:lnTo>
                    <a:pt x="10578465" y="0"/>
                  </a:lnTo>
                  <a:cubicBezTo>
                    <a:pt x="10634599" y="0"/>
                    <a:pt x="10680065" y="45466"/>
                    <a:pt x="10680065" y="101600"/>
                  </a:cubicBezTo>
                  <a:cubicBezTo>
                    <a:pt x="10680065" y="157734"/>
                    <a:pt x="10634599" y="203200"/>
                    <a:pt x="10578465" y="203200"/>
                  </a:cubicBezTo>
                  <a:lnTo>
                    <a:pt x="101600" y="203200"/>
                  </a:lnTo>
                  <a:cubicBezTo>
                    <a:pt x="45466" y="203200"/>
                    <a:pt x="0" y="157734"/>
                    <a:pt x="0" y="101600"/>
                  </a:cubicBezTo>
                  <a:close/>
                </a:path>
              </a:pathLst>
            </a:custGeom>
            <a:solidFill>
              <a:srgbClr val="4950BC"/>
            </a:solidFill>
          </p:spPr>
        </p:sp>
      </p:grpSp>
      <p:grpSp>
        <p:nvGrpSpPr>
          <p:cNvPr id="20" name="Group 20"/>
          <p:cNvGrpSpPr/>
          <p:nvPr/>
        </p:nvGrpSpPr>
        <p:grpSpPr>
          <a:xfrm>
            <a:off x="12865372" y="2525614"/>
            <a:ext cx="850553" cy="850552"/>
            <a:chOff x="0" y="0"/>
            <a:chExt cx="1134070" cy="1134070"/>
          </a:xfrm>
        </p:grpSpPr>
        <p:sp>
          <p:nvSpPr>
            <p:cNvPr id="21" name="Freeform 21"/>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4950BC"/>
            </a:solidFill>
          </p:spPr>
        </p:sp>
      </p:grpSp>
      <p:sp>
        <p:nvSpPr>
          <p:cNvPr id="22" name="TextBox 22"/>
          <p:cNvSpPr txBox="1"/>
          <p:nvPr/>
        </p:nvSpPr>
        <p:spPr>
          <a:xfrm>
            <a:off x="13120464" y="2633514"/>
            <a:ext cx="340221" cy="529978"/>
          </a:xfrm>
          <a:prstGeom prst="rect">
            <a:avLst/>
          </a:prstGeom>
        </p:spPr>
        <p:txBody>
          <a:bodyPr lIns="0" tIns="0" rIns="0" bIns="0" rtlCol="0" anchor="t">
            <a:spAutoFit/>
          </a:bodyPr>
          <a:lstStyle/>
          <a:p>
            <a:pPr algn="l">
              <a:lnSpc>
                <a:spcPts val="4250"/>
              </a:lnSpc>
            </a:pPr>
            <a:r>
              <a:rPr lang="en-US" sz="2625" b="1">
                <a:solidFill>
                  <a:srgbClr val="FFFFFF"/>
                </a:solidFill>
                <a:latin typeface="Inter Bold"/>
                <a:ea typeface="Inter Bold"/>
                <a:cs typeface="Inter Bold"/>
                <a:sym typeface="Inter Bold"/>
              </a:rPr>
              <a:t>2</a:t>
            </a:r>
          </a:p>
        </p:txBody>
      </p:sp>
      <p:sp>
        <p:nvSpPr>
          <p:cNvPr id="23" name="TextBox 23"/>
          <p:cNvSpPr txBox="1"/>
          <p:nvPr/>
        </p:nvSpPr>
        <p:spPr>
          <a:xfrm>
            <a:off x="9607302" y="3640485"/>
            <a:ext cx="5872036" cy="494348"/>
          </a:xfrm>
          <a:prstGeom prst="rect">
            <a:avLst/>
          </a:prstGeom>
        </p:spPr>
        <p:txBody>
          <a:bodyPr lIns="0" tIns="0" rIns="0" bIns="0" rtlCol="0" anchor="t">
            <a:spAutoFit/>
          </a:bodyPr>
          <a:lstStyle/>
          <a:p>
            <a:pPr algn="l">
              <a:lnSpc>
                <a:spcPts val="3937"/>
              </a:lnSpc>
            </a:pPr>
            <a:r>
              <a:rPr lang="en-US" sz="3149" b="1">
                <a:solidFill>
                  <a:srgbClr val="00357A"/>
                </a:solidFill>
                <a:latin typeface="Inter Bold"/>
                <a:ea typeface="Inter Bold"/>
                <a:cs typeface="Inter Bold"/>
                <a:sym typeface="Inter Bold"/>
              </a:rPr>
              <a:t>Problem-Solving Interest</a:t>
            </a:r>
          </a:p>
        </p:txBody>
      </p:sp>
      <p:sp>
        <p:nvSpPr>
          <p:cNvPr id="24" name="TextBox 24"/>
          <p:cNvSpPr txBox="1"/>
          <p:nvPr/>
        </p:nvSpPr>
        <p:spPr>
          <a:xfrm>
            <a:off x="9607302" y="4139207"/>
            <a:ext cx="7366844" cy="1157288"/>
          </a:xfrm>
          <a:prstGeom prst="rect">
            <a:avLst/>
          </a:prstGeom>
        </p:spPr>
        <p:txBody>
          <a:bodyPr lIns="0" tIns="0" rIns="0" bIns="0" rtlCol="0" anchor="t">
            <a:spAutoFit/>
          </a:bodyPr>
          <a:lstStyle/>
          <a:p>
            <a:pPr algn="l">
              <a:lnSpc>
                <a:spcPts val="4702"/>
              </a:lnSpc>
            </a:pPr>
            <a:r>
              <a:rPr lang="en-US" sz="2887">
                <a:solidFill>
                  <a:srgbClr val="00357A"/>
                </a:solidFill>
                <a:latin typeface="Inter"/>
                <a:ea typeface="Inter"/>
                <a:cs typeface="Inter"/>
                <a:sym typeface="Inter"/>
              </a:rPr>
              <a:t>A curious mind and eagerness to tackle challenges are key drivers for success.</a:t>
            </a:r>
          </a:p>
        </p:txBody>
      </p:sp>
      <p:grpSp>
        <p:nvGrpSpPr>
          <p:cNvPr id="25" name="Group 25"/>
          <p:cNvGrpSpPr/>
          <p:nvPr/>
        </p:nvGrpSpPr>
        <p:grpSpPr>
          <a:xfrm>
            <a:off x="992238" y="6210151"/>
            <a:ext cx="8009930" cy="3004245"/>
            <a:chOff x="0" y="0"/>
            <a:chExt cx="10679907" cy="4005660"/>
          </a:xfrm>
        </p:grpSpPr>
        <p:sp>
          <p:nvSpPr>
            <p:cNvPr id="26" name="Freeform 26"/>
            <p:cNvSpPr/>
            <p:nvPr/>
          </p:nvSpPr>
          <p:spPr>
            <a:xfrm>
              <a:off x="0" y="0"/>
              <a:ext cx="10679938" cy="4005707"/>
            </a:xfrm>
            <a:custGeom>
              <a:avLst/>
              <a:gdLst/>
              <a:ahLst/>
              <a:cxnLst/>
              <a:rect l="l" t="t" r="r" b="b"/>
              <a:pathLst>
                <a:path w="10679938" h="4005707">
                  <a:moveTo>
                    <a:pt x="0" y="243840"/>
                  </a:moveTo>
                  <a:cubicBezTo>
                    <a:pt x="0" y="109220"/>
                    <a:pt x="109220" y="0"/>
                    <a:pt x="243840" y="0"/>
                  </a:cubicBezTo>
                  <a:lnTo>
                    <a:pt x="10436098" y="0"/>
                  </a:lnTo>
                  <a:cubicBezTo>
                    <a:pt x="10570718" y="0"/>
                    <a:pt x="10679938" y="109220"/>
                    <a:pt x="10679938" y="243840"/>
                  </a:cubicBezTo>
                  <a:lnTo>
                    <a:pt x="10679938" y="3761867"/>
                  </a:lnTo>
                  <a:cubicBezTo>
                    <a:pt x="10679938" y="3896487"/>
                    <a:pt x="10570718" y="4005707"/>
                    <a:pt x="10436098" y="4005707"/>
                  </a:cubicBezTo>
                  <a:lnTo>
                    <a:pt x="243840" y="4005707"/>
                  </a:lnTo>
                  <a:cubicBezTo>
                    <a:pt x="109220" y="4005707"/>
                    <a:pt x="0" y="3896487"/>
                    <a:pt x="0" y="3761867"/>
                  </a:cubicBezTo>
                  <a:close/>
                </a:path>
              </a:pathLst>
            </a:custGeom>
            <a:solidFill>
              <a:srgbClr val="99C5FF"/>
            </a:solidFill>
          </p:spPr>
        </p:sp>
      </p:grpSp>
      <p:grpSp>
        <p:nvGrpSpPr>
          <p:cNvPr id="27" name="Group 27"/>
          <p:cNvGrpSpPr/>
          <p:nvPr/>
        </p:nvGrpSpPr>
        <p:grpSpPr>
          <a:xfrm>
            <a:off x="992238" y="6172051"/>
            <a:ext cx="8009930" cy="152400"/>
            <a:chOff x="0" y="0"/>
            <a:chExt cx="10679907" cy="203200"/>
          </a:xfrm>
        </p:grpSpPr>
        <p:sp>
          <p:nvSpPr>
            <p:cNvPr id="28" name="Freeform 28"/>
            <p:cNvSpPr/>
            <p:nvPr/>
          </p:nvSpPr>
          <p:spPr>
            <a:xfrm>
              <a:off x="0" y="0"/>
              <a:ext cx="10679938" cy="203200"/>
            </a:xfrm>
            <a:custGeom>
              <a:avLst/>
              <a:gdLst/>
              <a:ahLst/>
              <a:cxnLst/>
              <a:rect l="l" t="t" r="r" b="b"/>
              <a:pathLst>
                <a:path w="10679938" h="203200">
                  <a:moveTo>
                    <a:pt x="0" y="101600"/>
                  </a:moveTo>
                  <a:cubicBezTo>
                    <a:pt x="0" y="45466"/>
                    <a:pt x="45466" y="0"/>
                    <a:pt x="101600" y="0"/>
                  </a:cubicBezTo>
                  <a:lnTo>
                    <a:pt x="10578338" y="0"/>
                  </a:lnTo>
                  <a:cubicBezTo>
                    <a:pt x="10634472" y="0"/>
                    <a:pt x="10679938" y="45466"/>
                    <a:pt x="10679938" y="101600"/>
                  </a:cubicBezTo>
                  <a:cubicBezTo>
                    <a:pt x="10679938" y="157734"/>
                    <a:pt x="10634472" y="203200"/>
                    <a:pt x="10578338" y="203200"/>
                  </a:cubicBezTo>
                  <a:lnTo>
                    <a:pt x="101600" y="203200"/>
                  </a:lnTo>
                  <a:cubicBezTo>
                    <a:pt x="45466" y="203200"/>
                    <a:pt x="0" y="157734"/>
                    <a:pt x="0" y="101600"/>
                  </a:cubicBezTo>
                  <a:close/>
                </a:path>
              </a:pathLst>
            </a:custGeom>
            <a:solidFill>
              <a:srgbClr val="4950BC"/>
            </a:solidFill>
          </p:spPr>
        </p:sp>
      </p:grpSp>
      <p:grpSp>
        <p:nvGrpSpPr>
          <p:cNvPr id="29" name="Group 29"/>
          <p:cNvGrpSpPr/>
          <p:nvPr/>
        </p:nvGrpSpPr>
        <p:grpSpPr>
          <a:xfrm>
            <a:off x="4571925" y="5784949"/>
            <a:ext cx="850553" cy="850552"/>
            <a:chOff x="0" y="0"/>
            <a:chExt cx="1134070" cy="1134070"/>
          </a:xfrm>
        </p:grpSpPr>
        <p:sp>
          <p:nvSpPr>
            <p:cNvPr id="30" name="Freeform 3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4950BC"/>
            </a:solidFill>
          </p:spPr>
        </p:sp>
      </p:grpSp>
      <p:sp>
        <p:nvSpPr>
          <p:cNvPr id="31" name="TextBox 31"/>
          <p:cNvSpPr txBox="1"/>
          <p:nvPr/>
        </p:nvSpPr>
        <p:spPr>
          <a:xfrm>
            <a:off x="4827018" y="5892850"/>
            <a:ext cx="340221" cy="529978"/>
          </a:xfrm>
          <a:prstGeom prst="rect">
            <a:avLst/>
          </a:prstGeom>
        </p:spPr>
        <p:txBody>
          <a:bodyPr lIns="0" tIns="0" rIns="0" bIns="0" rtlCol="0" anchor="t">
            <a:spAutoFit/>
          </a:bodyPr>
          <a:lstStyle/>
          <a:p>
            <a:pPr algn="l">
              <a:lnSpc>
                <a:spcPts val="4250"/>
              </a:lnSpc>
            </a:pPr>
            <a:r>
              <a:rPr lang="en-US" sz="2625" b="1">
                <a:solidFill>
                  <a:srgbClr val="FFFFFF"/>
                </a:solidFill>
                <a:latin typeface="Inter Bold"/>
                <a:ea typeface="Inter Bold"/>
                <a:cs typeface="Inter Bold"/>
                <a:sym typeface="Inter Bold"/>
              </a:rPr>
              <a:t>3</a:t>
            </a:r>
          </a:p>
        </p:txBody>
      </p:sp>
      <p:sp>
        <p:nvSpPr>
          <p:cNvPr id="32" name="TextBox 32"/>
          <p:cNvSpPr txBox="1"/>
          <p:nvPr/>
        </p:nvSpPr>
        <p:spPr>
          <a:xfrm>
            <a:off x="1313855" y="6899821"/>
            <a:ext cx="5691584" cy="494348"/>
          </a:xfrm>
          <a:prstGeom prst="rect">
            <a:avLst/>
          </a:prstGeom>
        </p:spPr>
        <p:txBody>
          <a:bodyPr lIns="0" tIns="0" rIns="0" bIns="0" rtlCol="0" anchor="t">
            <a:spAutoFit/>
          </a:bodyPr>
          <a:lstStyle/>
          <a:p>
            <a:pPr algn="l">
              <a:lnSpc>
                <a:spcPts val="3937"/>
              </a:lnSpc>
            </a:pPr>
            <a:r>
              <a:rPr lang="en-US" sz="3149" b="1">
                <a:solidFill>
                  <a:srgbClr val="00357A"/>
                </a:solidFill>
                <a:latin typeface="Inter Bold"/>
                <a:ea typeface="Inter Bold"/>
                <a:cs typeface="Inter Bold"/>
                <a:sym typeface="Inter Bold"/>
              </a:rPr>
              <a:t>No Prior Coding Required</a:t>
            </a:r>
          </a:p>
        </p:txBody>
      </p:sp>
      <p:sp>
        <p:nvSpPr>
          <p:cNvPr id="33" name="TextBox 33"/>
          <p:cNvSpPr txBox="1"/>
          <p:nvPr/>
        </p:nvSpPr>
        <p:spPr>
          <a:xfrm>
            <a:off x="1313855" y="7398544"/>
            <a:ext cx="7366695" cy="1747838"/>
          </a:xfrm>
          <a:prstGeom prst="rect">
            <a:avLst/>
          </a:prstGeom>
        </p:spPr>
        <p:txBody>
          <a:bodyPr lIns="0" tIns="0" rIns="0" bIns="0" rtlCol="0" anchor="t">
            <a:spAutoFit/>
          </a:bodyPr>
          <a:lstStyle/>
          <a:p>
            <a:pPr algn="l">
              <a:lnSpc>
                <a:spcPts val="4702"/>
              </a:lnSpc>
            </a:pPr>
            <a:r>
              <a:rPr lang="en-US" sz="2887">
                <a:solidFill>
                  <a:srgbClr val="00357A"/>
                </a:solidFill>
                <a:latin typeface="Inter"/>
                <a:ea typeface="Inter"/>
                <a:cs typeface="Inter"/>
                <a:sym typeface="Inter"/>
              </a:rPr>
              <a:t>Python is beginner-friendly; we'll start from the absolute basics, making it accessible to all.</a:t>
            </a:r>
          </a:p>
        </p:txBody>
      </p:sp>
      <p:grpSp>
        <p:nvGrpSpPr>
          <p:cNvPr id="34" name="Group 34"/>
          <p:cNvGrpSpPr/>
          <p:nvPr/>
        </p:nvGrpSpPr>
        <p:grpSpPr>
          <a:xfrm>
            <a:off x="9285685" y="6210151"/>
            <a:ext cx="8010079" cy="3004245"/>
            <a:chOff x="0" y="0"/>
            <a:chExt cx="10680105" cy="4005660"/>
          </a:xfrm>
        </p:grpSpPr>
        <p:sp>
          <p:nvSpPr>
            <p:cNvPr id="35" name="Freeform 35"/>
            <p:cNvSpPr/>
            <p:nvPr/>
          </p:nvSpPr>
          <p:spPr>
            <a:xfrm>
              <a:off x="0" y="0"/>
              <a:ext cx="10680065" cy="4005707"/>
            </a:xfrm>
            <a:custGeom>
              <a:avLst/>
              <a:gdLst/>
              <a:ahLst/>
              <a:cxnLst/>
              <a:rect l="l" t="t" r="r" b="b"/>
              <a:pathLst>
                <a:path w="10680065" h="4005707">
                  <a:moveTo>
                    <a:pt x="0" y="243840"/>
                  </a:moveTo>
                  <a:cubicBezTo>
                    <a:pt x="0" y="109220"/>
                    <a:pt x="109220" y="0"/>
                    <a:pt x="243840" y="0"/>
                  </a:cubicBezTo>
                  <a:lnTo>
                    <a:pt x="10436225" y="0"/>
                  </a:lnTo>
                  <a:cubicBezTo>
                    <a:pt x="10570845" y="0"/>
                    <a:pt x="10680065" y="109220"/>
                    <a:pt x="10680065" y="243840"/>
                  </a:cubicBezTo>
                  <a:lnTo>
                    <a:pt x="10680065" y="3761867"/>
                  </a:lnTo>
                  <a:cubicBezTo>
                    <a:pt x="10680065" y="3896487"/>
                    <a:pt x="10570845" y="4005707"/>
                    <a:pt x="10436225" y="4005707"/>
                  </a:cubicBezTo>
                  <a:lnTo>
                    <a:pt x="243840" y="4005707"/>
                  </a:lnTo>
                  <a:cubicBezTo>
                    <a:pt x="109220" y="4005707"/>
                    <a:pt x="0" y="3896487"/>
                    <a:pt x="0" y="3761867"/>
                  </a:cubicBezTo>
                  <a:close/>
                </a:path>
              </a:pathLst>
            </a:custGeom>
            <a:solidFill>
              <a:srgbClr val="99C5FF"/>
            </a:solidFill>
          </p:spPr>
        </p:sp>
      </p:grpSp>
      <p:grpSp>
        <p:nvGrpSpPr>
          <p:cNvPr id="36" name="Group 36"/>
          <p:cNvGrpSpPr/>
          <p:nvPr/>
        </p:nvGrpSpPr>
        <p:grpSpPr>
          <a:xfrm>
            <a:off x="9285685" y="6172051"/>
            <a:ext cx="8010079" cy="152400"/>
            <a:chOff x="0" y="0"/>
            <a:chExt cx="10680105" cy="203200"/>
          </a:xfrm>
        </p:grpSpPr>
        <p:sp>
          <p:nvSpPr>
            <p:cNvPr id="37" name="Freeform 37"/>
            <p:cNvSpPr/>
            <p:nvPr/>
          </p:nvSpPr>
          <p:spPr>
            <a:xfrm>
              <a:off x="0" y="0"/>
              <a:ext cx="10680065" cy="203200"/>
            </a:xfrm>
            <a:custGeom>
              <a:avLst/>
              <a:gdLst/>
              <a:ahLst/>
              <a:cxnLst/>
              <a:rect l="l" t="t" r="r" b="b"/>
              <a:pathLst>
                <a:path w="10680065" h="203200">
                  <a:moveTo>
                    <a:pt x="0" y="101600"/>
                  </a:moveTo>
                  <a:cubicBezTo>
                    <a:pt x="0" y="45466"/>
                    <a:pt x="45466" y="0"/>
                    <a:pt x="101600" y="0"/>
                  </a:cubicBezTo>
                  <a:lnTo>
                    <a:pt x="10578465" y="0"/>
                  </a:lnTo>
                  <a:cubicBezTo>
                    <a:pt x="10634599" y="0"/>
                    <a:pt x="10680065" y="45466"/>
                    <a:pt x="10680065" y="101600"/>
                  </a:cubicBezTo>
                  <a:cubicBezTo>
                    <a:pt x="10680065" y="157734"/>
                    <a:pt x="10634599" y="203200"/>
                    <a:pt x="10578465" y="203200"/>
                  </a:cubicBezTo>
                  <a:lnTo>
                    <a:pt x="101600" y="203200"/>
                  </a:lnTo>
                  <a:cubicBezTo>
                    <a:pt x="45466" y="203200"/>
                    <a:pt x="0" y="157734"/>
                    <a:pt x="0" y="101600"/>
                  </a:cubicBezTo>
                  <a:close/>
                </a:path>
              </a:pathLst>
            </a:custGeom>
            <a:solidFill>
              <a:srgbClr val="4950BC"/>
            </a:solidFill>
          </p:spPr>
        </p:sp>
      </p:grpSp>
      <p:grpSp>
        <p:nvGrpSpPr>
          <p:cNvPr id="38" name="Group 38"/>
          <p:cNvGrpSpPr/>
          <p:nvPr/>
        </p:nvGrpSpPr>
        <p:grpSpPr>
          <a:xfrm>
            <a:off x="12865372" y="5784949"/>
            <a:ext cx="850553" cy="850552"/>
            <a:chOff x="0" y="0"/>
            <a:chExt cx="1134070" cy="1134070"/>
          </a:xfrm>
        </p:grpSpPr>
        <p:sp>
          <p:nvSpPr>
            <p:cNvPr id="39" name="Freeform 39"/>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4950BC"/>
            </a:solidFill>
          </p:spPr>
        </p:sp>
      </p:grpSp>
      <p:sp>
        <p:nvSpPr>
          <p:cNvPr id="40" name="TextBox 40"/>
          <p:cNvSpPr txBox="1"/>
          <p:nvPr/>
        </p:nvSpPr>
        <p:spPr>
          <a:xfrm>
            <a:off x="13120464" y="5892850"/>
            <a:ext cx="340221" cy="529978"/>
          </a:xfrm>
          <a:prstGeom prst="rect">
            <a:avLst/>
          </a:prstGeom>
        </p:spPr>
        <p:txBody>
          <a:bodyPr lIns="0" tIns="0" rIns="0" bIns="0" rtlCol="0" anchor="t">
            <a:spAutoFit/>
          </a:bodyPr>
          <a:lstStyle/>
          <a:p>
            <a:pPr algn="l">
              <a:lnSpc>
                <a:spcPts val="4250"/>
              </a:lnSpc>
            </a:pPr>
            <a:r>
              <a:rPr lang="en-US" sz="2625" b="1">
                <a:solidFill>
                  <a:srgbClr val="FFFFFF"/>
                </a:solidFill>
                <a:latin typeface="Inter Bold"/>
                <a:ea typeface="Inter Bold"/>
                <a:cs typeface="Inter Bold"/>
                <a:sym typeface="Inter Bold"/>
              </a:rPr>
              <a:t>4</a:t>
            </a:r>
          </a:p>
        </p:txBody>
      </p:sp>
      <p:sp>
        <p:nvSpPr>
          <p:cNvPr id="41" name="TextBox 41"/>
          <p:cNvSpPr txBox="1"/>
          <p:nvPr/>
        </p:nvSpPr>
        <p:spPr>
          <a:xfrm>
            <a:off x="9607302" y="6899821"/>
            <a:ext cx="5872036" cy="494348"/>
          </a:xfrm>
          <a:prstGeom prst="rect">
            <a:avLst/>
          </a:prstGeom>
        </p:spPr>
        <p:txBody>
          <a:bodyPr lIns="0" tIns="0" rIns="0" bIns="0" rtlCol="0" anchor="t">
            <a:spAutoFit/>
          </a:bodyPr>
          <a:lstStyle/>
          <a:p>
            <a:pPr algn="l">
              <a:lnSpc>
                <a:spcPts val="3937"/>
              </a:lnSpc>
            </a:pPr>
            <a:r>
              <a:rPr lang="en-US" sz="3149" b="1">
                <a:solidFill>
                  <a:srgbClr val="00357A"/>
                </a:solidFill>
                <a:latin typeface="Inter Bold"/>
                <a:ea typeface="Inter Bold"/>
                <a:cs typeface="Inter Bold"/>
                <a:sym typeface="Inter Bold"/>
              </a:rPr>
              <a:t> Math Foundations</a:t>
            </a:r>
          </a:p>
        </p:txBody>
      </p:sp>
      <p:sp>
        <p:nvSpPr>
          <p:cNvPr id="42" name="TextBox 42"/>
          <p:cNvSpPr txBox="1"/>
          <p:nvPr/>
        </p:nvSpPr>
        <p:spPr>
          <a:xfrm>
            <a:off x="9607302" y="7398544"/>
            <a:ext cx="7366844" cy="1747838"/>
          </a:xfrm>
          <a:prstGeom prst="rect">
            <a:avLst/>
          </a:prstGeom>
        </p:spPr>
        <p:txBody>
          <a:bodyPr lIns="0" tIns="0" rIns="0" bIns="0" rtlCol="0" anchor="t">
            <a:spAutoFit/>
          </a:bodyPr>
          <a:lstStyle/>
          <a:p>
            <a:pPr algn="l">
              <a:lnSpc>
                <a:spcPts val="4702"/>
              </a:lnSpc>
            </a:pPr>
            <a:r>
              <a:rPr lang="en-US" sz="2887">
                <a:solidFill>
                  <a:srgbClr val="00357A"/>
                </a:solidFill>
                <a:latin typeface="Inter"/>
                <a:ea typeface="Inter"/>
                <a:cs typeface="Inter"/>
                <a:sym typeface="Inter"/>
              </a:rPr>
              <a:t>Basic understanding of linear algebra, probability, and calculus can be beneficial, but not strictly necessary for the start.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99C5FF"/>
            </a:solidFill>
          </p:spPr>
        </p:sp>
      </p:grpSp>
      <p:sp>
        <p:nvSpPr>
          <p:cNvPr id="6" name="TextBox 6"/>
          <p:cNvSpPr txBox="1"/>
          <p:nvPr/>
        </p:nvSpPr>
        <p:spPr>
          <a:xfrm>
            <a:off x="879425" y="413593"/>
            <a:ext cx="15100399" cy="813792"/>
          </a:xfrm>
          <a:prstGeom prst="rect">
            <a:avLst/>
          </a:prstGeom>
        </p:spPr>
        <p:txBody>
          <a:bodyPr lIns="0" tIns="0" rIns="0" bIns="0" rtlCol="0" anchor="t">
            <a:spAutoFit/>
          </a:bodyPr>
          <a:lstStyle/>
          <a:p>
            <a:pPr algn="l">
              <a:lnSpc>
                <a:spcPts val="6125"/>
              </a:lnSpc>
            </a:pPr>
            <a:r>
              <a:rPr lang="en-US" sz="4937" b="1">
                <a:solidFill>
                  <a:srgbClr val="00357A"/>
                </a:solidFill>
                <a:latin typeface="Inter Bold"/>
                <a:ea typeface="Inter Bold"/>
                <a:cs typeface="Inter Bold"/>
                <a:sym typeface="Inter Bold"/>
              </a:rPr>
              <a:t>Maximising Your Learning: Course Best Practices</a:t>
            </a:r>
          </a:p>
        </p:txBody>
      </p:sp>
      <p:grpSp>
        <p:nvGrpSpPr>
          <p:cNvPr id="7" name="Group 7"/>
          <p:cNvGrpSpPr/>
          <p:nvPr/>
        </p:nvGrpSpPr>
        <p:grpSpPr>
          <a:xfrm>
            <a:off x="879425" y="2017960"/>
            <a:ext cx="1256407" cy="1256556"/>
            <a:chOff x="0" y="0"/>
            <a:chExt cx="1675210" cy="1675408"/>
          </a:xfrm>
        </p:grpSpPr>
        <p:sp>
          <p:nvSpPr>
            <p:cNvPr id="8" name="Freeform 8" descr="preencoded.png"/>
            <p:cNvSpPr/>
            <p:nvPr/>
          </p:nvSpPr>
          <p:spPr>
            <a:xfrm>
              <a:off x="0" y="0"/>
              <a:ext cx="1675257" cy="1675384"/>
            </a:xfrm>
            <a:custGeom>
              <a:avLst/>
              <a:gdLst/>
              <a:ahLst/>
              <a:cxnLst/>
              <a:rect l="l" t="t" r="r" b="b"/>
              <a:pathLst>
                <a:path w="1675257" h="1675384">
                  <a:moveTo>
                    <a:pt x="0" y="0"/>
                  </a:moveTo>
                  <a:lnTo>
                    <a:pt x="1675257" y="0"/>
                  </a:lnTo>
                  <a:lnTo>
                    <a:pt x="1675257" y="1675384"/>
                  </a:lnTo>
                  <a:lnTo>
                    <a:pt x="0" y="1675384"/>
                  </a:lnTo>
                  <a:lnTo>
                    <a:pt x="0" y="0"/>
                  </a:lnTo>
                  <a:close/>
                </a:path>
              </a:pathLst>
            </a:custGeom>
            <a:blipFill>
              <a:blip r:embed="rId2"/>
              <a:stretch>
                <a:fillRect l="-5" r="-3" b="-1"/>
              </a:stretch>
            </a:blipFill>
          </p:spPr>
        </p:sp>
      </p:grpSp>
      <p:sp>
        <p:nvSpPr>
          <p:cNvPr id="9" name="TextBox 9"/>
          <p:cNvSpPr txBox="1"/>
          <p:nvPr/>
        </p:nvSpPr>
        <p:spPr>
          <a:xfrm>
            <a:off x="2387054" y="1998910"/>
            <a:ext cx="3141166" cy="473539"/>
          </a:xfrm>
          <a:prstGeom prst="rect">
            <a:avLst/>
          </a:prstGeom>
        </p:spPr>
        <p:txBody>
          <a:bodyPr lIns="0" tIns="0" rIns="0" bIns="0" rtlCol="0" anchor="t">
            <a:spAutoFit/>
          </a:bodyPr>
          <a:lstStyle/>
          <a:p>
            <a:pPr algn="l">
              <a:lnSpc>
                <a:spcPts val="3816"/>
              </a:lnSpc>
            </a:pPr>
            <a:r>
              <a:rPr lang="en-US" sz="3037" b="1">
                <a:solidFill>
                  <a:srgbClr val="00357A"/>
                </a:solidFill>
                <a:latin typeface="Inter Bold"/>
                <a:ea typeface="Inter Bold"/>
                <a:cs typeface="Inter Bold"/>
                <a:sym typeface="Inter Bold"/>
              </a:rPr>
              <a:t>Practice Daily</a:t>
            </a:r>
          </a:p>
        </p:txBody>
      </p:sp>
      <p:sp>
        <p:nvSpPr>
          <p:cNvPr id="10" name="TextBox 10"/>
          <p:cNvSpPr txBox="1"/>
          <p:nvPr/>
        </p:nvSpPr>
        <p:spPr>
          <a:xfrm>
            <a:off x="2387054" y="2447033"/>
            <a:ext cx="15021520" cy="574144"/>
          </a:xfrm>
          <a:prstGeom prst="rect">
            <a:avLst/>
          </a:prstGeom>
        </p:spPr>
        <p:txBody>
          <a:bodyPr lIns="0" tIns="0" rIns="0" bIns="0" rtlCol="0" anchor="t">
            <a:spAutoFit/>
          </a:bodyPr>
          <a:lstStyle/>
          <a:p>
            <a:pPr algn="l">
              <a:lnSpc>
                <a:spcPts val="4899"/>
              </a:lnSpc>
            </a:pPr>
            <a:r>
              <a:rPr lang="en-US" sz="3037">
                <a:solidFill>
                  <a:srgbClr val="00357A"/>
                </a:solidFill>
                <a:latin typeface="Inter"/>
                <a:ea typeface="Inter"/>
                <a:cs typeface="Inter"/>
                <a:sym typeface="Inter"/>
              </a:rPr>
              <a:t>Hands-on coding reinforces concepts better than passive learning.</a:t>
            </a:r>
          </a:p>
        </p:txBody>
      </p:sp>
      <p:grpSp>
        <p:nvGrpSpPr>
          <p:cNvPr id="11" name="Group 11"/>
          <p:cNvGrpSpPr/>
          <p:nvPr/>
        </p:nvGrpSpPr>
        <p:grpSpPr>
          <a:xfrm>
            <a:off x="879425" y="3525739"/>
            <a:ext cx="1256407" cy="1256556"/>
            <a:chOff x="0" y="0"/>
            <a:chExt cx="1675210" cy="1675408"/>
          </a:xfrm>
        </p:grpSpPr>
        <p:sp>
          <p:nvSpPr>
            <p:cNvPr id="12" name="Freeform 12" descr="preencoded.png"/>
            <p:cNvSpPr/>
            <p:nvPr/>
          </p:nvSpPr>
          <p:spPr>
            <a:xfrm>
              <a:off x="0" y="0"/>
              <a:ext cx="1675257" cy="1675384"/>
            </a:xfrm>
            <a:custGeom>
              <a:avLst/>
              <a:gdLst/>
              <a:ahLst/>
              <a:cxnLst/>
              <a:rect l="l" t="t" r="r" b="b"/>
              <a:pathLst>
                <a:path w="1675257" h="1675384">
                  <a:moveTo>
                    <a:pt x="0" y="0"/>
                  </a:moveTo>
                  <a:lnTo>
                    <a:pt x="1675257" y="0"/>
                  </a:lnTo>
                  <a:lnTo>
                    <a:pt x="1675257" y="1675384"/>
                  </a:lnTo>
                  <a:lnTo>
                    <a:pt x="0" y="1675384"/>
                  </a:lnTo>
                  <a:lnTo>
                    <a:pt x="0" y="0"/>
                  </a:lnTo>
                  <a:close/>
                </a:path>
              </a:pathLst>
            </a:custGeom>
            <a:blipFill>
              <a:blip r:embed="rId3"/>
              <a:stretch>
                <a:fillRect l="-5" r="-3" b="-1"/>
              </a:stretch>
            </a:blipFill>
          </p:spPr>
        </p:sp>
      </p:grpSp>
      <p:sp>
        <p:nvSpPr>
          <p:cNvPr id="13" name="TextBox 13"/>
          <p:cNvSpPr txBox="1"/>
          <p:nvPr/>
        </p:nvSpPr>
        <p:spPr>
          <a:xfrm>
            <a:off x="2387054" y="3506689"/>
            <a:ext cx="3141166" cy="473539"/>
          </a:xfrm>
          <a:prstGeom prst="rect">
            <a:avLst/>
          </a:prstGeom>
        </p:spPr>
        <p:txBody>
          <a:bodyPr lIns="0" tIns="0" rIns="0" bIns="0" rtlCol="0" anchor="t">
            <a:spAutoFit/>
          </a:bodyPr>
          <a:lstStyle/>
          <a:p>
            <a:pPr algn="l">
              <a:lnSpc>
                <a:spcPts val="3816"/>
              </a:lnSpc>
            </a:pPr>
            <a:r>
              <a:rPr lang="en-US" sz="3037" b="1">
                <a:solidFill>
                  <a:srgbClr val="00357A"/>
                </a:solidFill>
                <a:latin typeface="Inter Bold"/>
                <a:ea typeface="Inter Bold"/>
                <a:cs typeface="Inter Bold"/>
                <a:sym typeface="Inter Bold"/>
              </a:rPr>
              <a:t>Collaborate</a:t>
            </a:r>
          </a:p>
        </p:txBody>
      </p:sp>
      <p:sp>
        <p:nvSpPr>
          <p:cNvPr id="14" name="TextBox 14"/>
          <p:cNvSpPr txBox="1"/>
          <p:nvPr/>
        </p:nvSpPr>
        <p:spPr>
          <a:xfrm>
            <a:off x="2387054" y="3954810"/>
            <a:ext cx="15021520" cy="574144"/>
          </a:xfrm>
          <a:prstGeom prst="rect">
            <a:avLst/>
          </a:prstGeom>
        </p:spPr>
        <p:txBody>
          <a:bodyPr lIns="0" tIns="0" rIns="0" bIns="0" rtlCol="0" anchor="t">
            <a:spAutoFit/>
          </a:bodyPr>
          <a:lstStyle/>
          <a:p>
            <a:pPr algn="l">
              <a:lnSpc>
                <a:spcPts val="4899"/>
              </a:lnSpc>
            </a:pPr>
            <a:r>
              <a:rPr lang="en-US" sz="3037">
                <a:solidFill>
                  <a:srgbClr val="00357A"/>
                </a:solidFill>
                <a:latin typeface="Inter"/>
                <a:ea typeface="Inter"/>
                <a:cs typeface="Inter"/>
                <a:sym typeface="Inter"/>
              </a:rPr>
              <a:t>Work with peers; diverse perspectives enhance problem-solving.</a:t>
            </a:r>
          </a:p>
        </p:txBody>
      </p:sp>
      <p:grpSp>
        <p:nvGrpSpPr>
          <p:cNvPr id="15" name="Group 15"/>
          <p:cNvGrpSpPr/>
          <p:nvPr/>
        </p:nvGrpSpPr>
        <p:grpSpPr>
          <a:xfrm>
            <a:off x="879425" y="5033516"/>
            <a:ext cx="1256407" cy="1256556"/>
            <a:chOff x="0" y="0"/>
            <a:chExt cx="1675210" cy="1675408"/>
          </a:xfrm>
        </p:grpSpPr>
        <p:sp>
          <p:nvSpPr>
            <p:cNvPr id="16" name="Freeform 16" descr="preencoded.png"/>
            <p:cNvSpPr/>
            <p:nvPr/>
          </p:nvSpPr>
          <p:spPr>
            <a:xfrm>
              <a:off x="0" y="0"/>
              <a:ext cx="1675257" cy="1675384"/>
            </a:xfrm>
            <a:custGeom>
              <a:avLst/>
              <a:gdLst/>
              <a:ahLst/>
              <a:cxnLst/>
              <a:rect l="l" t="t" r="r" b="b"/>
              <a:pathLst>
                <a:path w="1675257" h="1675384">
                  <a:moveTo>
                    <a:pt x="0" y="0"/>
                  </a:moveTo>
                  <a:lnTo>
                    <a:pt x="1675257" y="0"/>
                  </a:lnTo>
                  <a:lnTo>
                    <a:pt x="1675257" y="1675384"/>
                  </a:lnTo>
                  <a:lnTo>
                    <a:pt x="0" y="1675384"/>
                  </a:lnTo>
                  <a:lnTo>
                    <a:pt x="0" y="0"/>
                  </a:lnTo>
                  <a:close/>
                </a:path>
              </a:pathLst>
            </a:custGeom>
            <a:blipFill>
              <a:blip r:embed="rId4"/>
              <a:stretch>
                <a:fillRect l="-5" r="-3" b="-1"/>
              </a:stretch>
            </a:blipFill>
          </p:spPr>
        </p:sp>
      </p:grpSp>
      <p:sp>
        <p:nvSpPr>
          <p:cNvPr id="17" name="TextBox 17"/>
          <p:cNvSpPr txBox="1"/>
          <p:nvPr/>
        </p:nvSpPr>
        <p:spPr>
          <a:xfrm>
            <a:off x="2387054" y="5014466"/>
            <a:ext cx="3141166" cy="473539"/>
          </a:xfrm>
          <a:prstGeom prst="rect">
            <a:avLst/>
          </a:prstGeom>
        </p:spPr>
        <p:txBody>
          <a:bodyPr lIns="0" tIns="0" rIns="0" bIns="0" rtlCol="0" anchor="t">
            <a:spAutoFit/>
          </a:bodyPr>
          <a:lstStyle/>
          <a:p>
            <a:pPr algn="l">
              <a:lnSpc>
                <a:spcPts val="3816"/>
              </a:lnSpc>
            </a:pPr>
            <a:r>
              <a:rPr lang="en-US" sz="3037" b="1">
                <a:solidFill>
                  <a:srgbClr val="00357A"/>
                </a:solidFill>
                <a:latin typeface="Inter Bold"/>
                <a:ea typeface="Inter Bold"/>
                <a:cs typeface="Inter Bold"/>
                <a:sym typeface="Inter Bold"/>
              </a:rPr>
              <a:t>Ask Questions</a:t>
            </a:r>
          </a:p>
        </p:txBody>
      </p:sp>
      <p:sp>
        <p:nvSpPr>
          <p:cNvPr id="18" name="TextBox 18"/>
          <p:cNvSpPr txBox="1"/>
          <p:nvPr/>
        </p:nvSpPr>
        <p:spPr>
          <a:xfrm>
            <a:off x="2387054" y="5462588"/>
            <a:ext cx="15021520" cy="574144"/>
          </a:xfrm>
          <a:prstGeom prst="rect">
            <a:avLst/>
          </a:prstGeom>
        </p:spPr>
        <p:txBody>
          <a:bodyPr lIns="0" tIns="0" rIns="0" bIns="0" rtlCol="0" anchor="t">
            <a:spAutoFit/>
          </a:bodyPr>
          <a:lstStyle/>
          <a:p>
            <a:pPr algn="l">
              <a:lnSpc>
                <a:spcPts val="4899"/>
              </a:lnSpc>
            </a:pPr>
            <a:r>
              <a:rPr lang="en-US" sz="3037">
                <a:solidFill>
                  <a:srgbClr val="00357A"/>
                </a:solidFill>
                <a:latin typeface="Inter"/>
                <a:ea typeface="Inter"/>
                <a:cs typeface="Inter"/>
                <a:sym typeface="Inter"/>
              </a:rPr>
              <a:t>Clarify doubts immediately; no question is too basic.</a:t>
            </a:r>
          </a:p>
        </p:txBody>
      </p:sp>
      <p:grpSp>
        <p:nvGrpSpPr>
          <p:cNvPr id="19" name="Group 19"/>
          <p:cNvGrpSpPr/>
          <p:nvPr/>
        </p:nvGrpSpPr>
        <p:grpSpPr>
          <a:xfrm>
            <a:off x="879425" y="6541294"/>
            <a:ext cx="1256407" cy="1256556"/>
            <a:chOff x="0" y="0"/>
            <a:chExt cx="1675210" cy="1675408"/>
          </a:xfrm>
        </p:grpSpPr>
        <p:sp>
          <p:nvSpPr>
            <p:cNvPr id="20" name="Freeform 20" descr="preencoded.png"/>
            <p:cNvSpPr/>
            <p:nvPr/>
          </p:nvSpPr>
          <p:spPr>
            <a:xfrm>
              <a:off x="0" y="0"/>
              <a:ext cx="1675257" cy="1675384"/>
            </a:xfrm>
            <a:custGeom>
              <a:avLst/>
              <a:gdLst/>
              <a:ahLst/>
              <a:cxnLst/>
              <a:rect l="l" t="t" r="r" b="b"/>
              <a:pathLst>
                <a:path w="1675257" h="1675384">
                  <a:moveTo>
                    <a:pt x="0" y="0"/>
                  </a:moveTo>
                  <a:lnTo>
                    <a:pt x="1675257" y="0"/>
                  </a:lnTo>
                  <a:lnTo>
                    <a:pt x="1675257" y="1675384"/>
                  </a:lnTo>
                  <a:lnTo>
                    <a:pt x="0" y="1675384"/>
                  </a:lnTo>
                  <a:lnTo>
                    <a:pt x="0" y="0"/>
                  </a:lnTo>
                  <a:close/>
                </a:path>
              </a:pathLst>
            </a:custGeom>
            <a:blipFill>
              <a:blip r:embed="rId5"/>
              <a:stretch>
                <a:fillRect l="-5" r="-3" b="-1"/>
              </a:stretch>
            </a:blipFill>
          </p:spPr>
        </p:sp>
      </p:grpSp>
      <p:sp>
        <p:nvSpPr>
          <p:cNvPr id="21" name="TextBox 21"/>
          <p:cNvSpPr txBox="1"/>
          <p:nvPr/>
        </p:nvSpPr>
        <p:spPr>
          <a:xfrm>
            <a:off x="2387054" y="6522244"/>
            <a:ext cx="3141166" cy="473539"/>
          </a:xfrm>
          <a:prstGeom prst="rect">
            <a:avLst/>
          </a:prstGeom>
        </p:spPr>
        <p:txBody>
          <a:bodyPr lIns="0" tIns="0" rIns="0" bIns="0" rtlCol="0" anchor="t">
            <a:spAutoFit/>
          </a:bodyPr>
          <a:lstStyle/>
          <a:p>
            <a:pPr algn="l">
              <a:lnSpc>
                <a:spcPts val="3816"/>
              </a:lnSpc>
            </a:pPr>
            <a:r>
              <a:rPr lang="en-US" sz="3037" b="1">
                <a:solidFill>
                  <a:srgbClr val="00357A"/>
                </a:solidFill>
                <a:latin typeface="Inter Bold"/>
                <a:ea typeface="Inter Bold"/>
                <a:cs typeface="Inter Bold"/>
                <a:sym typeface="Inter Bold"/>
              </a:rPr>
              <a:t>Build Projects</a:t>
            </a:r>
          </a:p>
        </p:txBody>
      </p:sp>
      <p:sp>
        <p:nvSpPr>
          <p:cNvPr id="22" name="TextBox 22"/>
          <p:cNvSpPr txBox="1"/>
          <p:nvPr/>
        </p:nvSpPr>
        <p:spPr>
          <a:xfrm>
            <a:off x="2387054" y="6970365"/>
            <a:ext cx="15021520" cy="574144"/>
          </a:xfrm>
          <a:prstGeom prst="rect">
            <a:avLst/>
          </a:prstGeom>
        </p:spPr>
        <p:txBody>
          <a:bodyPr lIns="0" tIns="0" rIns="0" bIns="0" rtlCol="0" anchor="t">
            <a:spAutoFit/>
          </a:bodyPr>
          <a:lstStyle/>
          <a:p>
            <a:pPr algn="l">
              <a:lnSpc>
                <a:spcPts val="4899"/>
              </a:lnSpc>
            </a:pPr>
            <a:r>
              <a:rPr lang="en-US" sz="3037">
                <a:solidFill>
                  <a:srgbClr val="00357A"/>
                </a:solidFill>
                <a:latin typeface="Inter"/>
                <a:ea typeface="Inter"/>
                <a:cs typeface="Inter"/>
                <a:sym typeface="Inter"/>
              </a:rPr>
              <a:t>Apply weekly concepts to small projects for practical experience.</a:t>
            </a:r>
          </a:p>
        </p:txBody>
      </p:sp>
      <p:grpSp>
        <p:nvGrpSpPr>
          <p:cNvPr id="23" name="Group 23"/>
          <p:cNvGrpSpPr/>
          <p:nvPr/>
        </p:nvGrpSpPr>
        <p:grpSpPr>
          <a:xfrm>
            <a:off x="879425" y="8049071"/>
            <a:ext cx="1256407" cy="1256556"/>
            <a:chOff x="0" y="0"/>
            <a:chExt cx="1675210" cy="1675408"/>
          </a:xfrm>
        </p:grpSpPr>
        <p:sp>
          <p:nvSpPr>
            <p:cNvPr id="24" name="Freeform 24" descr="preencoded.png"/>
            <p:cNvSpPr/>
            <p:nvPr/>
          </p:nvSpPr>
          <p:spPr>
            <a:xfrm>
              <a:off x="0" y="0"/>
              <a:ext cx="1675257" cy="1675384"/>
            </a:xfrm>
            <a:custGeom>
              <a:avLst/>
              <a:gdLst/>
              <a:ahLst/>
              <a:cxnLst/>
              <a:rect l="l" t="t" r="r" b="b"/>
              <a:pathLst>
                <a:path w="1675257" h="1675384">
                  <a:moveTo>
                    <a:pt x="0" y="0"/>
                  </a:moveTo>
                  <a:lnTo>
                    <a:pt x="1675257" y="0"/>
                  </a:lnTo>
                  <a:lnTo>
                    <a:pt x="1675257" y="1675384"/>
                  </a:lnTo>
                  <a:lnTo>
                    <a:pt x="0" y="1675384"/>
                  </a:lnTo>
                  <a:lnTo>
                    <a:pt x="0" y="0"/>
                  </a:lnTo>
                  <a:close/>
                </a:path>
              </a:pathLst>
            </a:custGeom>
            <a:blipFill>
              <a:blip r:embed="rId6"/>
              <a:stretch>
                <a:fillRect l="-5" r="-3" b="-1"/>
              </a:stretch>
            </a:blipFill>
          </p:spPr>
        </p:sp>
      </p:grpSp>
      <p:sp>
        <p:nvSpPr>
          <p:cNvPr id="25" name="TextBox 25"/>
          <p:cNvSpPr txBox="1"/>
          <p:nvPr/>
        </p:nvSpPr>
        <p:spPr>
          <a:xfrm>
            <a:off x="2387054" y="8030021"/>
            <a:ext cx="4199138" cy="473539"/>
          </a:xfrm>
          <a:prstGeom prst="rect">
            <a:avLst/>
          </a:prstGeom>
        </p:spPr>
        <p:txBody>
          <a:bodyPr lIns="0" tIns="0" rIns="0" bIns="0" rtlCol="0" anchor="t">
            <a:spAutoFit/>
          </a:bodyPr>
          <a:lstStyle/>
          <a:p>
            <a:pPr algn="l">
              <a:lnSpc>
                <a:spcPts val="3816"/>
              </a:lnSpc>
            </a:pPr>
            <a:r>
              <a:rPr lang="en-US" sz="3037" b="1">
                <a:solidFill>
                  <a:srgbClr val="00357A"/>
                </a:solidFill>
                <a:latin typeface="Inter Bold"/>
                <a:ea typeface="Inter Bold"/>
                <a:cs typeface="Inter Bold"/>
                <a:sym typeface="Inter Bold"/>
              </a:rPr>
              <a:t>Revise &amp; Experiment</a:t>
            </a:r>
          </a:p>
        </p:txBody>
      </p:sp>
      <p:sp>
        <p:nvSpPr>
          <p:cNvPr id="26" name="TextBox 26"/>
          <p:cNvSpPr txBox="1"/>
          <p:nvPr/>
        </p:nvSpPr>
        <p:spPr>
          <a:xfrm>
            <a:off x="2387054" y="8478142"/>
            <a:ext cx="15021520" cy="574144"/>
          </a:xfrm>
          <a:prstGeom prst="rect">
            <a:avLst/>
          </a:prstGeom>
        </p:spPr>
        <p:txBody>
          <a:bodyPr lIns="0" tIns="0" rIns="0" bIns="0" rtlCol="0" anchor="t">
            <a:spAutoFit/>
          </a:bodyPr>
          <a:lstStyle/>
          <a:p>
            <a:pPr algn="l">
              <a:lnSpc>
                <a:spcPts val="4899"/>
              </a:lnSpc>
            </a:pPr>
            <a:r>
              <a:rPr lang="en-US" sz="3037">
                <a:solidFill>
                  <a:srgbClr val="00357A"/>
                </a:solidFill>
                <a:latin typeface="Inter"/>
                <a:ea typeface="Inter"/>
                <a:cs typeface="Inter"/>
                <a:sym typeface="Inter"/>
              </a:rPr>
              <a:t>Regularly revisit concepts and try new things with your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99C5FF"/>
            </a:solidFill>
          </p:spPr>
        </p:sp>
      </p:grpSp>
      <p:sp>
        <p:nvSpPr>
          <p:cNvPr id="6" name="TextBox 6"/>
          <p:cNvSpPr txBox="1"/>
          <p:nvPr/>
        </p:nvSpPr>
        <p:spPr>
          <a:xfrm>
            <a:off x="1028700" y="403026"/>
            <a:ext cx="11292036" cy="846981"/>
          </a:xfrm>
          <a:prstGeom prst="rect">
            <a:avLst/>
          </a:prstGeom>
        </p:spPr>
        <p:txBody>
          <a:bodyPr lIns="0" tIns="0" rIns="0" bIns="0" rtlCol="0" anchor="t">
            <a:spAutoFit/>
          </a:bodyPr>
          <a:lstStyle/>
          <a:p>
            <a:pPr algn="l">
              <a:lnSpc>
                <a:spcPts val="6312"/>
              </a:lnSpc>
            </a:pPr>
            <a:r>
              <a:rPr lang="en-US" sz="5062" b="1">
                <a:solidFill>
                  <a:srgbClr val="00357A"/>
                </a:solidFill>
                <a:latin typeface="Inter Bold"/>
                <a:ea typeface="Inter Bold"/>
                <a:cs typeface="Inter Bold"/>
                <a:sym typeface="Inter Bold"/>
              </a:rPr>
              <a:t>Your Transformation After 45 Hours</a:t>
            </a:r>
          </a:p>
        </p:txBody>
      </p:sp>
      <p:grpSp>
        <p:nvGrpSpPr>
          <p:cNvPr id="7" name="Group 7"/>
          <p:cNvGrpSpPr/>
          <p:nvPr/>
        </p:nvGrpSpPr>
        <p:grpSpPr>
          <a:xfrm>
            <a:off x="901154" y="2240608"/>
            <a:ext cx="8118127" cy="3247281"/>
            <a:chOff x="0" y="0"/>
            <a:chExt cx="10824170" cy="4329708"/>
          </a:xfrm>
        </p:grpSpPr>
        <p:sp>
          <p:nvSpPr>
            <p:cNvPr id="8" name="Freeform 8"/>
            <p:cNvSpPr/>
            <p:nvPr/>
          </p:nvSpPr>
          <p:spPr>
            <a:xfrm>
              <a:off x="6350" y="8070"/>
              <a:ext cx="10811383" cy="4313568"/>
            </a:xfrm>
            <a:custGeom>
              <a:avLst/>
              <a:gdLst/>
              <a:ahLst/>
              <a:cxnLst/>
              <a:rect l="l" t="t" r="r" b="b"/>
              <a:pathLst>
                <a:path w="10811383" h="4313568">
                  <a:moveTo>
                    <a:pt x="0" y="184164"/>
                  </a:moveTo>
                  <a:cubicBezTo>
                    <a:pt x="0" y="82479"/>
                    <a:pt x="65024" y="0"/>
                    <a:pt x="145288" y="0"/>
                  </a:cubicBezTo>
                  <a:lnTo>
                    <a:pt x="10666095" y="0"/>
                  </a:lnTo>
                  <a:cubicBezTo>
                    <a:pt x="10746359" y="0"/>
                    <a:pt x="10811383" y="82479"/>
                    <a:pt x="10811383" y="184164"/>
                  </a:cubicBezTo>
                  <a:lnTo>
                    <a:pt x="10811383" y="4129404"/>
                  </a:lnTo>
                  <a:cubicBezTo>
                    <a:pt x="10811383" y="4231089"/>
                    <a:pt x="10746359" y="4313568"/>
                    <a:pt x="10666095" y="4313568"/>
                  </a:cubicBezTo>
                  <a:lnTo>
                    <a:pt x="145288" y="4313568"/>
                  </a:lnTo>
                  <a:cubicBezTo>
                    <a:pt x="65024" y="4313568"/>
                    <a:pt x="0" y="4231090"/>
                    <a:pt x="0" y="4129404"/>
                  </a:cubicBezTo>
                  <a:close/>
                </a:path>
              </a:pathLst>
            </a:custGeom>
            <a:solidFill>
              <a:srgbClr val="99C5FF"/>
            </a:solidFill>
          </p:spPr>
        </p:sp>
        <p:sp>
          <p:nvSpPr>
            <p:cNvPr id="9" name="Freeform 9"/>
            <p:cNvSpPr/>
            <p:nvPr/>
          </p:nvSpPr>
          <p:spPr>
            <a:xfrm>
              <a:off x="0" y="0"/>
              <a:ext cx="10824083" cy="4329708"/>
            </a:xfrm>
            <a:custGeom>
              <a:avLst/>
              <a:gdLst/>
              <a:ahLst/>
              <a:cxnLst/>
              <a:rect l="l" t="t" r="r" b="b"/>
              <a:pathLst>
                <a:path w="10824083" h="4329708">
                  <a:moveTo>
                    <a:pt x="0" y="192234"/>
                  </a:moveTo>
                  <a:cubicBezTo>
                    <a:pt x="0" y="86029"/>
                    <a:pt x="67945" y="0"/>
                    <a:pt x="151638" y="0"/>
                  </a:cubicBezTo>
                  <a:lnTo>
                    <a:pt x="10672445" y="0"/>
                  </a:lnTo>
                  <a:lnTo>
                    <a:pt x="10672445" y="8070"/>
                  </a:lnTo>
                  <a:lnTo>
                    <a:pt x="10672445" y="0"/>
                  </a:lnTo>
                  <a:cubicBezTo>
                    <a:pt x="10756264" y="0"/>
                    <a:pt x="10824083" y="86029"/>
                    <a:pt x="10824083" y="192234"/>
                  </a:cubicBezTo>
                  <a:lnTo>
                    <a:pt x="10817733" y="192234"/>
                  </a:lnTo>
                  <a:lnTo>
                    <a:pt x="10824083" y="192234"/>
                  </a:lnTo>
                  <a:lnTo>
                    <a:pt x="10824083" y="4137474"/>
                  </a:lnTo>
                  <a:lnTo>
                    <a:pt x="10817733" y="4137474"/>
                  </a:lnTo>
                  <a:lnTo>
                    <a:pt x="10824083" y="4137474"/>
                  </a:lnTo>
                  <a:cubicBezTo>
                    <a:pt x="10824083" y="4243679"/>
                    <a:pt x="10756138" y="4329708"/>
                    <a:pt x="10672445" y="4329708"/>
                  </a:cubicBezTo>
                  <a:lnTo>
                    <a:pt x="10672445" y="4321638"/>
                  </a:lnTo>
                  <a:lnTo>
                    <a:pt x="10672445" y="4329708"/>
                  </a:lnTo>
                  <a:lnTo>
                    <a:pt x="151638" y="4329708"/>
                  </a:lnTo>
                  <a:lnTo>
                    <a:pt x="151638" y="4321638"/>
                  </a:lnTo>
                  <a:lnTo>
                    <a:pt x="151638" y="4329708"/>
                  </a:lnTo>
                  <a:cubicBezTo>
                    <a:pt x="67945" y="4329708"/>
                    <a:pt x="0" y="4243679"/>
                    <a:pt x="0" y="4137474"/>
                  </a:cubicBezTo>
                  <a:lnTo>
                    <a:pt x="0" y="192234"/>
                  </a:lnTo>
                  <a:lnTo>
                    <a:pt x="6350" y="192234"/>
                  </a:lnTo>
                  <a:lnTo>
                    <a:pt x="0" y="192234"/>
                  </a:lnTo>
                  <a:moveTo>
                    <a:pt x="12700" y="192234"/>
                  </a:moveTo>
                  <a:lnTo>
                    <a:pt x="12700" y="4137474"/>
                  </a:lnTo>
                  <a:lnTo>
                    <a:pt x="6350" y="4137474"/>
                  </a:lnTo>
                  <a:lnTo>
                    <a:pt x="12700" y="4137474"/>
                  </a:lnTo>
                  <a:cubicBezTo>
                    <a:pt x="12700" y="4234802"/>
                    <a:pt x="74930" y="4313568"/>
                    <a:pt x="151638" y="4313568"/>
                  </a:cubicBezTo>
                  <a:lnTo>
                    <a:pt x="10672445" y="4313568"/>
                  </a:lnTo>
                  <a:cubicBezTo>
                    <a:pt x="10749280" y="4313568"/>
                    <a:pt x="10811383" y="4234640"/>
                    <a:pt x="10811383" y="4137474"/>
                  </a:cubicBezTo>
                  <a:lnTo>
                    <a:pt x="10811383" y="192234"/>
                  </a:lnTo>
                  <a:cubicBezTo>
                    <a:pt x="10811510" y="95068"/>
                    <a:pt x="10749280" y="16141"/>
                    <a:pt x="10672445" y="16141"/>
                  </a:cubicBezTo>
                  <a:lnTo>
                    <a:pt x="151638" y="16141"/>
                  </a:lnTo>
                  <a:lnTo>
                    <a:pt x="151638" y="8070"/>
                  </a:lnTo>
                  <a:lnTo>
                    <a:pt x="151638" y="16141"/>
                  </a:lnTo>
                  <a:cubicBezTo>
                    <a:pt x="74930" y="16141"/>
                    <a:pt x="12700" y="95068"/>
                    <a:pt x="12700" y="192234"/>
                  </a:cubicBezTo>
                  <a:close/>
                </a:path>
              </a:pathLst>
            </a:custGeom>
            <a:solidFill>
              <a:srgbClr val="C0C1D7"/>
            </a:solidFill>
          </p:spPr>
        </p:sp>
      </p:grpSp>
      <p:grpSp>
        <p:nvGrpSpPr>
          <p:cNvPr id="10" name="Group 10"/>
          <p:cNvGrpSpPr/>
          <p:nvPr/>
        </p:nvGrpSpPr>
        <p:grpSpPr>
          <a:xfrm>
            <a:off x="1174254" y="2513707"/>
            <a:ext cx="776436" cy="776436"/>
            <a:chOff x="0" y="0"/>
            <a:chExt cx="1035248" cy="1035248"/>
          </a:xfrm>
        </p:grpSpPr>
        <p:sp>
          <p:nvSpPr>
            <p:cNvPr id="11" name="Freeform 11"/>
            <p:cNvSpPr/>
            <p:nvPr/>
          </p:nvSpPr>
          <p:spPr>
            <a:xfrm>
              <a:off x="0" y="0"/>
              <a:ext cx="1035304" cy="1035304"/>
            </a:xfrm>
            <a:custGeom>
              <a:avLst/>
              <a:gdLst/>
              <a:ahLst/>
              <a:cxnLst/>
              <a:rect l="l" t="t" r="r" b="b"/>
              <a:pathLst>
                <a:path w="1035304" h="1035304">
                  <a:moveTo>
                    <a:pt x="0" y="517652"/>
                  </a:moveTo>
                  <a:cubicBezTo>
                    <a:pt x="0" y="231775"/>
                    <a:pt x="231775" y="0"/>
                    <a:pt x="517652" y="0"/>
                  </a:cubicBezTo>
                  <a:cubicBezTo>
                    <a:pt x="803529" y="0"/>
                    <a:pt x="1035304" y="231775"/>
                    <a:pt x="1035304" y="517652"/>
                  </a:cubicBezTo>
                  <a:cubicBezTo>
                    <a:pt x="1035304" y="803529"/>
                    <a:pt x="803529" y="1035304"/>
                    <a:pt x="517652" y="1035304"/>
                  </a:cubicBezTo>
                  <a:cubicBezTo>
                    <a:pt x="231775" y="1035304"/>
                    <a:pt x="0" y="803529"/>
                    <a:pt x="0" y="517652"/>
                  </a:cubicBezTo>
                  <a:close/>
                </a:path>
              </a:pathLst>
            </a:custGeom>
            <a:solidFill>
              <a:srgbClr val="4950BC"/>
            </a:solidFill>
          </p:spPr>
        </p:sp>
      </p:grpSp>
      <p:grpSp>
        <p:nvGrpSpPr>
          <p:cNvPr id="12" name="Group 12"/>
          <p:cNvGrpSpPr/>
          <p:nvPr/>
        </p:nvGrpSpPr>
        <p:grpSpPr>
          <a:xfrm>
            <a:off x="1387822" y="2683520"/>
            <a:ext cx="349300" cy="436661"/>
            <a:chOff x="0" y="0"/>
            <a:chExt cx="465733" cy="582215"/>
          </a:xfrm>
        </p:grpSpPr>
        <p:sp>
          <p:nvSpPr>
            <p:cNvPr id="13" name="Freeform 13" descr="preencoded.png"/>
            <p:cNvSpPr/>
            <p:nvPr/>
          </p:nvSpPr>
          <p:spPr>
            <a:xfrm>
              <a:off x="0" y="0"/>
              <a:ext cx="465709" cy="582168"/>
            </a:xfrm>
            <a:custGeom>
              <a:avLst/>
              <a:gdLst/>
              <a:ahLst/>
              <a:cxnLst/>
              <a:rect l="l" t="t" r="r" b="b"/>
              <a:pathLst>
                <a:path w="465709" h="582168">
                  <a:moveTo>
                    <a:pt x="0" y="0"/>
                  </a:moveTo>
                  <a:lnTo>
                    <a:pt x="465709" y="0"/>
                  </a:lnTo>
                  <a:lnTo>
                    <a:pt x="465709" y="582168"/>
                  </a:lnTo>
                  <a:lnTo>
                    <a:pt x="0" y="582168"/>
                  </a:lnTo>
                  <a:lnTo>
                    <a:pt x="0" y="0"/>
                  </a:lnTo>
                  <a:close/>
                </a:path>
              </a:pathLst>
            </a:custGeom>
            <a:blipFill>
              <a:blip r:embed="rId2"/>
              <a:stretch>
                <a:fillRect l="-275" r="-281" b="-8"/>
              </a:stretch>
            </a:blipFill>
          </p:spPr>
        </p:sp>
      </p:grpSp>
      <p:sp>
        <p:nvSpPr>
          <p:cNvPr id="14" name="TextBox 14"/>
          <p:cNvSpPr txBox="1"/>
          <p:nvPr/>
        </p:nvSpPr>
        <p:spPr>
          <a:xfrm>
            <a:off x="1174254" y="3529905"/>
            <a:ext cx="4068395" cy="485140"/>
          </a:xfrm>
          <a:prstGeom prst="rect">
            <a:avLst/>
          </a:prstGeom>
        </p:spPr>
        <p:txBody>
          <a:bodyPr lIns="0" tIns="0" rIns="0" bIns="0" rtlCol="0" anchor="t">
            <a:spAutoFit/>
          </a:bodyPr>
          <a:lstStyle/>
          <a:p>
            <a:pPr algn="l">
              <a:lnSpc>
                <a:spcPts val="3874"/>
              </a:lnSpc>
            </a:pPr>
            <a:r>
              <a:rPr lang="en-US" sz="3099" b="1">
                <a:solidFill>
                  <a:srgbClr val="00357A"/>
                </a:solidFill>
                <a:latin typeface="Inter Bold"/>
                <a:ea typeface="Inter Bold"/>
                <a:cs typeface="Inter Bold"/>
                <a:sym typeface="Inter Bold"/>
              </a:rPr>
              <a:t>Python Proficiency</a:t>
            </a:r>
          </a:p>
        </p:txBody>
      </p:sp>
      <p:sp>
        <p:nvSpPr>
          <p:cNvPr id="15" name="TextBox 15"/>
          <p:cNvSpPr txBox="1"/>
          <p:nvPr/>
        </p:nvSpPr>
        <p:spPr>
          <a:xfrm>
            <a:off x="1174254" y="3895259"/>
            <a:ext cx="7571929" cy="1181101"/>
          </a:xfrm>
          <a:prstGeom prst="rect">
            <a:avLst/>
          </a:prstGeom>
        </p:spPr>
        <p:txBody>
          <a:bodyPr lIns="0" tIns="0" rIns="0" bIns="0" rtlCol="0" anchor="t">
            <a:spAutoFit/>
          </a:bodyPr>
          <a:lstStyle/>
          <a:p>
            <a:pPr algn="l">
              <a:lnSpc>
                <a:spcPts val="4874"/>
              </a:lnSpc>
            </a:pPr>
            <a:r>
              <a:rPr lang="en-US" sz="2999">
                <a:solidFill>
                  <a:srgbClr val="00357A"/>
                </a:solidFill>
                <a:latin typeface="Inter"/>
                <a:ea typeface="Inter"/>
                <a:cs typeface="Inter"/>
                <a:sym typeface="Inter"/>
              </a:rPr>
              <a:t>Master basics: syntax, data structures, and essential libraries.</a:t>
            </a:r>
          </a:p>
        </p:txBody>
      </p:sp>
      <p:grpSp>
        <p:nvGrpSpPr>
          <p:cNvPr id="16" name="Group 16"/>
          <p:cNvGrpSpPr/>
          <p:nvPr/>
        </p:nvGrpSpPr>
        <p:grpSpPr>
          <a:xfrm>
            <a:off x="9268569" y="2240607"/>
            <a:ext cx="8118276" cy="3094881"/>
            <a:chOff x="0" y="0"/>
            <a:chExt cx="10824368" cy="4126508"/>
          </a:xfrm>
        </p:grpSpPr>
        <p:sp>
          <p:nvSpPr>
            <p:cNvPr id="17" name="Freeform 17"/>
            <p:cNvSpPr/>
            <p:nvPr/>
          </p:nvSpPr>
          <p:spPr>
            <a:xfrm>
              <a:off x="6350" y="7692"/>
              <a:ext cx="10811637" cy="4111125"/>
            </a:xfrm>
            <a:custGeom>
              <a:avLst/>
              <a:gdLst/>
              <a:ahLst/>
              <a:cxnLst/>
              <a:rect l="l" t="t" r="r" b="b"/>
              <a:pathLst>
                <a:path w="10811637" h="4111125">
                  <a:moveTo>
                    <a:pt x="0" y="175520"/>
                  </a:moveTo>
                  <a:cubicBezTo>
                    <a:pt x="0" y="78607"/>
                    <a:pt x="65024" y="0"/>
                    <a:pt x="145288" y="0"/>
                  </a:cubicBezTo>
                  <a:lnTo>
                    <a:pt x="10666349" y="0"/>
                  </a:lnTo>
                  <a:cubicBezTo>
                    <a:pt x="10746613" y="0"/>
                    <a:pt x="10811637" y="78607"/>
                    <a:pt x="10811637" y="175520"/>
                  </a:cubicBezTo>
                  <a:lnTo>
                    <a:pt x="10811637" y="3935604"/>
                  </a:lnTo>
                  <a:cubicBezTo>
                    <a:pt x="10811637" y="4032517"/>
                    <a:pt x="10746613" y="4111125"/>
                    <a:pt x="10666349" y="4111125"/>
                  </a:cubicBezTo>
                  <a:lnTo>
                    <a:pt x="145288" y="4111125"/>
                  </a:lnTo>
                  <a:cubicBezTo>
                    <a:pt x="65024" y="4111125"/>
                    <a:pt x="0" y="4032518"/>
                    <a:pt x="0" y="3935604"/>
                  </a:cubicBezTo>
                  <a:close/>
                </a:path>
              </a:pathLst>
            </a:custGeom>
            <a:solidFill>
              <a:srgbClr val="99C5FF"/>
            </a:solidFill>
          </p:spPr>
        </p:sp>
        <p:sp>
          <p:nvSpPr>
            <p:cNvPr id="18" name="Freeform 18"/>
            <p:cNvSpPr/>
            <p:nvPr/>
          </p:nvSpPr>
          <p:spPr>
            <a:xfrm>
              <a:off x="0" y="0"/>
              <a:ext cx="10824337" cy="4126508"/>
            </a:xfrm>
            <a:custGeom>
              <a:avLst/>
              <a:gdLst/>
              <a:ahLst/>
              <a:cxnLst/>
              <a:rect l="l" t="t" r="r" b="b"/>
              <a:pathLst>
                <a:path w="10824337" h="4126508">
                  <a:moveTo>
                    <a:pt x="0" y="183212"/>
                  </a:moveTo>
                  <a:cubicBezTo>
                    <a:pt x="0" y="81992"/>
                    <a:pt x="67945" y="0"/>
                    <a:pt x="151638" y="0"/>
                  </a:cubicBezTo>
                  <a:lnTo>
                    <a:pt x="10672699" y="0"/>
                  </a:lnTo>
                  <a:lnTo>
                    <a:pt x="10672699" y="7692"/>
                  </a:lnTo>
                  <a:lnTo>
                    <a:pt x="10672699" y="0"/>
                  </a:lnTo>
                  <a:cubicBezTo>
                    <a:pt x="10756519" y="0"/>
                    <a:pt x="10824337" y="81992"/>
                    <a:pt x="10824337" y="183212"/>
                  </a:cubicBezTo>
                  <a:lnTo>
                    <a:pt x="10817987" y="183212"/>
                  </a:lnTo>
                  <a:lnTo>
                    <a:pt x="10824337" y="183212"/>
                  </a:lnTo>
                  <a:lnTo>
                    <a:pt x="10824337" y="3943296"/>
                  </a:lnTo>
                  <a:lnTo>
                    <a:pt x="10817987" y="3943296"/>
                  </a:lnTo>
                  <a:lnTo>
                    <a:pt x="10824337" y="3943296"/>
                  </a:lnTo>
                  <a:cubicBezTo>
                    <a:pt x="10824337" y="4044516"/>
                    <a:pt x="10756392" y="4126508"/>
                    <a:pt x="10672699" y="4126508"/>
                  </a:cubicBezTo>
                  <a:lnTo>
                    <a:pt x="10672699" y="4118817"/>
                  </a:lnTo>
                  <a:lnTo>
                    <a:pt x="10672699" y="4126508"/>
                  </a:lnTo>
                  <a:lnTo>
                    <a:pt x="151638" y="4126508"/>
                  </a:lnTo>
                  <a:lnTo>
                    <a:pt x="151638" y="4118817"/>
                  </a:lnTo>
                  <a:lnTo>
                    <a:pt x="151638" y="4126508"/>
                  </a:lnTo>
                  <a:cubicBezTo>
                    <a:pt x="67945" y="4126508"/>
                    <a:pt x="0" y="4044517"/>
                    <a:pt x="0" y="3943296"/>
                  </a:cubicBezTo>
                  <a:lnTo>
                    <a:pt x="0" y="183212"/>
                  </a:lnTo>
                  <a:lnTo>
                    <a:pt x="6350" y="183212"/>
                  </a:lnTo>
                  <a:lnTo>
                    <a:pt x="0" y="183212"/>
                  </a:lnTo>
                  <a:moveTo>
                    <a:pt x="12700" y="183212"/>
                  </a:moveTo>
                  <a:lnTo>
                    <a:pt x="12700" y="3943296"/>
                  </a:lnTo>
                  <a:lnTo>
                    <a:pt x="6350" y="3943296"/>
                  </a:lnTo>
                  <a:lnTo>
                    <a:pt x="12700" y="3943296"/>
                  </a:lnTo>
                  <a:cubicBezTo>
                    <a:pt x="12700" y="4036056"/>
                    <a:pt x="74930" y="4111125"/>
                    <a:pt x="151638" y="4111125"/>
                  </a:cubicBezTo>
                  <a:lnTo>
                    <a:pt x="10672699" y="4111125"/>
                  </a:lnTo>
                  <a:cubicBezTo>
                    <a:pt x="10749534" y="4111125"/>
                    <a:pt x="10811637" y="4035902"/>
                    <a:pt x="10811637" y="3943296"/>
                  </a:cubicBezTo>
                  <a:lnTo>
                    <a:pt x="10811637" y="183212"/>
                  </a:lnTo>
                  <a:cubicBezTo>
                    <a:pt x="10811637" y="90452"/>
                    <a:pt x="10749407" y="15383"/>
                    <a:pt x="10672699" y="15383"/>
                  </a:cubicBezTo>
                  <a:lnTo>
                    <a:pt x="151638" y="15383"/>
                  </a:lnTo>
                  <a:lnTo>
                    <a:pt x="151638" y="7692"/>
                  </a:lnTo>
                  <a:lnTo>
                    <a:pt x="151638" y="15383"/>
                  </a:lnTo>
                  <a:cubicBezTo>
                    <a:pt x="74930" y="15383"/>
                    <a:pt x="12700" y="90606"/>
                    <a:pt x="12700" y="183212"/>
                  </a:cubicBezTo>
                  <a:close/>
                </a:path>
              </a:pathLst>
            </a:custGeom>
            <a:solidFill>
              <a:srgbClr val="C0C1D7"/>
            </a:solidFill>
          </p:spPr>
        </p:sp>
      </p:grpSp>
      <p:grpSp>
        <p:nvGrpSpPr>
          <p:cNvPr id="19" name="Group 19"/>
          <p:cNvGrpSpPr/>
          <p:nvPr/>
        </p:nvGrpSpPr>
        <p:grpSpPr>
          <a:xfrm>
            <a:off x="9541669" y="2513707"/>
            <a:ext cx="776436" cy="776436"/>
            <a:chOff x="0" y="0"/>
            <a:chExt cx="1035248" cy="1035248"/>
          </a:xfrm>
        </p:grpSpPr>
        <p:sp>
          <p:nvSpPr>
            <p:cNvPr id="20" name="Freeform 20"/>
            <p:cNvSpPr/>
            <p:nvPr/>
          </p:nvSpPr>
          <p:spPr>
            <a:xfrm>
              <a:off x="0" y="0"/>
              <a:ext cx="1035304" cy="1035304"/>
            </a:xfrm>
            <a:custGeom>
              <a:avLst/>
              <a:gdLst/>
              <a:ahLst/>
              <a:cxnLst/>
              <a:rect l="l" t="t" r="r" b="b"/>
              <a:pathLst>
                <a:path w="1035304" h="1035304">
                  <a:moveTo>
                    <a:pt x="0" y="517652"/>
                  </a:moveTo>
                  <a:cubicBezTo>
                    <a:pt x="0" y="231775"/>
                    <a:pt x="231775" y="0"/>
                    <a:pt x="517652" y="0"/>
                  </a:cubicBezTo>
                  <a:cubicBezTo>
                    <a:pt x="803529" y="0"/>
                    <a:pt x="1035304" y="231775"/>
                    <a:pt x="1035304" y="517652"/>
                  </a:cubicBezTo>
                  <a:cubicBezTo>
                    <a:pt x="1035304" y="803529"/>
                    <a:pt x="803529" y="1035304"/>
                    <a:pt x="517652" y="1035304"/>
                  </a:cubicBezTo>
                  <a:cubicBezTo>
                    <a:pt x="231775" y="1035304"/>
                    <a:pt x="0" y="803529"/>
                    <a:pt x="0" y="517652"/>
                  </a:cubicBezTo>
                  <a:close/>
                </a:path>
              </a:pathLst>
            </a:custGeom>
            <a:solidFill>
              <a:srgbClr val="4950BC"/>
            </a:solidFill>
          </p:spPr>
        </p:sp>
      </p:grpSp>
      <p:grpSp>
        <p:nvGrpSpPr>
          <p:cNvPr id="21" name="Group 21"/>
          <p:cNvGrpSpPr/>
          <p:nvPr/>
        </p:nvGrpSpPr>
        <p:grpSpPr>
          <a:xfrm>
            <a:off x="9755237" y="2683520"/>
            <a:ext cx="349300" cy="436661"/>
            <a:chOff x="0" y="0"/>
            <a:chExt cx="465733" cy="582215"/>
          </a:xfrm>
        </p:grpSpPr>
        <p:sp>
          <p:nvSpPr>
            <p:cNvPr id="22" name="Freeform 22" descr="preencoded.png"/>
            <p:cNvSpPr/>
            <p:nvPr/>
          </p:nvSpPr>
          <p:spPr>
            <a:xfrm>
              <a:off x="0" y="0"/>
              <a:ext cx="465709" cy="582168"/>
            </a:xfrm>
            <a:custGeom>
              <a:avLst/>
              <a:gdLst/>
              <a:ahLst/>
              <a:cxnLst/>
              <a:rect l="l" t="t" r="r" b="b"/>
              <a:pathLst>
                <a:path w="465709" h="582168">
                  <a:moveTo>
                    <a:pt x="0" y="0"/>
                  </a:moveTo>
                  <a:lnTo>
                    <a:pt x="465709" y="0"/>
                  </a:lnTo>
                  <a:lnTo>
                    <a:pt x="465709" y="582168"/>
                  </a:lnTo>
                  <a:lnTo>
                    <a:pt x="0" y="582168"/>
                  </a:lnTo>
                  <a:lnTo>
                    <a:pt x="0" y="0"/>
                  </a:lnTo>
                  <a:close/>
                </a:path>
              </a:pathLst>
            </a:custGeom>
            <a:blipFill>
              <a:blip r:embed="rId3"/>
              <a:stretch>
                <a:fillRect l="-275" r="-281" b="-8"/>
              </a:stretch>
            </a:blipFill>
          </p:spPr>
        </p:sp>
      </p:grpSp>
      <p:sp>
        <p:nvSpPr>
          <p:cNvPr id="23" name="TextBox 23"/>
          <p:cNvSpPr txBox="1"/>
          <p:nvPr/>
        </p:nvSpPr>
        <p:spPr>
          <a:xfrm>
            <a:off x="9541669" y="3529905"/>
            <a:ext cx="4135925" cy="485140"/>
          </a:xfrm>
          <a:prstGeom prst="rect">
            <a:avLst/>
          </a:prstGeom>
        </p:spPr>
        <p:txBody>
          <a:bodyPr lIns="0" tIns="0" rIns="0" bIns="0" rtlCol="0" anchor="t">
            <a:spAutoFit/>
          </a:bodyPr>
          <a:lstStyle/>
          <a:p>
            <a:pPr algn="l">
              <a:lnSpc>
                <a:spcPts val="3874"/>
              </a:lnSpc>
            </a:pPr>
            <a:r>
              <a:rPr lang="en-US" sz="3099" b="1">
                <a:solidFill>
                  <a:srgbClr val="00357A"/>
                </a:solidFill>
                <a:latin typeface="Inter Bold"/>
                <a:ea typeface="Inter Bold"/>
                <a:cs typeface="Inter Bold"/>
                <a:sym typeface="Inter Bold"/>
              </a:rPr>
              <a:t>ML Model Building</a:t>
            </a:r>
          </a:p>
        </p:txBody>
      </p:sp>
      <p:sp>
        <p:nvSpPr>
          <p:cNvPr id="24" name="TextBox 24"/>
          <p:cNvSpPr txBox="1"/>
          <p:nvPr/>
        </p:nvSpPr>
        <p:spPr>
          <a:xfrm>
            <a:off x="9541669" y="3984724"/>
            <a:ext cx="7572078" cy="1181101"/>
          </a:xfrm>
          <a:prstGeom prst="rect">
            <a:avLst/>
          </a:prstGeom>
        </p:spPr>
        <p:txBody>
          <a:bodyPr lIns="0" tIns="0" rIns="0" bIns="0" rtlCol="0" anchor="t">
            <a:spAutoFit/>
          </a:bodyPr>
          <a:lstStyle/>
          <a:p>
            <a:pPr algn="l">
              <a:lnSpc>
                <a:spcPts val="4874"/>
              </a:lnSpc>
            </a:pPr>
            <a:r>
              <a:rPr lang="en-US" sz="2999">
                <a:solidFill>
                  <a:srgbClr val="00357A"/>
                </a:solidFill>
                <a:latin typeface="Inter"/>
                <a:ea typeface="Inter"/>
                <a:cs typeface="Inter"/>
                <a:sym typeface="Inter"/>
              </a:rPr>
              <a:t>Confidently build simple regression and classification models.</a:t>
            </a:r>
          </a:p>
        </p:txBody>
      </p:sp>
      <p:grpSp>
        <p:nvGrpSpPr>
          <p:cNvPr id="25" name="Group 25"/>
          <p:cNvGrpSpPr/>
          <p:nvPr/>
        </p:nvGrpSpPr>
        <p:grpSpPr>
          <a:xfrm>
            <a:off x="901154" y="5842397"/>
            <a:ext cx="8118127" cy="2969121"/>
            <a:chOff x="0" y="0"/>
            <a:chExt cx="10824170" cy="3958828"/>
          </a:xfrm>
        </p:grpSpPr>
        <p:sp>
          <p:nvSpPr>
            <p:cNvPr id="26" name="Freeform 26"/>
            <p:cNvSpPr/>
            <p:nvPr/>
          </p:nvSpPr>
          <p:spPr>
            <a:xfrm>
              <a:off x="6350" y="6350"/>
              <a:ext cx="10811510" cy="3946144"/>
            </a:xfrm>
            <a:custGeom>
              <a:avLst/>
              <a:gdLst/>
              <a:ahLst/>
              <a:cxnLst/>
              <a:rect l="l" t="t" r="r" b="b"/>
              <a:pathLst>
                <a:path w="10811510" h="3946144">
                  <a:moveTo>
                    <a:pt x="0" y="144907"/>
                  </a:moveTo>
                  <a:cubicBezTo>
                    <a:pt x="0" y="64897"/>
                    <a:pt x="65024" y="0"/>
                    <a:pt x="145288" y="0"/>
                  </a:cubicBezTo>
                  <a:lnTo>
                    <a:pt x="10666222" y="0"/>
                  </a:lnTo>
                  <a:cubicBezTo>
                    <a:pt x="10746486" y="0"/>
                    <a:pt x="10811510" y="64897"/>
                    <a:pt x="10811510" y="144907"/>
                  </a:cubicBezTo>
                  <a:lnTo>
                    <a:pt x="10811510" y="3801237"/>
                  </a:lnTo>
                  <a:cubicBezTo>
                    <a:pt x="10811510" y="3881247"/>
                    <a:pt x="10746486" y="3946144"/>
                    <a:pt x="10666222" y="3946144"/>
                  </a:cubicBezTo>
                  <a:lnTo>
                    <a:pt x="145288" y="3946144"/>
                  </a:lnTo>
                  <a:cubicBezTo>
                    <a:pt x="65024" y="3946144"/>
                    <a:pt x="0" y="3881247"/>
                    <a:pt x="0" y="3801237"/>
                  </a:cubicBezTo>
                  <a:close/>
                </a:path>
              </a:pathLst>
            </a:custGeom>
            <a:solidFill>
              <a:srgbClr val="99C5FF"/>
            </a:solidFill>
          </p:spPr>
        </p:sp>
        <p:sp>
          <p:nvSpPr>
            <p:cNvPr id="27" name="Freeform 27"/>
            <p:cNvSpPr/>
            <p:nvPr/>
          </p:nvSpPr>
          <p:spPr>
            <a:xfrm>
              <a:off x="0" y="0"/>
              <a:ext cx="10824210" cy="3958844"/>
            </a:xfrm>
            <a:custGeom>
              <a:avLst/>
              <a:gdLst/>
              <a:ahLst/>
              <a:cxnLst/>
              <a:rect l="l" t="t" r="r" b="b"/>
              <a:pathLst>
                <a:path w="10824210" h="3958844">
                  <a:moveTo>
                    <a:pt x="0" y="151257"/>
                  </a:moveTo>
                  <a:cubicBezTo>
                    <a:pt x="0" y="67691"/>
                    <a:pt x="67818" y="0"/>
                    <a:pt x="151638" y="0"/>
                  </a:cubicBezTo>
                  <a:lnTo>
                    <a:pt x="10672572" y="0"/>
                  </a:lnTo>
                  <a:lnTo>
                    <a:pt x="10672572" y="6350"/>
                  </a:lnTo>
                  <a:lnTo>
                    <a:pt x="10672572" y="0"/>
                  </a:lnTo>
                  <a:cubicBezTo>
                    <a:pt x="10756265" y="0"/>
                    <a:pt x="10824210" y="67691"/>
                    <a:pt x="10824210" y="151257"/>
                  </a:cubicBezTo>
                  <a:lnTo>
                    <a:pt x="10817860" y="151257"/>
                  </a:lnTo>
                  <a:lnTo>
                    <a:pt x="10824210" y="151257"/>
                  </a:lnTo>
                  <a:lnTo>
                    <a:pt x="10824210" y="3807587"/>
                  </a:lnTo>
                  <a:lnTo>
                    <a:pt x="10817860" y="3807587"/>
                  </a:lnTo>
                  <a:lnTo>
                    <a:pt x="10824210" y="3807587"/>
                  </a:lnTo>
                  <a:cubicBezTo>
                    <a:pt x="10824210" y="3891153"/>
                    <a:pt x="10756392" y="3958844"/>
                    <a:pt x="10672572" y="3958844"/>
                  </a:cubicBezTo>
                  <a:lnTo>
                    <a:pt x="10672572" y="3952494"/>
                  </a:lnTo>
                  <a:lnTo>
                    <a:pt x="10672572" y="3958844"/>
                  </a:lnTo>
                  <a:lnTo>
                    <a:pt x="151638" y="3958844"/>
                  </a:lnTo>
                  <a:lnTo>
                    <a:pt x="151638" y="3952494"/>
                  </a:lnTo>
                  <a:lnTo>
                    <a:pt x="151638" y="3958844"/>
                  </a:lnTo>
                  <a:cubicBezTo>
                    <a:pt x="67818" y="3958844"/>
                    <a:pt x="0" y="3891153"/>
                    <a:pt x="0" y="3807587"/>
                  </a:cubicBezTo>
                  <a:lnTo>
                    <a:pt x="0" y="151257"/>
                  </a:lnTo>
                  <a:lnTo>
                    <a:pt x="6350" y="151257"/>
                  </a:lnTo>
                  <a:lnTo>
                    <a:pt x="0" y="151257"/>
                  </a:lnTo>
                  <a:moveTo>
                    <a:pt x="12700" y="151257"/>
                  </a:moveTo>
                  <a:lnTo>
                    <a:pt x="12700" y="3807587"/>
                  </a:lnTo>
                  <a:lnTo>
                    <a:pt x="6350" y="3807587"/>
                  </a:lnTo>
                  <a:lnTo>
                    <a:pt x="12700" y="3807587"/>
                  </a:lnTo>
                  <a:cubicBezTo>
                    <a:pt x="12700" y="3884168"/>
                    <a:pt x="74930" y="3946144"/>
                    <a:pt x="151638" y="3946144"/>
                  </a:cubicBezTo>
                  <a:lnTo>
                    <a:pt x="10672572" y="3946144"/>
                  </a:lnTo>
                  <a:cubicBezTo>
                    <a:pt x="10749280" y="3946144"/>
                    <a:pt x="10811510" y="3884041"/>
                    <a:pt x="10811510" y="3807587"/>
                  </a:cubicBezTo>
                  <a:lnTo>
                    <a:pt x="10811510" y="151257"/>
                  </a:lnTo>
                  <a:cubicBezTo>
                    <a:pt x="10811510" y="74803"/>
                    <a:pt x="10749280" y="12700"/>
                    <a:pt x="10672572" y="12700"/>
                  </a:cubicBezTo>
                  <a:lnTo>
                    <a:pt x="151638" y="12700"/>
                  </a:lnTo>
                  <a:lnTo>
                    <a:pt x="151638" y="6350"/>
                  </a:lnTo>
                  <a:lnTo>
                    <a:pt x="151638" y="12700"/>
                  </a:lnTo>
                  <a:cubicBezTo>
                    <a:pt x="74930" y="12700"/>
                    <a:pt x="12700" y="74803"/>
                    <a:pt x="12700" y="151257"/>
                  </a:cubicBezTo>
                  <a:close/>
                </a:path>
              </a:pathLst>
            </a:custGeom>
            <a:solidFill>
              <a:srgbClr val="C0C1D7"/>
            </a:solidFill>
          </p:spPr>
        </p:sp>
      </p:grpSp>
      <p:grpSp>
        <p:nvGrpSpPr>
          <p:cNvPr id="28" name="Group 28"/>
          <p:cNvGrpSpPr/>
          <p:nvPr/>
        </p:nvGrpSpPr>
        <p:grpSpPr>
          <a:xfrm>
            <a:off x="1174254" y="5318075"/>
            <a:ext cx="776436" cy="776436"/>
            <a:chOff x="0" y="0"/>
            <a:chExt cx="1035248" cy="1035248"/>
          </a:xfrm>
        </p:grpSpPr>
        <p:sp>
          <p:nvSpPr>
            <p:cNvPr id="29" name="Freeform 29"/>
            <p:cNvSpPr/>
            <p:nvPr/>
          </p:nvSpPr>
          <p:spPr>
            <a:xfrm>
              <a:off x="0" y="0"/>
              <a:ext cx="1035304" cy="1035304"/>
            </a:xfrm>
            <a:custGeom>
              <a:avLst/>
              <a:gdLst/>
              <a:ahLst/>
              <a:cxnLst/>
              <a:rect l="l" t="t" r="r" b="b"/>
              <a:pathLst>
                <a:path w="1035304" h="1035304">
                  <a:moveTo>
                    <a:pt x="0" y="517652"/>
                  </a:moveTo>
                  <a:cubicBezTo>
                    <a:pt x="0" y="231775"/>
                    <a:pt x="231775" y="0"/>
                    <a:pt x="517652" y="0"/>
                  </a:cubicBezTo>
                  <a:cubicBezTo>
                    <a:pt x="803529" y="0"/>
                    <a:pt x="1035304" y="231775"/>
                    <a:pt x="1035304" y="517652"/>
                  </a:cubicBezTo>
                  <a:cubicBezTo>
                    <a:pt x="1035304" y="803529"/>
                    <a:pt x="803529" y="1035304"/>
                    <a:pt x="517652" y="1035304"/>
                  </a:cubicBezTo>
                  <a:cubicBezTo>
                    <a:pt x="231775" y="1035304"/>
                    <a:pt x="0" y="803529"/>
                    <a:pt x="0" y="517652"/>
                  </a:cubicBezTo>
                  <a:close/>
                </a:path>
              </a:pathLst>
            </a:custGeom>
            <a:solidFill>
              <a:srgbClr val="4950BC"/>
            </a:solidFill>
          </p:spPr>
        </p:sp>
      </p:grpSp>
      <p:grpSp>
        <p:nvGrpSpPr>
          <p:cNvPr id="30" name="Group 30"/>
          <p:cNvGrpSpPr/>
          <p:nvPr/>
        </p:nvGrpSpPr>
        <p:grpSpPr>
          <a:xfrm>
            <a:off x="1387822" y="5487889"/>
            <a:ext cx="349300" cy="436661"/>
            <a:chOff x="0" y="0"/>
            <a:chExt cx="465733" cy="582215"/>
          </a:xfrm>
        </p:grpSpPr>
        <p:sp>
          <p:nvSpPr>
            <p:cNvPr id="31" name="Freeform 31" descr="preencoded.png"/>
            <p:cNvSpPr/>
            <p:nvPr/>
          </p:nvSpPr>
          <p:spPr>
            <a:xfrm>
              <a:off x="0" y="0"/>
              <a:ext cx="465709" cy="582168"/>
            </a:xfrm>
            <a:custGeom>
              <a:avLst/>
              <a:gdLst/>
              <a:ahLst/>
              <a:cxnLst/>
              <a:rect l="l" t="t" r="r" b="b"/>
              <a:pathLst>
                <a:path w="465709" h="582168">
                  <a:moveTo>
                    <a:pt x="0" y="0"/>
                  </a:moveTo>
                  <a:lnTo>
                    <a:pt x="465709" y="0"/>
                  </a:lnTo>
                  <a:lnTo>
                    <a:pt x="465709" y="582168"/>
                  </a:lnTo>
                  <a:lnTo>
                    <a:pt x="0" y="582168"/>
                  </a:lnTo>
                  <a:lnTo>
                    <a:pt x="0" y="0"/>
                  </a:lnTo>
                  <a:close/>
                </a:path>
              </a:pathLst>
            </a:custGeom>
            <a:blipFill>
              <a:blip r:embed="rId4"/>
              <a:stretch>
                <a:fillRect l="-275" r="-281" b="-8"/>
              </a:stretch>
            </a:blipFill>
          </p:spPr>
        </p:sp>
      </p:grpSp>
      <p:sp>
        <p:nvSpPr>
          <p:cNvPr id="32" name="TextBox 32"/>
          <p:cNvSpPr txBox="1"/>
          <p:nvPr/>
        </p:nvSpPr>
        <p:spPr>
          <a:xfrm>
            <a:off x="1174254" y="6334274"/>
            <a:ext cx="6419611" cy="485140"/>
          </a:xfrm>
          <a:prstGeom prst="rect">
            <a:avLst/>
          </a:prstGeom>
        </p:spPr>
        <p:txBody>
          <a:bodyPr lIns="0" tIns="0" rIns="0" bIns="0" rtlCol="0" anchor="t">
            <a:spAutoFit/>
          </a:bodyPr>
          <a:lstStyle/>
          <a:p>
            <a:pPr algn="l">
              <a:lnSpc>
                <a:spcPts val="3874"/>
              </a:lnSpc>
            </a:pPr>
            <a:r>
              <a:rPr lang="en-US" sz="3099" b="1">
                <a:solidFill>
                  <a:srgbClr val="00357A"/>
                </a:solidFill>
                <a:latin typeface="Inter Bold"/>
                <a:ea typeface="Inter Bold"/>
                <a:cs typeface="Inter Bold"/>
                <a:sym typeface="Inter Bold"/>
              </a:rPr>
              <a:t>Deep Learning Implementation</a:t>
            </a:r>
          </a:p>
        </p:txBody>
      </p:sp>
      <p:sp>
        <p:nvSpPr>
          <p:cNvPr id="33" name="TextBox 33"/>
          <p:cNvSpPr txBox="1"/>
          <p:nvPr/>
        </p:nvSpPr>
        <p:spPr>
          <a:xfrm>
            <a:off x="1174254" y="6789093"/>
            <a:ext cx="7571929" cy="1790701"/>
          </a:xfrm>
          <a:prstGeom prst="rect">
            <a:avLst/>
          </a:prstGeom>
        </p:spPr>
        <p:txBody>
          <a:bodyPr lIns="0" tIns="0" rIns="0" bIns="0" rtlCol="0" anchor="t">
            <a:spAutoFit/>
          </a:bodyPr>
          <a:lstStyle/>
          <a:p>
            <a:pPr algn="l">
              <a:lnSpc>
                <a:spcPts val="4874"/>
              </a:lnSpc>
            </a:pPr>
            <a:r>
              <a:rPr lang="en-US" sz="2999">
                <a:solidFill>
                  <a:srgbClr val="00357A"/>
                </a:solidFill>
                <a:latin typeface="Inter"/>
                <a:ea typeface="Inter"/>
                <a:cs typeface="Inter"/>
                <a:sym typeface="Inter"/>
              </a:rPr>
              <a:t>Implement foundational Artificial Neural Networks (ANNs) and Convolutional Neural Networks (CNNs).</a:t>
            </a:r>
          </a:p>
        </p:txBody>
      </p:sp>
      <p:grpSp>
        <p:nvGrpSpPr>
          <p:cNvPr id="34" name="Group 34"/>
          <p:cNvGrpSpPr/>
          <p:nvPr/>
        </p:nvGrpSpPr>
        <p:grpSpPr>
          <a:xfrm>
            <a:off x="9268569" y="5842397"/>
            <a:ext cx="8118276" cy="2969121"/>
            <a:chOff x="0" y="0"/>
            <a:chExt cx="10824368" cy="3958828"/>
          </a:xfrm>
        </p:grpSpPr>
        <p:sp>
          <p:nvSpPr>
            <p:cNvPr id="35" name="Freeform 35"/>
            <p:cNvSpPr/>
            <p:nvPr/>
          </p:nvSpPr>
          <p:spPr>
            <a:xfrm>
              <a:off x="6350" y="6350"/>
              <a:ext cx="10811764" cy="3946144"/>
            </a:xfrm>
            <a:custGeom>
              <a:avLst/>
              <a:gdLst/>
              <a:ahLst/>
              <a:cxnLst/>
              <a:rect l="l" t="t" r="r" b="b"/>
              <a:pathLst>
                <a:path w="10811764" h="3946144">
                  <a:moveTo>
                    <a:pt x="0" y="144907"/>
                  </a:moveTo>
                  <a:cubicBezTo>
                    <a:pt x="0" y="64897"/>
                    <a:pt x="65024" y="0"/>
                    <a:pt x="145288" y="0"/>
                  </a:cubicBezTo>
                  <a:lnTo>
                    <a:pt x="10666476" y="0"/>
                  </a:lnTo>
                  <a:cubicBezTo>
                    <a:pt x="10746740" y="0"/>
                    <a:pt x="10811764" y="64897"/>
                    <a:pt x="10811764" y="144907"/>
                  </a:cubicBezTo>
                  <a:lnTo>
                    <a:pt x="10811764" y="3801237"/>
                  </a:lnTo>
                  <a:cubicBezTo>
                    <a:pt x="10811764" y="3881247"/>
                    <a:pt x="10746740" y="3946144"/>
                    <a:pt x="10666476" y="3946144"/>
                  </a:cubicBezTo>
                  <a:lnTo>
                    <a:pt x="145288" y="3946144"/>
                  </a:lnTo>
                  <a:cubicBezTo>
                    <a:pt x="65024" y="3946144"/>
                    <a:pt x="0" y="3881247"/>
                    <a:pt x="0" y="3801237"/>
                  </a:cubicBezTo>
                  <a:close/>
                </a:path>
              </a:pathLst>
            </a:custGeom>
            <a:solidFill>
              <a:srgbClr val="99C5FF"/>
            </a:solidFill>
          </p:spPr>
        </p:sp>
        <p:sp>
          <p:nvSpPr>
            <p:cNvPr id="36" name="Freeform 36"/>
            <p:cNvSpPr/>
            <p:nvPr/>
          </p:nvSpPr>
          <p:spPr>
            <a:xfrm>
              <a:off x="0" y="0"/>
              <a:ext cx="10824464" cy="3958844"/>
            </a:xfrm>
            <a:custGeom>
              <a:avLst/>
              <a:gdLst/>
              <a:ahLst/>
              <a:cxnLst/>
              <a:rect l="l" t="t" r="r" b="b"/>
              <a:pathLst>
                <a:path w="10824464" h="3958844">
                  <a:moveTo>
                    <a:pt x="0" y="151257"/>
                  </a:moveTo>
                  <a:cubicBezTo>
                    <a:pt x="0" y="67691"/>
                    <a:pt x="67818" y="0"/>
                    <a:pt x="151638" y="0"/>
                  </a:cubicBezTo>
                  <a:lnTo>
                    <a:pt x="10672826" y="0"/>
                  </a:lnTo>
                  <a:lnTo>
                    <a:pt x="10672826" y="6350"/>
                  </a:lnTo>
                  <a:lnTo>
                    <a:pt x="10672826" y="0"/>
                  </a:lnTo>
                  <a:cubicBezTo>
                    <a:pt x="10756519" y="0"/>
                    <a:pt x="10824464" y="67691"/>
                    <a:pt x="10824464" y="151257"/>
                  </a:cubicBezTo>
                  <a:lnTo>
                    <a:pt x="10818114" y="151257"/>
                  </a:lnTo>
                  <a:lnTo>
                    <a:pt x="10824464" y="151257"/>
                  </a:lnTo>
                  <a:lnTo>
                    <a:pt x="10824464" y="3807587"/>
                  </a:lnTo>
                  <a:lnTo>
                    <a:pt x="10818114" y="3807587"/>
                  </a:lnTo>
                  <a:lnTo>
                    <a:pt x="10824464" y="3807587"/>
                  </a:lnTo>
                  <a:cubicBezTo>
                    <a:pt x="10824464" y="3891153"/>
                    <a:pt x="10756646" y="3958844"/>
                    <a:pt x="10672826" y="3958844"/>
                  </a:cubicBezTo>
                  <a:lnTo>
                    <a:pt x="10672826" y="3952494"/>
                  </a:lnTo>
                  <a:lnTo>
                    <a:pt x="10672826" y="3958844"/>
                  </a:lnTo>
                  <a:lnTo>
                    <a:pt x="151638" y="3958844"/>
                  </a:lnTo>
                  <a:lnTo>
                    <a:pt x="151638" y="3952494"/>
                  </a:lnTo>
                  <a:lnTo>
                    <a:pt x="151638" y="3958844"/>
                  </a:lnTo>
                  <a:cubicBezTo>
                    <a:pt x="67818" y="3958844"/>
                    <a:pt x="0" y="3891153"/>
                    <a:pt x="0" y="3807587"/>
                  </a:cubicBezTo>
                  <a:lnTo>
                    <a:pt x="0" y="151257"/>
                  </a:lnTo>
                  <a:lnTo>
                    <a:pt x="6350" y="151257"/>
                  </a:lnTo>
                  <a:lnTo>
                    <a:pt x="0" y="151257"/>
                  </a:lnTo>
                  <a:moveTo>
                    <a:pt x="12700" y="151257"/>
                  </a:moveTo>
                  <a:lnTo>
                    <a:pt x="12700" y="3807587"/>
                  </a:lnTo>
                  <a:lnTo>
                    <a:pt x="6350" y="3807587"/>
                  </a:lnTo>
                  <a:lnTo>
                    <a:pt x="12700" y="3807587"/>
                  </a:lnTo>
                  <a:cubicBezTo>
                    <a:pt x="12700" y="3884168"/>
                    <a:pt x="74930" y="3946144"/>
                    <a:pt x="151638" y="3946144"/>
                  </a:cubicBezTo>
                  <a:lnTo>
                    <a:pt x="10672826" y="3946144"/>
                  </a:lnTo>
                  <a:cubicBezTo>
                    <a:pt x="10749534" y="3946144"/>
                    <a:pt x="10811764" y="3884041"/>
                    <a:pt x="10811764" y="3807587"/>
                  </a:cubicBezTo>
                  <a:lnTo>
                    <a:pt x="10811764" y="151257"/>
                  </a:lnTo>
                  <a:cubicBezTo>
                    <a:pt x="10811764" y="74676"/>
                    <a:pt x="10749534" y="12700"/>
                    <a:pt x="10672826" y="12700"/>
                  </a:cubicBezTo>
                  <a:lnTo>
                    <a:pt x="151638" y="12700"/>
                  </a:lnTo>
                  <a:lnTo>
                    <a:pt x="151638" y="6350"/>
                  </a:lnTo>
                  <a:lnTo>
                    <a:pt x="151638" y="12700"/>
                  </a:lnTo>
                  <a:cubicBezTo>
                    <a:pt x="74930" y="12700"/>
                    <a:pt x="12700" y="74803"/>
                    <a:pt x="12700" y="151257"/>
                  </a:cubicBezTo>
                  <a:close/>
                </a:path>
              </a:pathLst>
            </a:custGeom>
            <a:solidFill>
              <a:srgbClr val="C0C1D7"/>
            </a:solidFill>
          </p:spPr>
        </p:sp>
      </p:grpSp>
      <p:grpSp>
        <p:nvGrpSpPr>
          <p:cNvPr id="37" name="Group 37"/>
          <p:cNvGrpSpPr/>
          <p:nvPr/>
        </p:nvGrpSpPr>
        <p:grpSpPr>
          <a:xfrm>
            <a:off x="9541669" y="5318075"/>
            <a:ext cx="776436" cy="776436"/>
            <a:chOff x="0" y="0"/>
            <a:chExt cx="1035248" cy="1035248"/>
          </a:xfrm>
        </p:grpSpPr>
        <p:sp>
          <p:nvSpPr>
            <p:cNvPr id="38" name="Freeform 38"/>
            <p:cNvSpPr/>
            <p:nvPr/>
          </p:nvSpPr>
          <p:spPr>
            <a:xfrm>
              <a:off x="0" y="0"/>
              <a:ext cx="1035304" cy="1035304"/>
            </a:xfrm>
            <a:custGeom>
              <a:avLst/>
              <a:gdLst/>
              <a:ahLst/>
              <a:cxnLst/>
              <a:rect l="l" t="t" r="r" b="b"/>
              <a:pathLst>
                <a:path w="1035304" h="1035304">
                  <a:moveTo>
                    <a:pt x="0" y="517652"/>
                  </a:moveTo>
                  <a:cubicBezTo>
                    <a:pt x="0" y="231775"/>
                    <a:pt x="231775" y="0"/>
                    <a:pt x="517652" y="0"/>
                  </a:cubicBezTo>
                  <a:cubicBezTo>
                    <a:pt x="803529" y="0"/>
                    <a:pt x="1035304" y="231775"/>
                    <a:pt x="1035304" y="517652"/>
                  </a:cubicBezTo>
                  <a:cubicBezTo>
                    <a:pt x="1035304" y="803529"/>
                    <a:pt x="803529" y="1035304"/>
                    <a:pt x="517652" y="1035304"/>
                  </a:cubicBezTo>
                  <a:cubicBezTo>
                    <a:pt x="231775" y="1035304"/>
                    <a:pt x="0" y="803529"/>
                    <a:pt x="0" y="517652"/>
                  </a:cubicBezTo>
                  <a:close/>
                </a:path>
              </a:pathLst>
            </a:custGeom>
            <a:solidFill>
              <a:srgbClr val="4950BC"/>
            </a:solidFill>
          </p:spPr>
        </p:sp>
      </p:grpSp>
      <p:grpSp>
        <p:nvGrpSpPr>
          <p:cNvPr id="39" name="Group 39"/>
          <p:cNvGrpSpPr/>
          <p:nvPr/>
        </p:nvGrpSpPr>
        <p:grpSpPr>
          <a:xfrm>
            <a:off x="9755237" y="5487889"/>
            <a:ext cx="349300" cy="436661"/>
            <a:chOff x="0" y="0"/>
            <a:chExt cx="465733" cy="582215"/>
          </a:xfrm>
        </p:grpSpPr>
        <p:sp>
          <p:nvSpPr>
            <p:cNvPr id="40" name="Freeform 40" descr="preencoded.png"/>
            <p:cNvSpPr/>
            <p:nvPr/>
          </p:nvSpPr>
          <p:spPr>
            <a:xfrm>
              <a:off x="0" y="0"/>
              <a:ext cx="465709" cy="582168"/>
            </a:xfrm>
            <a:custGeom>
              <a:avLst/>
              <a:gdLst/>
              <a:ahLst/>
              <a:cxnLst/>
              <a:rect l="l" t="t" r="r" b="b"/>
              <a:pathLst>
                <a:path w="465709" h="582168">
                  <a:moveTo>
                    <a:pt x="0" y="0"/>
                  </a:moveTo>
                  <a:lnTo>
                    <a:pt x="465709" y="0"/>
                  </a:lnTo>
                  <a:lnTo>
                    <a:pt x="465709" y="582168"/>
                  </a:lnTo>
                  <a:lnTo>
                    <a:pt x="0" y="582168"/>
                  </a:lnTo>
                  <a:lnTo>
                    <a:pt x="0" y="0"/>
                  </a:lnTo>
                  <a:close/>
                </a:path>
              </a:pathLst>
            </a:custGeom>
            <a:blipFill>
              <a:blip r:embed="rId5"/>
              <a:stretch>
                <a:fillRect l="-275" r="-281" b="-8"/>
              </a:stretch>
            </a:blipFill>
          </p:spPr>
        </p:sp>
      </p:grpSp>
      <p:sp>
        <p:nvSpPr>
          <p:cNvPr id="41" name="TextBox 41"/>
          <p:cNvSpPr txBox="1"/>
          <p:nvPr/>
        </p:nvSpPr>
        <p:spPr>
          <a:xfrm>
            <a:off x="9541669" y="6334274"/>
            <a:ext cx="4451066" cy="485140"/>
          </a:xfrm>
          <a:prstGeom prst="rect">
            <a:avLst/>
          </a:prstGeom>
        </p:spPr>
        <p:txBody>
          <a:bodyPr lIns="0" tIns="0" rIns="0" bIns="0" rtlCol="0" anchor="t">
            <a:spAutoFit/>
          </a:bodyPr>
          <a:lstStyle/>
          <a:p>
            <a:pPr algn="l">
              <a:lnSpc>
                <a:spcPts val="3874"/>
              </a:lnSpc>
            </a:pPr>
            <a:r>
              <a:rPr lang="en-US" sz="3099" b="1">
                <a:solidFill>
                  <a:srgbClr val="00357A"/>
                </a:solidFill>
                <a:latin typeface="Inter Bold"/>
                <a:ea typeface="Inter Bold"/>
                <a:cs typeface="Inter Bold"/>
                <a:sym typeface="Inter Bold"/>
              </a:rPr>
              <a:t>Project Ready</a:t>
            </a:r>
          </a:p>
        </p:txBody>
      </p:sp>
      <p:sp>
        <p:nvSpPr>
          <p:cNvPr id="42" name="TextBox 42"/>
          <p:cNvSpPr txBox="1"/>
          <p:nvPr/>
        </p:nvSpPr>
        <p:spPr>
          <a:xfrm>
            <a:off x="9541669" y="6789093"/>
            <a:ext cx="7572078" cy="1790701"/>
          </a:xfrm>
          <a:prstGeom prst="rect">
            <a:avLst/>
          </a:prstGeom>
        </p:spPr>
        <p:txBody>
          <a:bodyPr lIns="0" tIns="0" rIns="0" bIns="0" rtlCol="0" anchor="t">
            <a:spAutoFit/>
          </a:bodyPr>
          <a:lstStyle/>
          <a:p>
            <a:pPr algn="l">
              <a:lnSpc>
                <a:spcPts val="4874"/>
              </a:lnSpc>
            </a:pPr>
            <a:r>
              <a:rPr lang="en-US" sz="2999">
                <a:solidFill>
                  <a:srgbClr val="00357A"/>
                </a:solidFill>
                <a:latin typeface="Inter"/>
                <a:ea typeface="Inter"/>
                <a:cs typeface="Inter"/>
                <a:sym typeface="Inter"/>
              </a:rPr>
              <a:t>Showcase projects like a spam classifier, image recognizer, or recommendation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TextBox 2"/>
          <p:cNvSpPr txBox="1"/>
          <p:nvPr/>
        </p:nvSpPr>
        <p:spPr>
          <a:xfrm>
            <a:off x="1028700" y="942975"/>
            <a:ext cx="15283696" cy="828041"/>
          </a:xfrm>
          <a:prstGeom prst="rect">
            <a:avLst/>
          </a:prstGeom>
        </p:spPr>
        <p:txBody>
          <a:bodyPr lIns="0" tIns="0" rIns="0" bIns="0" rtlCol="0" anchor="t">
            <a:spAutoFit/>
          </a:bodyPr>
          <a:lstStyle/>
          <a:p>
            <a:pPr algn="ctr">
              <a:lnSpc>
                <a:spcPts val="6859"/>
              </a:lnSpc>
              <a:spcBef>
                <a:spcPct val="0"/>
              </a:spcBef>
            </a:pPr>
            <a:r>
              <a:rPr lang="en-US" sz="4899" b="1">
                <a:solidFill>
                  <a:srgbClr val="00357A"/>
                </a:solidFill>
                <a:latin typeface="Canva Sans Bold"/>
                <a:ea typeface="Canva Sans Bold"/>
                <a:cs typeface="Canva Sans Bold"/>
                <a:sym typeface="Canva Sans Bold"/>
              </a:rPr>
              <a:t>Let’s get some understanding on machine learning</a:t>
            </a:r>
          </a:p>
        </p:txBody>
      </p:sp>
      <p:sp>
        <p:nvSpPr>
          <p:cNvPr id="3" name="TextBox 3"/>
          <p:cNvSpPr txBox="1"/>
          <p:nvPr/>
        </p:nvSpPr>
        <p:spPr>
          <a:xfrm>
            <a:off x="1028700" y="2095555"/>
            <a:ext cx="16230600" cy="3591561"/>
          </a:xfrm>
          <a:prstGeom prst="rect">
            <a:avLst/>
          </a:prstGeom>
        </p:spPr>
        <p:txBody>
          <a:bodyPr lIns="0" tIns="0" rIns="0" bIns="0" rtlCol="0" anchor="t">
            <a:spAutoFit/>
          </a:bodyPr>
          <a:lstStyle/>
          <a:p>
            <a:pPr marL="885186" lvl="1" indent="-442593" algn="l">
              <a:lnSpc>
                <a:spcPts val="5739"/>
              </a:lnSpc>
              <a:buFont typeface="Arial"/>
              <a:buChar char="•"/>
            </a:pPr>
            <a:r>
              <a:rPr lang="en-US" sz="4099" b="1">
                <a:solidFill>
                  <a:srgbClr val="00357A"/>
                </a:solidFill>
                <a:latin typeface="Canva Sans Bold"/>
                <a:ea typeface="Canva Sans Bold"/>
                <a:cs typeface="Canva Sans Bold"/>
                <a:sym typeface="Canva Sans Bold"/>
              </a:rPr>
              <a:t>Subset of AI</a:t>
            </a:r>
          </a:p>
          <a:p>
            <a:pPr marL="885186" lvl="1" indent="-442593" algn="l">
              <a:lnSpc>
                <a:spcPts val="5739"/>
              </a:lnSpc>
              <a:buFont typeface="Arial"/>
              <a:buChar char="•"/>
            </a:pPr>
            <a:r>
              <a:rPr lang="en-US" sz="4099" b="1">
                <a:solidFill>
                  <a:srgbClr val="00357A"/>
                </a:solidFill>
                <a:latin typeface="Canva Sans Bold"/>
                <a:ea typeface="Canva Sans Bold"/>
                <a:cs typeface="Canva Sans Bold"/>
                <a:sym typeface="Canva Sans Bold"/>
              </a:rPr>
              <a:t>most trending topics in the world these days</a:t>
            </a:r>
          </a:p>
          <a:p>
            <a:pPr algn="l">
              <a:lnSpc>
                <a:spcPts val="5739"/>
              </a:lnSpc>
            </a:pPr>
            <a:endParaRPr lang="en-US" sz="4099" b="1">
              <a:solidFill>
                <a:srgbClr val="00357A"/>
              </a:solidFill>
              <a:latin typeface="Canva Sans Bold"/>
              <a:ea typeface="Canva Sans Bold"/>
              <a:cs typeface="Canva Sans Bold"/>
              <a:sym typeface="Canva Sans Bold"/>
            </a:endParaRPr>
          </a:p>
          <a:p>
            <a:pPr algn="l">
              <a:lnSpc>
                <a:spcPts val="5739"/>
              </a:lnSpc>
            </a:pPr>
            <a:endParaRPr lang="en-US" sz="4099" b="1">
              <a:solidFill>
                <a:srgbClr val="00357A"/>
              </a:solidFill>
              <a:latin typeface="Canva Sans Bold"/>
              <a:ea typeface="Canva Sans Bold"/>
              <a:cs typeface="Canva Sans Bold"/>
              <a:sym typeface="Canva Sans Bold"/>
            </a:endParaRPr>
          </a:p>
          <a:p>
            <a:pPr algn="l">
              <a:lnSpc>
                <a:spcPts val="5739"/>
              </a:lnSpc>
            </a:pPr>
            <a:endParaRPr lang="en-US" sz="4099" b="1">
              <a:solidFill>
                <a:srgbClr val="00357A"/>
              </a:solidFill>
              <a:latin typeface="Canva Sans Bold"/>
              <a:ea typeface="Canva Sans Bold"/>
              <a:cs typeface="Canva Sans Bold"/>
              <a:sym typeface="Canva Sa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TextBox 2"/>
          <p:cNvSpPr txBox="1"/>
          <p:nvPr/>
        </p:nvSpPr>
        <p:spPr>
          <a:xfrm>
            <a:off x="0" y="180339"/>
            <a:ext cx="17259300" cy="10106661"/>
          </a:xfrm>
          <a:prstGeom prst="rect">
            <a:avLst/>
          </a:prstGeom>
        </p:spPr>
        <p:txBody>
          <a:bodyPr lIns="0" tIns="0" rIns="0" bIns="0" rtlCol="0" anchor="t">
            <a:spAutoFit/>
          </a:bodyPr>
          <a:lstStyle/>
          <a:p>
            <a:pPr algn="ctr">
              <a:lnSpc>
                <a:spcPts val="5739"/>
              </a:lnSpc>
            </a:pPr>
            <a:r>
              <a:rPr lang="en-US" sz="4099" b="1">
                <a:solidFill>
                  <a:srgbClr val="00357A"/>
                </a:solidFill>
                <a:latin typeface="Canva Sans Bold"/>
                <a:ea typeface="Canva Sans Bold"/>
                <a:cs typeface="Canva Sans Bold"/>
                <a:sym typeface="Canva Sans Bold"/>
              </a:rPr>
              <a:t>Analogy: Teaching a child</a:t>
            </a:r>
          </a:p>
          <a:p>
            <a:pPr algn="ctr">
              <a:lnSpc>
                <a:spcPts val="5739"/>
              </a:lnSpc>
            </a:pPr>
            <a:endParaRPr lang="en-US" sz="4099" b="1">
              <a:solidFill>
                <a:srgbClr val="00357A"/>
              </a:solidFill>
              <a:latin typeface="Canva Sans Bold"/>
              <a:ea typeface="Canva Sans Bold"/>
              <a:cs typeface="Canva Sans Bold"/>
              <a:sym typeface="Canva Sans Bold"/>
            </a:endParaRPr>
          </a:p>
          <a:p>
            <a:pPr marL="1770371" lvl="2" indent="-590124" algn="just">
              <a:lnSpc>
                <a:spcPts val="5739"/>
              </a:lnSpc>
              <a:spcBef>
                <a:spcPct val="0"/>
              </a:spcBef>
              <a:buFont typeface="Arial"/>
              <a:buChar char="⚬"/>
            </a:pPr>
            <a:r>
              <a:rPr lang="en-US" sz="4099">
                <a:solidFill>
                  <a:srgbClr val="00357A"/>
                </a:solidFill>
                <a:latin typeface="Canva Sans"/>
                <a:ea typeface="Canva Sans"/>
                <a:cs typeface="Canva Sans"/>
                <a:sym typeface="Canva Sans"/>
              </a:rPr>
              <a:t>Imagine teaching a child to identify a dog. You don't give them a list of complex rules about fur color, ear shape, and size. Instead, you show them many pictures of dogs and point, saying "dog".</a:t>
            </a:r>
          </a:p>
          <a:p>
            <a:pPr algn="just">
              <a:lnSpc>
                <a:spcPts val="5739"/>
              </a:lnSpc>
              <a:spcBef>
                <a:spcPct val="0"/>
              </a:spcBef>
            </a:pPr>
            <a:endParaRPr lang="en-US" sz="4099">
              <a:solidFill>
                <a:srgbClr val="00357A"/>
              </a:solidFill>
              <a:latin typeface="Canva Sans"/>
              <a:ea typeface="Canva Sans"/>
              <a:cs typeface="Canva Sans"/>
              <a:sym typeface="Canva Sans"/>
            </a:endParaRPr>
          </a:p>
          <a:p>
            <a:pPr marL="1770371" lvl="2" indent="-590124" algn="just">
              <a:lnSpc>
                <a:spcPts val="5739"/>
              </a:lnSpc>
              <a:spcBef>
                <a:spcPct val="0"/>
              </a:spcBef>
              <a:buFont typeface="Arial"/>
              <a:buChar char="⚬"/>
            </a:pPr>
            <a:r>
              <a:rPr lang="en-US" sz="4099">
                <a:solidFill>
                  <a:srgbClr val="00357A"/>
                </a:solidFill>
                <a:latin typeface="Canva Sans"/>
                <a:ea typeface="Canva Sans"/>
                <a:cs typeface="Canva Sans"/>
                <a:sym typeface="Canva Sans"/>
              </a:rPr>
              <a:t>Over time, the child starts to recognize patterns and can correctly identify a dog they've never seen before.</a:t>
            </a:r>
          </a:p>
          <a:p>
            <a:pPr algn="just">
              <a:lnSpc>
                <a:spcPts val="5739"/>
              </a:lnSpc>
              <a:spcBef>
                <a:spcPct val="0"/>
              </a:spcBef>
            </a:pPr>
            <a:endParaRPr lang="en-US" sz="4099">
              <a:solidFill>
                <a:srgbClr val="00357A"/>
              </a:solidFill>
              <a:latin typeface="Canva Sans"/>
              <a:ea typeface="Canva Sans"/>
              <a:cs typeface="Canva Sans"/>
              <a:sym typeface="Canva Sans"/>
            </a:endParaRPr>
          </a:p>
          <a:p>
            <a:pPr marL="1770371" lvl="2" indent="-590124" algn="just">
              <a:lnSpc>
                <a:spcPts val="5739"/>
              </a:lnSpc>
              <a:spcBef>
                <a:spcPct val="0"/>
              </a:spcBef>
              <a:buFont typeface="Arial"/>
              <a:buChar char="⚬"/>
            </a:pPr>
            <a:r>
              <a:rPr lang="en-US" sz="4099">
                <a:solidFill>
                  <a:srgbClr val="00357A"/>
                </a:solidFill>
                <a:latin typeface="Canva Sans"/>
                <a:ea typeface="Canva Sans"/>
                <a:cs typeface="Canva Sans"/>
                <a:sym typeface="Canva Sans"/>
              </a:rPr>
              <a:t>Machine learning is the same process: you give the computer lots of data (pictures of dogs with "dog" labels), and it learns to spot patterns and make correct identifications on its own.</a:t>
            </a:r>
          </a:p>
          <a:p>
            <a:pPr algn="ctr">
              <a:lnSpc>
                <a:spcPts val="5739"/>
              </a:lnSpc>
              <a:spcBef>
                <a:spcPct val="0"/>
              </a:spcBef>
            </a:pPr>
            <a:endParaRPr lang="en-US" sz="4099">
              <a:solidFill>
                <a:srgbClr val="00357A"/>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Freeform 2"/>
          <p:cNvSpPr/>
          <p:nvPr/>
        </p:nvSpPr>
        <p:spPr>
          <a:xfrm>
            <a:off x="4114800" y="3467100"/>
            <a:ext cx="9237637" cy="6651641"/>
          </a:xfrm>
          <a:custGeom>
            <a:avLst/>
            <a:gdLst/>
            <a:ahLst/>
            <a:cxnLst/>
            <a:rect l="l" t="t" r="r" b="b"/>
            <a:pathLst>
              <a:path w="9237637" h="6651641">
                <a:moveTo>
                  <a:pt x="0" y="0"/>
                </a:moveTo>
                <a:lnTo>
                  <a:pt x="9237637" y="0"/>
                </a:lnTo>
                <a:lnTo>
                  <a:pt x="9237637" y="6651641"/>
                </a:lnTo>
                <a:lnTo>
                  <a:pt x="0" y="6651641"/>
                </a:lnTo>
                <a:lnTo>
                  <a:pt x="0" y="0"/>
                </a:lnTo>
                <a:close/>
              </a:path>
            </a:pathLst>
          </a:custGeom>
          <a:blipFill>
            <a:blip r:embed="rId2"/>
            <a:stretch>
              <a:fillRect/>
            </a:stretch>
          </a:blipFill>
        </p:spPr>
      </p:sp>
      <p:sp>
        <p:nvSpPr>
          <p:cNvPr id="3" name="TextBox 3"/>
          <p:cNvSpPr txBox="1"/>
          <p:nvPr/>
        </p:nvSpPr>
        <p:spPr>
          <a:xfrm>
            <a:off x="6858000" y="201596"/>
            <a:ext cx="4572000" cy="828041"/>
          </a:xfrm>
          <a:prstGeom prst="rect">
            <a:avLst/>
          </a:prstGeom>
        </p:spPr>
        <p:txBody>
          <a:bodyPr wrap="square" lIns="0" tIns="0" rIns="0" bIns="0" rtlCol="0" anchor="t">
            <a:spAutoFit/>
          </a:bodyPr>
          <a:lstStyle/>
          <a:p>
            <a:pPr algn="ctr">
              <a:lnSpc>
                <a:spcPts val="6859"/>
              </a:lnSpc>
              <a:spcBef>
                <a:spcPct val="0"/>
              </a:spcBef>
            </a:pPr>
            <a:r>
              <a:rPr lang="en-US" sz="4899" b="1" dirty="0">
                <a:solidFill>
                  <a:srgbClr val="00357A"/>
                </a:solidFill>
                <a:latin typeface="Canva Sans Bold"/>
                <a:ea typeface="Canva Sans Bold"/>
                <a:cs typeface="Canva Sans Bold"/>
                <a:sym typeface="Canva Sans Bold"/>
              </a:rPr>
              <a:t>For Example:</a:t>
            </a:r>
          </a:p>
        </p:txBody>
      </p:sp>
      <p:sp>
        <p:nvSpPr>
          <p:cNvPr id="4" name="TextBox 4"/>
          <p:cNvSpPr txBox="1"/>
          <p:nvPr/>
        </p:nvSpPr>
        <p:spPr>
          <a:xfrm>
            <a:off x="1028700" y="2095500"/>
            <a:ext cx="16230600" cy="695961"/>
          </a:xfrm>
          <a:prstGeom prst="rect">
            <a:avLst/>
          </a:prstGeom>
        </p:spPr>
        <p:txBody>
          <a:bodyPr lIns="0" tIns="0" rIns="0" bIns="0" rtlCol="0" anchor="t">
            <a:spAutoFit/>
          </a:bodyPr>
          <a:lstStyle/>
          <a:p>
            <a:pPr algn="l">
              <a:lnSpc>
                <a:spcPts val="5739"/>
              </a:lnSpc>
              <a:spcBef>
                <a:spcPct val="0"/>
              </a:spcBef>
            </a:pPr>
            <a:r>
              <a:rPr lang="en-US" sz="4099" b="1" dirty="0">
                <a:solidFill>
                  <a:srgbClr val="00357A"/>
                </a:solidFill>
                <a:latin typeface="Canva Sans Bold"/>
                <a:ea typeface="Canva Sans Bold"/>
                <a:cs typeface="Canva Sans Bold"/>
                <a:sym typeface="Canva Sans Bold"/>
              </a:rPr>
              <a:t>Write a program to scan a image between cat and dog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TextBox 2"/>
          <p:cNvSpPr txBox="1"/>
          <p:nvPr/>
        </p:nvSpPr>
        <p:spPr>
          <a:xfrm>
            <a:off x="1028700" y="588977"/>
            <a:ext cx="16230600" cy="9382761"/>
          </a:xfrm>
          <a:prstGeom prst="rect">
            <a:avLst/>
          </a:prstGeom>
        </p:spPr>
        <p:txBody>
          <a:bodyPr lIns="0" tIns="0" rIns="0" bIns="0" rtlCol="0" anchor="t">
            <a:spAutoFit/>
          </a:bodyPr>
          <a:lstStyle/>
          <a:p>
            <a:pPr marL="885186" lvl="1" indent="-442593" algn="l">
              <a:lnSpc>
                <a:spcPts val="5739"/>
              </a:lnSpc>
              <a:buFont typeface="Arial"/>
              <a:buChar char="•"/>
            </a:pPr>
            <a:r>
              <a:rPr lang="en-US" sz="4099">
                <a:solidFill>
                  <a:srgbClr val="00357A"/>
                </a:solidFill>
                <a:latin typeface="Canva Sans"/>
                <a:ea typeface="Canva Sans"/>
                <a:cs typeface="Canva Sans"/>
                <a:sym typeface="Canva Sans"/>
              </a:rPr>
              <a:t>If we try to do this problem using tradition programming concepts, it will be more complex because we have to make rules on every lines and edges of the image so it is very difficult or sometime almost impossible</a:t>
            </a:r>
          </a:p>
          <a:p>
            <a:pPr marL="885186" lvl="1" indent="-442593" algn="l">
              <a:lnSpc>
                <a:spcPts val="5739"/>
              </a:lnSpc>
              <a:buFont typeface="Arial"/>
              <a:buChar char="•"/>
            </a:pPr>
            <a:r>
              <a:rPr lang="en-US" sz="4099">
                <a:solidFill>
                  <a:srgbClr val="00357A"/>
                </a:solidFill>
                <a:latin typeface="Canva Sans"/>
                <a:ea typeface="Canva Sans"/>
                <a:cs typeface="Canva Sans"/>
                <a:sym typeface="Canva Sans"/>
              </a:rPr>
              <a:t>If i give the black and white photo then those rules will not work, they may break.</a:t>
            </a:r>
          </a:p>
          <a:p>
            <a:pPr marL="885186" lvl="1" indent="-442593" algn="l">
              <a:lnSpc>
                <a:spcPts val="5739"/>
              </a:lnSpc>
              <a:buFont typeface="Arial"/>
              <a:buChar char="•"/>
            </a:pPr>
            <a:r>
              <a:rPr lang="en-US" sz="4099">
                <a:solidFill>
                  <a:srgbClr val="00357A"/>
                </a:solidFill>
                <a:latin typeface="Canva Sans"/>
                <a:ea typeface="Canva Sans"/>
                <a:cs typeface="Canva Sans"/>
                <a:sym typeface="Canva Sans"/>
              </a:rPr>
              <a:t>Or if i give the picture of dog and cat from different angle then you didnot predict before.</a:t>
            </a:r>
          </a:p>
          <a:p>
            <a:pPr algn="l">
              <a:lnSpc>
                <a:spcPts val="5739"/>
              </a:lnSpc>
            </a:pPr>
            <a:endParaRPr lang="en-US" sz="4099">
              <a:solidFill>
                <a:srgbClr val="00357A"/>
              </a:solidFill>
              <a:latin typeface="Canva Sans"/>
              <a:ea typeface="Canva Sans"/>
              <a:cs typeface="Canva Sans"/>
              <a:sym typeface="Canva Sans"/>
            </a:endParaRPr>
          </a:p>
          <a:p>
            <a:pPr algn="l">
              <a:lnSpc>
                <a:spcPts val="5739"/>
              </a:lnSpc>
            </a:pPr>
            <a:r>
              <a:rPr lang="en-US" sz="4099">
                <a:solidFill>
                  <a:srgbClr val="00357A"/>
                </a:solidFill>
                <a:latin typeface="Canva Sans"/>
                <a:ea typeface="Canva Sans"/>
                <a:cs typeface="Canva Sans"/>
                <a:sym typeface="Canva Sans"/>
              </a:rPr>
              <a:t>So solving these types of problem using traditional programming will be overly complex.</a:t>
            </a:r>
          </a:p>
          <a:p>
            <a:pPr algn="l">
              <a:lnSpc>
                <a:spcPts val="5739"/>
              </a:lnSpc>
            </a:pPr>
            <a:endParaRPr lang="en-US" sz="4099">
              <a:solidFill>
                <a:srgbClr val="00357A"/>
              </a:solidFill>
              <a:latin typeface="Canva Sans"/>
              <a:ea typeface="Canva Sans"/>
              <a:cs typeface="Canva Sans"/>
              <a:sym typeface="Canva Sans"/>
            </a:endParaRPr>
          </a:p>
          <a:p>
            <a:pPr algn="l">
              <a:lnSpc>
                <a:spcPts val="5739"/>
              </a:lnSpc>
              <a:spcBef>
                <a:spcPct val="0"/>
              </a:spcBef>
            </a:pPr>
            <a:endParaRPr lang="en-US" sz="4099">
              <a:solidFill>
                <a:srgbClr val="00357A"/>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Freeform 2"/>
          <p:cNvSpPr/>
          <p:nvPr/>
        </p:nvSpPr>
        <p:spPr>
          <a:xfrm>
            <a:off x="6232871" y="2366552"/>
            <a:ext cx="4636392" cy="6189822"/>
          </a:xfrm>
          <a:custGeom>
            <a:avLst/>
            <a:gdLst/>
            <a:ahLst/>
            <a:cxnLst/>
            <a:rect l="l" t="t" r="r" b="b"/>
            <a:pathLst>
              <a:path w="4636392" h="6189822">
                <a:moveTo>
                  <a:pt x="0" y="0"/>
                </a:moveTo>
                <a:lnTo>
                  <a:pt x="4636392" y="0"/>
                </a:lnTo>
                <a:lnTo>
                  <a:pt x="4636392" y="6189822"/>
                </a:lnTo>
                <a:lnTo>
                  <a:pt x="0" y="6189822"/>
                </a:lnTo>
                <a:lnTo>
                  <a:pt x="0" y="0"/>
                </a:lnTo>
                <a:close/>
              </a:path>
            </a:pathLst>
          </a:custGeom>
          <a:blipFill>
            <a:blip r:embed="rId2"/>
            <a:stretch>
              <a:fillRect/>
            </a:stretch>
          </a:blipFill>
        </p:spPr>
      </p:sp>
      <p:sp>
        <p:nvSpPr>
          <p:cNvPr id="3" name="Freeform 3"/>
          <p:cNvSpPr/>
          <p:nvPr/>
        </p:nvSpPr>
        <p:spPr>
          <a:xfrm>
            <a:off x="2250418" y="2443685"/>
            <a:ext cx="3379911" cy="6035555"/>
          </a:xfrm>
          <a:custGeom>
            <a:avLst/>
            <a:gdLst/>
            <a:ahLst/>
            <a:cxnLst/>
            <a:rect l="l" t="t" r="r" b="b"/>
            <a:pathLst>
              <a:path w="3379911" h="6035555">
                <a:moveTo>
                  <a:pt x="0" y="0"/>
                </a:moveTo>
                <a:lnTo>
                  <a:pt x="3379911" y="0"/>
                </a:lnTo>
                <a:lnTo>
                  <a:pt x="3379911" y="6035555"/>
                </a:lnTo>
                <a:lnTo>
                  <a:pt x="0" y="6035555"/>
                </a:lnTo>
                <a:lnTo>
                  <a:pt x="0" y="0"/>
                </a:lnTo>
                <a:close/>
              </a:path>
            </a:pathLst>
          </a:custGeom>
          <a:blipFill>
            <a:blip r:embed="rId3"/>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TextBox 2"/>
          <p:cNvSpPr txBox="1"/>
          <p:nvPr/>
        </p:nvSpPr>
        <p:spPr>
          <a:xfrm>
            <a:off x="1028700" y="952500"/>
            <a:ext cx="16230600" cy="2143761"/>
          </a:xfrm>
          <a:prstGeom prst="rect">
            <a:avLst/>
          </a:prstGeom>
        </p:spPr>
        <p:txBody>
          <a:bodyPr lIns="0" tIns="0" rIns="0" bIns="0" rtlCol="0" anchor="t">
            <a:spAutoFit/>
          </a:bodyPr>
          <a:lstStyle/>
          <a:p>
            <a:pPr algn="l">
              <a:lnSpc>
                <a:spcPts val="5739"/>
              </a:lnSpc>
            </a:pPr>
            <a:r>
              <a:rPr lang="en-US" sz="4099" b="1">
                <a:solidFill>
                  <a:srgbClr val="00357A"/>
                </a:solidFill>
                <a:latin typeface="Canva Sans Bold"/>
                <a:ea typeface="Canva Sans Bold"/>
                <a:cs typeface="Canva Sans Bold"/>
                <a:sym typeface="Canva Sans Bold"/>
              </a:rPr>
              <a:t>What if in the future i ask to extend this program such that if support to scan three kind of animals - cat, dog and horse</a:t>
            </a:r>
          </a:p>
          <a:p>
            <a:pPr marL="885186" lvl="1" indent="-442593" algn="l">
              <a:lnSpc>
                <a:spcPts val="5739"/>
              </a:lnSpc>
              <a:buFont typeface="Arial"/>
              <a:buChar char="•"/>
            </a:pPr>
            <a:r>
              <a:rPr lang="en-US" sz="4099" b="1">
                <a:solidFill>
                  <a:srgbClr val="00357A"/>
                </a:solidFill>
                <a:latin typeface="Canva Sans Bold"/>
                <a:ea typeface="Canva Sans Bold"/>
                <a:cs typeface="Canva Sans Bold"/>
                <a:sym typeface="Canva Sans Bold"/>
              </a:rPr>
              <a:t>The it will be more worse and have to rewrite all those rules.</a:t>
            </a:r>
          </a:p>
        </p:txBody>
      </p:sp>
      <p:sp>
        <p:nvSpPr>
          <p:cNvPr id="3" name="TextBox 3"/>
          <p:cNvSpPr txBox="1"/>
          <p:nvPr/>
        </p:nvSpPr>
        <p:spPr>
          <a:xfrm>
            <a:off x="1596330" y="4239204"/>
            <a:ext cx="15095339" cy="4471700"/>
          </a:xfrm>
          <a:prstGeom prst="rect">
            <a:avLst/>
          </a:prstGeom>
        </p:spPr>
        <p:txBody>
          <a:bodyPr lIns="0" tIns="0" rIns="0" bIns="0" rtlCol="0" anchor="t">
            <a:spAutoFit/>
          </a:bodyPr>
          <a:lstStyle/>
          <a:p>
            <a:pPr algn="ctr">
              <a:lnSpc>
                <a:spcPts val="6859"/>
              </a:lnSpc>
            </a:pPr>
            <a:r>
              <a:rPr lang="en-US" sz="4899" b="1">
                <a:solidFill>
                  <a:srgbClr val="00357A"/>
                </a:solidFill>
                <a:latin typeface="Canva Sans Bold"/>
                <a:ea typeface="Canva Sans Bold"/>
                <a:cs typeface="Canva Sans Bold"/>
                <a:sym typeface="Canva Sans Bold"/>
              </a:rPr>
              <a:t>Then what can be the solution to these problems?</a:t>
            </a:r>
          </a:p>
          <a:p>
            <a:pPr algn="ctr">
              <a:lnSpc>
                <a:spcPts val="6859"/>
              </a:lnSpc>
            </a:pPr>
            <a:endParaRPr lang="en-US" sz="4899" b="1">
              <a:solidFill>
                <a:srgbClr val="00357A"/>
              </a:solidFill>
              <a:latin typeface="Canva Sans Bold"/>
              <a:ea typeface="Canva Sans Bold"/>
              <a:cs typeface="Canva Sans Bold"/>
              <a:sym typeface="Canva Sans Bold"/>
            </a:endParaRPr>
          </a:p>
          <a:p>
            <a:pPr algn="ctr">
              <a:lnSpc>
                <a:spcPts val="23096"/>
              </a:lnSpc>
            </a:pPr>
            <a:r>
              <a:rPr lang="en-US" sz="16497" b="1">
                <a:solidFill>
                  <a:srgbClr val="00357A"/>
                </a:solidFill>
                <a:latin typeface="Canva Sans Bold"/>
                <a:ea typeface="Canva Sans Bold"/>
                <a:cs typeface="Canva Sans Bold"/>
                <a:sym typeface="Canva Sans Bold"/>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TextBox 2"/>
          <p:cNvSpPr txBox="1"/>
          <p:nvPr/>
        </p:nvSpPr>
        <p:spPr>
          <a:xfrm>
            <a:off x="1028700" y="467599"/>
            <a:ext cx="16230600" cy="11229341"/>
          </a:xfrm>
          <a:prstGeom prst="rect">
            <a:avLst/>
          </a:prstGeom>
        </p:spPr>
        <p:txBody>
          <a:bodyPr lIns="0" tIns="0" rIns="0" bIns="0" rtlCol="0" anchor="t">
            <a:spAutoFit/>
          </a:bodyPr>
          <a:lstStyle/>
          <a:p>
            <a:pPr algn="l">
              <a:lnSpc>
                <a:spcPts val="6859"/>
              </a:lnSpc>
            </a:pPr>
            <a:r>
              <a:rPr lang="en-US" sz="4899" b="1">
                <a:solidFill>
                  <a:srgbClr val="00357A"/>
                </a:solidFill>
                <a:latin typeface="Canva Sans Bold"/>
                <a:ea typeface="Canva Sans Bold"/>
                <a:cs typeface="Canva Sans Bold"/>
                <a:sym typeface="Canva Sans Bold"/>
              </a:rPr>
              <a:t>→ Here, we utilize the power of machine learning</a:t>
            </a:r>
          </a:p>
          <a:p>
            <a:pPr algn="l">
              <a:lnSpc>
                <a:spcPts val="6859"/>
              </a:lnSpc>
            </a:pPr>
            <a:endParaRPr lang="en-US" sz="4899" b="1">
              <a:solidFill>
                <a:srgbClr val="00357A"/>
              </a:solidFill>
              <a:latin typeface="Canva Sans Bold"/>
              <a:ea typeface="Canva Sans Bold"/>
              <a:cs typeface="Canva Sans Bold"/>
              <a:sym typeface="Canva Sans Bold"/>
            </a:endParaRPr>
          </a:p>
          <a:p>
            <a:pPr algn="l">
              <a:lnSpc>
                <a:spcPts val="6859"/>
              </a:lnSpc>
            </a:pPr>
            <a:r>
              <a:rPr lang="en-US" sz="4899" b="1">
                <a:solidFill>
                  <a:srgbClr val="00357A"/>
                </a:solidFill>
                <a:latin typeface="Canva Sans Bold"/>
                <a:ea typeface="Canva Sans Bold"/>
                <a:cs typeface="Canva Sans Bold"/>
                <a:sym typeface="Canva Sans Bold"/>
              </a:rPr>
              <a:t>It works on the way how we recognize the different objects.</a:t>
            </a:r>
          </a:p>
          <a:p>
            <a:pPr algn="l">
              <a:lnSpc>
                <a:spcPts val="6859"/>
              </a:lnSpc>
            </a:pPr>
            <a:r>
              <a:rPr lang="en-US" sz="4899">
                <a:solidFill>
                  <a:srgbClr val="00357A"/>
                </a:solidFill>
                <a:latin typeface="Canva Sans"/>
                <a:ea typeface="Canva Sans"/>
                <a:cs typeface="Canva Sans"/>
                <a:sym typeface="Canva Sans"/>
              </a:rPr>
              <a:t>We build a model or engine and give it lots and lots of data. For example, we give thousands or tens of thousand of pictures of cats and  dogs, our model will then find and learn patterns in the input data so we can give it a new picture of  a cat and ask for is it cat or dog or horse, it will tell us with a certain level of accuracy.</a:t>
            </a:r>
          </a:p>
          <a:p>
            <a:pPr algn="l">
              <a:lnSpc>
                <a:spcPts val="6859"/>
              </a:lnSpc>
            </a:pPr>
            <a:endParaRPr lang="en-US" sz="4899">
              <a:solidFill>
                <a:srgbClr val="00357A"/>
              </a:solidFill>
              <a:latin typeface="Canva Sans"/>
              <a:ea typeface="Canva Sans"/>
              <a:cs typeface="Canva Sans"/>
              <a:sym typeface="Canva Sans"/>
            </a:endParaRPr>
          </a:p>
          <a:p>
            <a:pPr algn="l">
              <a:lnSpc>
                <a:spcPts val="6859"/>
              </a:lnSpc>
              <a:spcBef>
                <a:spcPct val="0"/>
              </a:spcBef>
            </a:pPr>
            <a:endParaRPr lang="en-US" sz="4899">
              <a:solidFill>
                <a:srgbClr val="00357A"/>
              </a:solidFill>
              <a:latin typeface="Canva Sans"/>
              <a:ea typeface="Canva Sans"/>
              <a:cs typeface="Canva Sans"/>
              <a:sym typeface="Canv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TextBox 2"/>
          <p:cNvSpPr txBox="1"/>
          <p:nvPr/>
        </p:nvSpPr>
        <p:spPr>
          <a:xfrm>
            <a:off x="1028700" y="942975"/>
            <a:ext cx="16230600" cy="6028691"/>
          </a:xfrm>
          <a:prstGeom prst="rect">
            <a:avLst/>
          </a:prstGeom>
        </p:spPr>
        <p:txBody>
          <a:bodyPr lIns="0" tIns="0" rIns="0" bIns="0" rtlCol="0" anchor="t">
            <a:spAutoFit/>
          </a:bodyPr>
          <a:lstStyle/>
          <a:p>
            <a:pPr algn="l">
              <a:lnSpc>
                <a:spcPts val="6859"/>
              </a:lnSpc>
            </a:pPr>
            <a:r>
              <a:rPr lang="en-US" sz="4899">
                <a:solidFill>
                  <a:srgbClr val="00357A"/>
                </a:solidFill>
                <a:latin typeface="Canva Sans"/>
                <a:ea typeface="Canva Sans"/>
                <a:cs typeface="Canva Sans"/>
                <a:sym typeface="Canva Sans"/>
              </a:rPr>
              <a:t>The more input data we give it, the more accurate model is going to be.</a:t>
            </a:r>
          </a:p>
          <a:p>
            <a:pPr algn="l">
              <a:lnSpc>
                <a:spcPts val="6859"/>
              </a:lnSpc>
            </a:pPr>
            <a:endParaRPr lang="en-US" sz="4899">
              <a:solidFill>
                <a:srgbClr val="00357A"/>
              </a:solidFill>
              <a:latin typeface="Canva Sans"/>
              <a:ea typeface="Canva Sans"/>
              <a:cs typeface="Canva Sans"/>
              <a:sym typeface="Canva Sans"/>
            </a:endParaRPr>
          </a:p>
          <a:p>
            <a:pPr algn="l">
              <a:lnSpc>
                <a:spcPts val="6859"/>
              </a:lnSpc>
              <a:spcBef>
                <a:spcPct val="0"/>
              </a:spcBef>
            </a:pPr>
            <a:r>
              <a:rPr lang="en-US" sz="4899">
                <a:solidFill>
                  <a:srgbClr val="00357A"/>
                </a:solidFill>
                <a:latin typeface="Canva Sans"/>
                <a:ea typeface="Canva Sans"/>
                <a:cs typeface="Canva Sans"/>
                <a:sym typeface="Canva Sans"/>
              </a:rPr>
              <a:t>It is the basic understanding of machine learning but  it has a very wide application from </a:t>
            </a:r>
            <a:r>
              <a:rPr lang="en-US" sz="4899" b="1">
                <a:solidFill>
                  <a:srgbClr val="00357A"/>
                </a:solidFill>
                <a:latin typeface="Canva Sans Bold"/>
                <a:ea typeface="Canva Sans Bold"/>
                <a:cs typeface="Canva Sans Bold"/>
                <a:sym typeface="Canva Sans Bold"/>
              </a:rPr>
              <a:t>self-driving cars, robotics to language processing, vision processing and so 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Freeform 2"/>
          <p:cNvSpPr/>
          <p:nvPr/>
        </p:nvSpPr>
        <p:spPr>
          <a:xfrm>
            <a:off x="476644" y="511838"/>
            <a:ext cx="7816628" cy="4234007"/>
          </a:xfrm>
          <a:custGeom>
            <a:avLst/>
            <a:gdLst/>
            <a:ahLst/>
            <a:cxnLst/>
            <a:rect l="l" t="t" r="r" b="b"/>
            <a:pathLst>
              <a:path w="7816628" h="4234007">
                <a:moveTo>
                  <a:pt x="0" y="0"/>
                </a:moveTo>
                <a:lnTo>
                  <a:pt x="7816628" y="0"/>
                </a:lnTo>
                <a:lnTo>
                  <a:pt x="7816628" y="4234007"/>
                </a:lnTo>
                <a:lnTo>
                  <a:pt x="0" y="4234007"/>
                </a:lnTo>
                <a:lnTo>
                  <a:pt x="0" y="0"/>
                </a:lnTo>
                <a:close/>
              </a:path>
            </a:pathLst>
          </a:custGeom>
          <a:blipFill>
            <a:blip r:embed="rId2"/>
            <a:stretch>
              <a:fillRect/>
            </a:stretch>
          </a:blipFill>
        </p:spPr>
      </p:sp>
      <p:sp>
        <p:nvSpPr>
          <p:cNvPr id="3" name="Freeform 3"/>
          <p:cNvSpPr/>
          <p:nvPr/>
        </p:nvSpPr>
        <p:spPr>
          <a:xfrm>
            <a:off x="1399433" y="5143500"/>
            <a:ext cx="6523707" cy="4408599"/>
          </a:xfrm>
          <a:custGeom>
            <a:avLst/>
            <a:gdLst/>
            <a:ahLst/>
            <a:cxnLst/>
            <a:rect l="l" t="t" r="r" b="b"/>
            <a:pathLst>
              <a:path w="6523707" h="4408599">
                <a:moveTo>
                  <a:pt x="0" y="0"/>
                </a:moveTo>
                <a:lnTo>
                  <a:pt x="6523708" y="0"/>
                </a:lnTo>
                <a:lnTo>
                  <a:pt x="6523708" y="4408599"/>
                </a:lnTo>
                <a:lnTo>
                  <a:pt x="0" y="4408599"/>
                </a:lnTo>
                <a:lnTo>
                  <a:pt x="0" y="0"/>
                </a:lnTo>
                <a:close/>
              </a:path>
            </a:pathLst>
          </a:custGeom>
          <a:blipFill>
            <a:blip r:embed="rId3"/>
            <a:stretch>
              <a:fillRect/>
            </a:stretch>
          </a:blipFill>
        </p:spPr>
      </p:sp>
      <p:sp>
        <p:nvSpPr>
          <p:cNvPr id="4" name="Freeform 4"/>
          <p:cNvSpPr/>
          <p:nvPr/>
        </p:nvSpPr>
        <p:spPr>
          <a:xfrm>
            <a:off x="9650149" y="114183"/>
            <a:ext cx="4631662" cy="4631662"/>
          </a:xfrm>
          <a:custGeom>
            <a:avLst/>
            <a:gdLst/>
            <a:ahLst/>
            <a:cxnLst/>
            <a:rect l="l" t="t" r="r" b="b"/>
            <a:pathLst>
              <a:path w="4631662" h="4631662">
                <a:moveTo>
                  <a:pt x="0" y="0"/>
                </a:moveTo>
                <a:lnTo>
                  <a:pt x="4631662" y="0"/>
                </a:lnTo>
                <a:lnTo>
                  <a:pt x="4631662" y="4631662"/>
                </a:lnTo>
                <a:lnTo>
                  <a:pt x="0" y="4631662"/>
                </a:lnTo>
                <a:lnTo>
                  <a:pt x="0" y="0"/>
                </a:lnTo>
                <a:close/>
              </a:path>
            </a:pathLst>
          </a:custGeom>
          <a:blipFill>
            <a:blip r:embed="rId4"/>
            <a:stretch>
              <a:fillRect/>
            </a:stretch>
          </a:blipFill>
        </p:spPr>
      </p:sp>
      <p:sp>
        <p:nvSpPr>
          <p:cNvPr id="5" name="Freeform 5"/>
          <p:cNvSpPr/>
          <p:nvPr/>
        </p:nvSpPr>
        <p:spPr>
          <a:xfrm>
            <a:off x="9761681" y="5143500"/>
            <a:ext cx="4408599" cy="4408599"/>
          </a:xfrm>
          <a:custGeom>
            <a:avLst/>
            <a:gdLst/>
            <a:ahLst/>
            <a:cxnLst/>
            <a:rect l="l" t="t" r="r" b="b"/>
            <a:pathLst>
              <a:path w="4408599" h="4408599">
                <a:moveTo>
                  <a:pt x="0" y="0"/>
                </a:moveTo>
                <a:lnTo>
                  <a:pt x="4408599" y="0"/>
                </a:lnTo>
                <a:lnTo>
                  <a:pt x="4408599" y="4408599"/>
                </a:lnTo>
                <a:lnTo>
                  <a:pt x="0" y="4408599"/>
                </a:lnTo>
                <a:lnTo>
                  <a:pt x="0" y="0"/>
                </a:lnTo>
                <a:close/>
              </a:path>
            </a:pathLst>
          </a:custGeom>
          <a:blipFill>
            <a:blip r:embed="rId5"/>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99C5FF"/>
        </a:solidFill>
        <a:effectLst/>
      </p:bgPr>
    </p:bg>
    <p:spTree>
      <p:nvGrpSpPr>
        <p:cNvPr id="1" name=""/>
        <p:cNvGrpSpPr/>
        <p:nvPr/>
      </p:nvGrpSpPr>
      <p:grpSpPr>
        <a:xfrm>
          <a:off x="0" y="0"/>
          <a:ext cx="0" cy="0"/>
          <a:chOff x="0" y="0"/>
          <a:chExt cx="0" cy="0"/>
        </a:xfrm>
      </p:grpSpPr>
      <p:sp>
        <p:nvSpPr>
          <p:cNvPr id="2" name="TextBox 2"/>
          <p:cNvSpPr txBox="1"/>
          <p:nvPr/>
        </p:nvSpPr>
        <p:spPr>
          <a:xfrm>
            <a:off x="5092065" y="942975"/>
            <a:ext cx="8607209" cy="828041"/>
          </a:xfrm>
          <a:prstGeom prst="rect">
            <a:avLst/>
          </a:prstGeom>
        </p:spPr>
        <p:txBody>
          <a:bodyPr lIns="0" tIns="0" rIns="0" bIns="0" rtlCol="0" anchor="t">
            <a:spAutoFit/>
          </a:bodyPr>
          <a:lstStyle/>
          <a:p>
            <a:pPr algn="ctr">
              <a:lnSpc>
                <a:spcPts val="6859"/>
              </a:lnSpc>
              <a:spcBef>
                <a:spcPct val="0"/>
              </a:spcBef>
            </a:pPr>
            <a:r>
              <a:rPr lang="en-US" sz="4899" b="1">
                <a:solidFill>
                  <a:srgbClr val="00357A"/>
                </a:solidFill>
                <a:latin typeface="Canva Sans Bold"/>
                <a:ea typeface="Canva Sans Bold"/>
                <a:cs typeface="Canva Sans Bold"/>
                <a:sym typeface="Canva Sans Bold"/>
              </a:rPr>
              <a:t>Machine learning in Action</a:t>
            </a:r>
          </a:p>
        </p:txBody>
      </p:sp>
      <p:sp>
        <p:nvSpPr>
          <p:cNvPr id="3" name="TextBox 3"/>
          <p:cNvSpPr txBox="1"/>
          <p:nvPr/>
        </p:nvSpPr>
        <p:spPr>
          <a:xfrm>
            <a:off x="4896088" y="3624011"/>
            <a:ext cx="8495824" cy="828041"/>
          </a:xfrm>
          <a:prstGeom prst="rect">
            <a:avLst/>
          </a:prstGeom>
        </p:spPr>
        <p:txBody>
          <a:bodyPr lIns="0" tIns="0" rIns="0" bIns="0" rtlCol="0" anchor="t">
            <a:spAutoFit/>
          </a:bodyPr>
          <a:lstStyle/>
          <a:p>
            <a:pPr algn="ctr">
              <a:lnSpc>
                <a:spcPts val="6859"/>
              </a:lnSpc>
              <a:spcBef>
                <a:spcPct val="0"/>
              </a:spcBef>
            </a:pPr>
            <a:r>
              <a:rPr lang="en-US" sz="4899" b="1">
                <a:solidFill>
                  <a:srgbClr val="00357A"/>
                </a:solidFill>
                <a:latin typeface="Canva Sans Bold"/>
                <a:ea typeface="Canva Sans Bold"/>
                <a:cs typeface="Canva Sans Bold"/>
                <a:sym typeface="Canva Sans Bold"/>
              </a:rPr>
              <a:t>We will learn in detail later...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887</Words>
  <Application>Microsoft Office PowerPoint</Application>
  <PresentationFormat>Custom</PresentationFormat>
  <Paragraphs>86</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Canva Sans Bold</vt:lpstr>
      <vt:lpstr>Inter</vt:lpstr>
      <vt:lpstr>Arial</vt:lpstr>
      <vt:lpstr>Inter Bold</vt:lpstr>
      <vt:lpstr>Calibri</vt:lpstr>
      <vt:lpstr>Poppins</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Orientation – Python + Machine Learning + Deep Learning (45 Hours)</dc:title>
  <cp:lastModifiedBy>Anish Dahal</cp:lastModifiedBy>
  <cp:revision>2</cp:revision>
  <dcterms:created xsi:type="dcterms:W3CDTF">2006-08-16T00:00:00Z</dcterms:created>
  <dcterms:modified xsi:type="dcterms:W3CDTF">2025-11-12T03:15:56Z</dcterms:modified>
  <dc:identifier>DAGzASfhjHg</dc:identifier>
</cp:coreProperties>
</file>